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6" r:id="rId6"/>
    <p:sldId id="268" r:id="rId7"/>
    <p:sldId id="261" r:id="rId8"/>
    <p:sldId id="262" r:id="rId9"/>
    <p:sldId id="263" r:id="rId10"/>
    <p:sldId id="264" r:id="rId11"/>
    <p:sldId id="265" r:id="rId12"/>
    <p:sldId id="260" r:id="rId13"/>
    <p:sldId id="270" r:id="rId14"/>
    <p:sldId id="271" r:id="rId15"/>
    <p:sldId id="272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492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8889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3A7BFF">
              <a:alpha val="18000"/>
            </a:srgbClr>
          </a:solidFill>
          <a:ln w="12700">
            <a:solidFill>
              <a:srgbClr val="3A7B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3A7BFF">
              <a:alpha val="18000"/>
            </a:srgbClr>
          </a:solidFill>
          <a:ln w="12700">
            <a:solidFill>
              <a:srgbClr val="3A7B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97280" y="914400"/>
            <a:ext cx="6949440" cy="3200400"/>
          </a:xfrm>
          <a:prstGeom prst="roundRect">
            <a:avLst>
              <a:gd name="adj" fmla="val 5143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280160" y="109728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MediTrust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280160" y="19202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D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Risk Prediction using Machine Learning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91840" y="2542032"/>
            <a:ext cx="2560320" cy="36576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280160" y="26517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 —  Progress Review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26080" y="3200400"/>
            <a:ext cx="3291840" cy="411480"/>
          </a:xfrm>
          <a:prstGeom prst="roundRect">
            <a:avLst>
              <a:gd name="adj" fmla="val 22222"/>
            </a:avLst>
          </a:prstGeom>
          <a:solidFill>
            <a:srgbClr val="3A7BFF">
              <a:alpha val="40000"/>
            </a:srgbClr>
          </a:solidFill>
          <a:ln w="12700">
            <a:solidFill>
              <a:srgbClr val="3A7BFF">
                <a:alpha val="6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926080" y="3200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Ravindra SSK  |  Uday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3A7BFF">
              <a:alpha val="15000"/>
            </a:srgbClr>
          </a:solidFill>
          <a:ln w="12700">
            <a:solidFill>
              <a:srgbClr val="3A7B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2011680" cy="41148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62280" y="1010920"/>
            <a:ext cx="8229600" cy="3017520"/>
          </a:xfrm>
          <a:prstGeom prst="roundRect">
            <a:avLst>
              <a:gd name="adj" fmla="val 3636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384048" cy="384048"/>
          </a:xfrm>
          <a:prstGeom prst="ellipse">
            <a:avLst/>
          </a:prstGeom>
          <a:solidFill>
            <a:srgbClr val="3A7BFF">
              <a:alpha val="70000"/>
            </a:srgbClr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25272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healthcare application built for clinical environments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1892808"/>
            <a:ext cx="384048" cy="384048"/>
          </a:xfrm>
          <a:prstGeom prst="ellipse">
            <a:avLst/>
          </a:prstGeom>
          <a:solidFill>
            <a:srgbClr val="3A7BFF">
              <a:alpha val="70000"/>
            </a:srgbClr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8580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1911096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cardiovascular risk using machine learning models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551176"/>
            <a:ext cx="384048" cy="384048"/>
          </a:xfrm>
          <a:prstGeom prst="ellipse">
            <a:avLst/>
          </a:prstGeom>
          <a:solidFill>
            <a:srgbClr val="3A7BFF">
              <a:alpha val="70000"/>
            </a:srgbClr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85800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2569464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risk probability, level classification, and recommendations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3209544"/>
            <a:ext cx="384048" cy="384048"/>
          </a:xfrm>
          <a:prstGeom prst="ellipse">
            <a:avLst/>
          </a:prstGeom>
          <a:solidFill>
            <a:srgbClr val="3A7BFF">
              <a:alpha val="70000"/>
            </a:srgbClr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85800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22783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Explainable AI insights for transparent decision support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3A7BFF">
              <a:alpha val="40000"/>
            </a:srgbClr>
          </a:solidFill>
          <a:ln w="12700">
            <a:solidFill>
              <a:srgbClr val="3A7BFF">
                <a:alpha val="6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and transparent clinical decision support system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3A7BFF">
              <a:alpha val="15000"/>
            </a:srgbClr>
          </a:solidFill>
          <a:ln w="12700">
            <a:solidFill>
              <a:srgbClr val="3A7B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Goals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2011680" cy="41148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457200" cy="457200"/>
          </a:xfrm>
          <a:prstGeom prst="ellipse">
            <a:avLst/>
          </a:prstGeom>
          <a:solidFill>
            <a:srgbClr val="3A7BFF">
              <a:alpha val="75000"/>
            </a:srgbClr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1792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12527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Usability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16916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navigation, structured layouts, and better interaction flows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105156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965192" y="1216152"/>
            <a:ext cx="457200" cy="457200"/>
          </a:xfrm>
          <a:prstGeom prst="ellipse">
            <a:avLst/>
          </a:prstGeom>
          <a:solidFill>
            <a:srgbClr val="3A7BFF">
              <a:alpha val="75000"/>
            </a:srgbClr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965192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13832" y="12527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Access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5192" y="16916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login, password reset, and role-based dashboard routing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21792" y="3182112"/>
            <a:ext cx="457200" cy="457200"/>
          </a:xfrm>
          <a:prstGeom prst="ellipse">
            <a:avLst/>
          </a:prstGeom>
          <a:solidFill>
            <a:srgbClr val="3A7BFF">
              <a:alpha val="75000"/>
            </a:srgbClr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1792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70432" y="321868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(SHAP)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" y="36576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SHAP to reveal feature contributions behind each prediction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301752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965192" y="3182112"/>
            <a:ext cx="457200" cy="457200"/>
          </a:xfrm>
          <a:prstGeom prst="ellipse">
            <a:avLst/>
          </a:prstGeom>
          <a:solidFill>
            <a:srgbClr val="3A7BFF">
              <a:alpha val="75000"/>
            </a:srgbClr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965192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13832" y="321868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Frontend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65192" y="36576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Refactored component structure for maintainability and scalability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2011680" cy="41148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3A7BFF">
              <a:alpha val="40000"/>
            </a:srgbClr>
          </a:solidFill>
          <a:ln w="12700">
            <a:solidFill>
              <a:srgbClr val="3A7BFF">
                <a:alpha val="6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Authentication &amp; Access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45272"/>
            <a:ext cx="3991708" cy="2689567"/>
          </a:xfrm>
          <a:prstGeom prst="roundRect">
            <a:avLst>
              <a:gd name="adj" fmla="val 3750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/ Signup flow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&amp; Reset Password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Password with validation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 routing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handling &amp; guards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3A7BFF">
              <a:alpha val="40000"/>
            </a:srgbClr>
          </a:solidFill>
          <a:ln w="12700">
            <a:solidFill>
              <a:srgbClr val="3A7BFF">
                <a:alpha val="6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Frontend &amp; AI Integration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745272"/>
            <a:ext cx="3991708" cy="2689568"/>
          </a:xfrm>
          <a:prstGeom prst="roundRect">
            <a:avLst>
              <a:gd name="adj" fmla="val 3750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46320" y="155448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component architecture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integrated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Clinical-style result display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navigation UX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clean layouts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3A7BFF">
              <a:alpha val="15000"/>
            </a:srgbClr>
          </a:solidFill>
          <a:ln w="12700">
            <a:solidFill>
              <a:srgbClr val="3A7B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2011680" cy="41148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804672"/>
          </a:xfrm>
          <a:prstGeom prst="roundRect">
            <a:avLst>
              <a:gd name="adj" fmla="val 10526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94360" y="1261872"/>
            <a:ext cx="457200" cy="457200"/>
          </a:xfrm>
          <a:prstGeom prst="ellipse">
            <a:avLst/>
          </a:prstGeom>
          <a:solidFill>
            <a:srgbClr val="3A7BFF">
              <a:alpha val="80000"/>
            </a:srgbClr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1247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Signup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5087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 auth with input validation and error handling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84248"/>
            <a:ext cx="8229600" cy="804672"/>
          </a:xfrm>
          <a:prstGeom prst="roundRect">
            <a:avLst>
              <a:gd name="adj" fmla="val 10526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94360" y="2267712"/>
            <a:ext cx="457200" cy="457200"/>
          </a:xfrm>
          <a:prstGeom prst="ellipse">
            <a:avLst/>
          </a:prstGeom>
          <a:solidFill>
            <a:srgbClr val="3A7BFF">
              <a:alpha val="80000"/>
            </a:srgbClr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9436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1305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41401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recovery flow with token-based email verification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23032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94360" y="3133344"/>
            <a:ext cx="457200" cy="457200"/>
          </a:xfrm>
          <a:prstGeom prst="ellipse">
            <a:avLst/>
          </a:prstGeom>
          <a:solidFill>
            <a:srgbClr val="3A7BFF">
              <a:alpha val="80000"/>
            </a:srgbClr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94360" y="3133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29961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&amp; Change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38023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 with strength rules and confirmation checks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1628"/>
            <a:ext cx="8229600" cy="702564"/>
          </a:xfrm>
          <a:prstGeom prst="roundRect">
            <a:avLst>
              <a:gd name="adj" fmla="val 10526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99440" y="4033012"/>
            <a:ext cx="457200" cy="457200"/>
          </a:xfrm>
          <a:prstGeom prst="ellipse">
            <a:avLst/>
          </a:prstGeom>
          <a:solidFill>
            <a:srgbClr val="3A7BFF">
              <a:alpha val="80000"/>
            </a:srgbClr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2" name="Text 20"/>
          <p:cNvSpPr/>
          <p:nvPr/>
        </p:nvSpPr>
        <p:spPr>
          <a:xfrm>
            <a:off x="594360" y="4091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39547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&amp; Guards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42367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routes with session management and role enforcement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727448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3A7BFF">
              <a:alpha val="40000"/>
            </a:srgbClr>
          </a:solidFill>
          <a:ln w="12700">
            <a:solidFill>
              <a:srgbClr val="3A7BFF">
                <a:alpha val="6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7200" y="4727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validated user access for all roles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3A7BFF">
              <a:alpha val="15000"/>
            </a:srgbClr>
          </a:solidFill>
          <a:ln w="12700">
            <a:solidFill>
              <a:srgbClr val="3A7B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Enhancements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2011680" cy="41148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457200" cy="457200"/>
          </a:xfrm>
          <a:prstGeom prst="ellipse">
            <a:avLst/>
          </a:prstGeom>
          <a:solidFill>
            <a:srgbClr val="3A7BFF">
              <a:alpha val="80000"/>
            </a:srgbClr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1792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12527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Layout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176479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Glassmorphism-inspired design with consistent spacing and hierarchy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21792" y="3227832"/>
            <a:ext cx="457200" cy="457200"/>
          </a:xfrm>
          <a:prstGeom prst="ellipse">
            <a:avLst/>
          </a:prstGeom>
          <a:solidFill>
            <a:srgbClr val="3A7BFF">
              <a:alpha val="80000"/>
            </a:srgbClr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1792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70432" y="326440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Navigation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" y="377647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and header redesigned for intuitive role-aware routing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105156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965192" y="1216152"/>
            <a:ext cx="457200" cy="457200"/>
          </a:xfrm>
          <a:prstGeom prst="ellipse">
            <a:avLst/>
          </a:prstGeom>
          <a:solidFill>
            <a:srgbClr val="3A7BFF">
              <a:alpha val="80000"/>
            </a:srgbClr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965192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13832" y="12527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Display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65192" y="176479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cards for risk score, level badge, and recommendations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306324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965192" y="3227832"/>
            <a:ext cx="457200" cy="457200"/>
          </a:xfrm>
          <a:prstGeom prst="ellipse">
            <a:avLst/>
          </a:prstGeom>
          <a:solidFill>
            <a:srgbClr val="3A7BFF">
              <a:alpha val="80000"/>
            </a:srgbClr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965192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13832" y="326440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Language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65192" y="377647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explanations alongside technical SHAP output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3A7BFF">
              <a:alpha val="15000"/>
            </a:srgbClr>
          </a:solidFill>
          <a:ln w="12700">
            <a:solidFill>
              <a:srgbClr val="3A7B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using SHAP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2011680" cy="41148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114800" cy="3611880"/>
          </a:xfrm>
          <a:prstGeom prst="roundRect">
            <a:avLst>
              <a:gd name="adj" fmla="val 3038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21792" y="1115568"/>
            <a:ext cx="45720" cy="320040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1097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Implemented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48132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SHAP for model interpretability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prediction at feature level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positive and negative feature impact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" y="2633472"/>
            <a:ext cx="45720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261518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" y="2999232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black-box model → transparent system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trust in healthcare predictions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better clinical decision-making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3931920" cy="3611880"/>
          </a:xfrm>
          <a:prstGeom prst="roundRect">
            <a:avLst>
              <a:gd name="adj" fmla="val 3038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92040" y="111556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SHAP Works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74920" y="1600200"/>
            <a:ext cx="475488" cy="475488"/>
          </a:xfrm>
          <a:prstGeom prst="ellipse">
            <a:avLst/>
          </a:prstGeom>
          <a:solidFill>
            <a:srgbClr val="3A7BFF">
              <a:alpha val="80000"/>
            </a:srgbClr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74920" y="1600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50992" y="1627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50992" y="1874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data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94376" y="2103120"/>
            <a:ext cx="0" cy="429768"/>
          </a:xfrm>
          <a:prstGeom prst="line">
            <a:avLst/>
          </a:prstGeom>
          <a:noFill/>
          <a:ln w="19050">
            <a:solidFill>
              <a:srgbClr val="3A7BFF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074920" y="2560320"/>
            <a:ext cx="475488" cy="475488"/>
          </a:xfrm>
          <a:prstGeom prst="ellipse">
            <a:avLst/>
          </a:prstGeom>
          <a:solidFill>
            <a:srgbClr val="3A7BFF">
              <a:alpha val="80000"/>
            </a:srgbClr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074920" y="2560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650992" y="2587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Engine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50992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feature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94376" y="3063240"/>
            <a:ext cx="0" cy="429768"/>
          </a:xfrm>
          <a:prstGeom prst="line">
            <a:avLst/>
          </a:prstGeom>
          <a:noFill/>
          <a:ln w="19050">
            <a:solidFill>
              <a:srgbClr val="3A7BFF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074920" y="3520440"/>
            <a:ext cx="475488" cy="475488"/>
          </a:xfrm>
          <a:prstGeom prst="ellipse">
            <a:avLst/>
          </a:prstGeom>
          <a:solidFill>
            <a:srgbClr val="3A7BFF">
              <a:alpha val="80000"/>
            </a:srgbClr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074920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50992" y="35478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50992" y="3794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output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prediction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727448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3A7BFF">
              <a:alpha val="40000"/>
            </a:srgbClr>
          </a:solidFill>
          <a:ln w="12700">
            <a:solidFill>
              <a:srgbClr val="3A7BFF">
                <a:alpha val="6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57200" y="4727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"Converts black-box model into a transparent, explainable clinical decision system"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Model Predictions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2011680" cy="41148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291840" cy="3954780"/>
          </a:xfrm>
          <a:prstGeom prst="roundRect">
            <a:avLst>
              <a:gd name="adj" fmla="val 3333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21792" y="1115568"/>
            <a:ext cx="45720" cy="320040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Shows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explanation summary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contribution bar chart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waterfall visualization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prediction build-up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" y="3108960"/>
            <a:ext cx="45720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77240" y="30906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Interpretation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547872"/>
            <a:ext cx="329184" cy="292608"/>
          </a:xfrm>
          <a:prstGeom prst="roundRect">
            <a:avLst>
              <a:gd name="adj" fmla="val 12500"/>
            </a:avLst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94360" y="354787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05840" y="35844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Decreases risk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4023360"/>
            <a:ext cx="329184" cy="292608"/>
          </a:xfrm>
          <a:prstGeom prst="roundRect">
            <a:avLst>
              <a:gd name="adj" fmla="val 12500"/>
            </a:avLst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402336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05840" y="40599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risk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4526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length = strength of contribution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31920" y="1005840"/>
            <a:ext cx="47548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19" name="Image 0" descr="/home/claude/shap_bars.png">
            <a:extLst>
              <a:ext uri="{FF2B5EF4-FFF2-40B4-BE49-F238E27FC236}">
                <a16:creationId xmlns:a16="http://schemas.microsoft.com/office/drawing/2014/main" id="{B942AB72-1807-F949-FF70-8A83516EFA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31920" y="845820"/>
            <a:ext cx="4709160" cy="1920240"/>
          </a:xfrm>
          <a:prstGeom prst="rect">
            <a:avLst/>
          </a:prstGeom>
        </p:spPr>
      </p:pic>
      <p:pic>
        <p:nvPicPr>
          <p:cNvPr id="20" name="Image 1" descr="/home/claude/shap_waterfall.png">
            <a:extLst>
              <a:ext uri="{FF2B5EF4-FFF2-40B4-BE49-F238E27FC236}">
                <a16:creationId xmlns:a16="http://schemas.microsoft.com/office/drawing/2014/main" id="{F8183066-7EF3-ECC5-1C5C-E475377971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954780" y="2917417"/>
            <a:ext cx="4709160" cy="20848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Output Interpretation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2011680" cy="41148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800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Result-Sample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3075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Probability: ~16%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1069848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0" y="106984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4023360" cy="2423160"/>
          </a:xfrm>
          <a:prstGeom prst="roundRect">
            <a:avLst>
              <a:gd name="adj" fmla="val 4528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21792" y="1975104"/>
            <a:ext cx="45720" cy="301752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77240" y="195681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 Decides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331720"/>
            <a:ext cx="374904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contributes individually to the score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features push the prediction higher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features reduce the final risk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 = combined SHAP contributions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prediction understandable, not just a number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1874520"/>
            <a:ext cx="40233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43484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3A7BFF">
              <a:alpha val="40000"/>
            </a:srgbClr>
          </a:solidFill>
          <a:ln w="12700">
            <a:solidFill>
              <a:srgbClr val="3A7BFF">
                <a:alpha val="6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Key Insight: The prediction is fully explainable — not just a numerical output</a:t>
            </a:r>
            <a:endParaRPr lang="en-US" sz="1300" dirty="0"/>
          </a:p>
        </p:txBody>
      </p:sp>
      <p:pic>
        <p:nvPicPr>
          <p:cNvPr id="17" name="Image 0" descr="/home/claude/shap_clinical.png">
            <a:extLst>
              <a:ext uri="{FF2B5EF4-FFF2-40B4-BE49-F238E27FC236}">
                <a16:creationId xmlns:a16="http://schemas.microsoft.com/office/drawing/2014/main" id="{7623A2F0-2ADF-1E14-87FA-B290DFC1BB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09160" y="1901952"/>
            <a:ext cx="393192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3A7BFF">
              <a:alpha val="15000"/>
            </a:srgbClr>
          </a:solidFill>
          <a:ln w="12700">
            <a:solidFill>
              <a:srgbClr val="3A7B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from Explainability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2011680" cy="41148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114800" cy="1641348"/>
          </a:xfrm>
          <a:prstGeom prst="roundRect">
            <a:avLst>
              <a:gd name="adj" fmla="val 6000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21792" y="1252728"/>
            <a:ext cx="457200" cy="457200"/>
          </a:xfrm>
          <a:prstGeom prst="ellipse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1792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2893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180136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features contribute equally to prediction — a few key features strongly dominate the final result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00600" y="1051560"/>
            <a:ext cx="4114800" cy="1664208"/>
          </a:xfrm>
          <a:prstGeom prst="roundRect">
            <a:avLst>
              <a:gd name="adj" fmla="val 6000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965192" y="1252728"/>
            <a:ext cx="457200" cy="457200"/>
          </a:xfrm>
          <a:prstGeom prst="ellipse">
            <a:avLst/>
          </a:prstGeom>
          <a:solidFill>
            <a:srgbClr val="3A7BFF">
              <a:alpha val="80000"/>
            </a:srgbClr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965192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32120" y="12893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Traceability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65192" y="180136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decision can be traced back to individual feature contributions, making it fully auditable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114800" cy="1576461"/>
          </a:xfrm>
          <a:prstGeom prst="roundRect">
            <a:avLst>
              <a:gd name="adj" fmla="val 6000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21792" y="3218688"/>
            <a:ext cx="457200" cy="45720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1792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2552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Reasoning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" y="376732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clinicians understand the reasoning behind the AI output, not just accept it at face value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00600" y="3017520"/>
            <a:ext cx="4114800" cy="1576461"/>
          </a:xfrm>
          <a:prstGeom prst="roundRect">
            <a:avLst>
              <a:gd name="adj" fmla="val 6000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965192" y="3218688"/>
            <a:ext cx="457200" cy="457200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965192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32120" y="32552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Human-AI Bridge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65192" y="376732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bridges the gap between AI predictions and human understanding in a healthcare context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727448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3A7BFF">
              <a:alpha val="40000"/>
            </a:srgbClr>
          </a:solidFill>
          <a:ln w="12700">
            <a:solidFill>
              <a:srgbClr val="3A7BFF">
                <a:alpha val="6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7200" y="4727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bridges the gap between AI predictions and human understanding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3A7BFF">
              <a:alpha val="15000"/>
            </a:srgbClr>
          </a:solidFill>
          <a:ln w="12700">
            <a:solidFill>
              <a:srgbClr val="3A7B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of Explainability in Healthcare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2011680" cy="41148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94360" y="1124712"/>
            <a:ext cx="457200" cy="457200"/>
          </a:xfrm>
          <a:prstGeom prst="ellipse">
            <a:avLst/>
          </a:prstGeom>
          <a:solidFill>
            <a:srgbClr val="3A7BFF">
              <a:alpha val="80000"/>
            </a:srgbClr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0607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Required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9000" y="1170432"/>
            <a:ext cx="36576" cy="201168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547872" y="106070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decisions carry critical consequences — every prediction must be justifiable and understandable to practitioners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755648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94360" y="1856232"/>
            <a:ext cx="457200" cy="457200"/>
          </a:xfrm>
          <a:prstGeom prst="ellipse">
            <a:avLst/>
          </a:prstGeom>
          <a:solidFill>
            <a:srgbClr val="3A7BFF">
              <a:alpha val="80000"/>
            </a:srgbClr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9436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17922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Trust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29000" y="1901952"/>
            <a:ext cx="36576" cy="201168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547872" y="179222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need to understand why a prediction is made before acting on it — blind trust in AI is not acceptable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2487168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94360" y="2587752"/>
            <a:ext cx="457200" cy="457200"/>
          </a:xfrm>
          <a:prstGeom prst="ellipse">
            <a:avLst/>
          </a:prstGeom>
          <a:solidFill>
            <a:srgbClr val="3A7BFF">
              <a:alpha val="80000"/>
            </a:srgbClr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9436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88720" y="252374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29000" y="2633472"/>
            <a:ext cx="36576" cy="201168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547872" y="252374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helps medical teams validate model behavior and identify any inconsistencies or biases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218688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94360" y="3319272"/>
            <a:ext cx="457200" cy="457200"/>
          </a:xfrm>
          <a:prstGeom prst="ellipse">
            <a:avLst/>
          </a:prstGeom>
          <a:solidFill>
            <a:srgbClr val="3A7BFF">
              <a:alpha val="80000"/>
            </a:srgbClr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9436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88720" y="32552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AI Dependency Risk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29000" y="3364992"/>
            <a:ext cx="36576" cy="201168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547872" y="325526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the danger of over-reliance on AI by giving users insight into the model's reasoning process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3950208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94360" y="4050792"/>
            <a:ext cx="457200" cy="457200"/>
          </a:xfrm>
          <a:prstGeom prst="ellipse">
            <a:avLst/>
          </a:prstGeom>
          <a:solidFill>
            <a:srgbClr val="3A7BFF">
              <a:alpha val="80000"/>
            </a:srgbClr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9436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188720" y="39867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Suitability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429000" y="4096512"/>
            <a:ext cx="36576" cy="201168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547872" y="398678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system compliant with expectations for clinical deployment and regulatory standards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57200" y="5120640"/>
            <a:ext cx="8229600" cy="0"/>
          </a:xfrm>
          <a:prstGeom prst="roundRect">
            <a:avLst>
              <a:gd name="adj" fmla="val Infinity"/>
            </a:avLst>
          </a:prstGeom>
          <a:solidFill>
            <a:srgbClr val="3A7BFF">
              <a:alpha val="40000"/>
            </a:srgbClr>
          </a:solidFill>
          <a:ln w="12700">
            <a:solidFill>
              <a:srgbClr val="3A7BFF">
                <a:alpha val="6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3A7BFF">
              <a:alpha val="15000"/>
            </a:srgbClr>
          </a:solidFill>
          <a:ln w="12700">
            <a:solidFill>
              <a:srgbClr val="3A7B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2011680" cy="41148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1417320" cy="1463040"/>
          </a:xfrm>
          <a:prstGeom prst="roundRect">
            <a:avLst>
              <a:gd name="adj" fmla="val 7742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68680" y="1325880"/>
            <a:ext cx="502920" cy="502920"/>
          </a:xfrm>
          <a:prstGeom prst="ellipse">
            <a:avLst/>
          </a:prstGeom>
          <a:solidFill>
            <a:srgbClr val="3A7BFF">
              <a:alpha val="80000"/>
            </a:srgbClr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90195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56232" y="1920240"/>
            <a:ext cx="411480" cy="0"/>
          </a:xfrm>
          <a:prstGeom prst="line">
            <a:avLst/>
          </a:prstGeom>
          <a:noFill/>
          <a:ln w="254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194560" y="1874520"/>
            <a:ext cx="109728" cy="91440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057400" y="1188720"/>
            <a:ext cx="1417320" cy="1463040"/>
          </a:xfrm>
          <a:prstGeom prst="roundRect">
            <a:avLst>
              <a:gd name="adj" fmla="val 7742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514600" y="1325880"/>
            <a:ext cx="502920" cy="502920"/>
          </a:xfrm>
          <a:prstGeom prst="ellipse">
            <a:avLst/>
          </a:prstGeom>
          <a:solidFill>
            <a:srgbClr val="3A7BFF">
              <a:alpha val="80000"/>
            </a:srgbClr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51460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57400" y="190195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02152" y="1920240"/>
            <a:ext cx="411480" cy="0"/>
          </a:xfrm>
          <a:prstGeom prst="line">
            <a:avLst/>
          </a:prstGeom>
          <a:noFill/>
          <a:ln w="254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840480" y="1874520"/>
            <a:ext cx="109728" cy="91440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703320" y="1188720"/>
            <a:ext cx="1417320" cy="1463040"/>
          </a:xfrm>
          <a:prstGeom prst="roundRect">
            <a:avLst>
              <a:gd name="adj" fmla="val 7742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160520" y="1325880"/>
            <a:ext cx="502920" cy="502920"/>
          </a:xfrm>
          <a:prstGeom prst="ellipse">
            <a:avLst/>
          </a:prstGeom>
          <a:solidFill>
            <a:srgbClr val="3A7BFF">
              <a:alpha val="80000"/>
            </a:srgbClr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16052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703320" y="190195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148072" y="1920240"/>
            <a:ext cx="411480" cy="0"/>
          </a:xfrm>
          <a:prstGeom prst="line">
            <a:avLst/>
          </a:prstGeom>
          <a:noFill/>
          <a:ln w="254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486400" y="1874520"/>
            <a:ext cx="109728" cy="91440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349240" y="1188720"/>
            <a:ext cx="1417320" cy="1463040"/>
          </a:xfrm>
          <a:prstGeom prst="roundRect">
            <a:avLst>
              <a:gd name="adj" fmla="val 7742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806440" y="1325880"/>
            <a:ext cx="502920" cy="502920"/>
          </a:xfrm>
          <a:prstGeom prst="ellipse">
            <a:avLst/>
          </a:prstGeom>
          <a:solidFill>
            <a:srgbClr val="3A7BFF">
              <a:alpha val="80000"/>
            </a:srgbClr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80644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49240" y="190195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93992" y="1920240"/>
            <a:ext cx="411480" cy="0"/>
          </a:xfrm>
          <a:prstGeom prst="line">
            <a:avLst/>
          </a:prstGeom>
          <a:noFill/>
          <a:ln w="254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132320" y="1874520"/>
            <a:ext cx="109728" cy="91440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995160" y="1188720"/>
            <a:ext cx="1417320" cy="1463040"/>
          </a:xfrm>
          <a:prstGeom prst="roundRect">
            <a:avLst>
              <a:gd name="adj" fmla="val 7742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452360" y="1325880"/>
            <a:ext cx="502920" cy="502920"/>
          </a:xfrm>
          <a:prstGeom prst="ellipse">
            <a:avLst/>
          </a:prstGeom>
          <a:solidFill>
            <a:srgbClr val="3A7BFF">
              <a:alpha val="80000"/>
            </a:srgbClr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45236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95160" y="190195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3017520"/>
            <a:ext cx="8229600" cy="1645920"/>
          </a:xfrm>
          <a:prstGeom prst="roundRect">
            <a:avLst>
              <a:gd name="adj" fmla="val 5556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40080" y="3154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👨‍⚕️ Doctor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" y="354787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predictions,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clinical decisions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29000" y="3154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👩‍⚕️ Nurse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429000" y="354787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patient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vitals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17920" y="3154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Admin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17920" y="354787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users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system config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3A7BFF">
              <a:alpha val="15000"/>
            </a:srgbClr>
          </a:solidFill>
          <a:ln w="12700">
            <a:solidFill>
              <a:srgbClr val="3A7B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2011680" cy="41148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94360" y="1261872"/>
            <a:ext cx="457200" cy="457200"/>
          </a:xfrm>
          <a:prstGeom prst="ellipse">
            <a:avLst/>
          </a:prstGeom>
          <a:solidFill>
            <a:srgbClr val="3A7BFF">
              <a:alpha val="80000"/>
            </a:srgbClr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1247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SHAP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5087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clinicians to explore 'what-if' scenarios by adjusting input values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94360" y="2295144"/>
            <a:ext cx="457200" cy="457200"/>
          </a:xfrm>
          <a:prstGeom prst="ellipse">
            <a:avLst/>
          </a:prstGeom>
          <a:solidFill>
            <a:srgbClr val="3A7BFF">
              <a:alpha val="80000"/>
            </a:srgbClr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94360" y="2295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21579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Security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254203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HTTPS, rate limiting, data encryption, and audit logging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090672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94360" y="3300984"/>
            <a:ext cx="457200" cy="457200"/>
          </a:xfrm>
          <a:prstGeom prst="ellipse">
            <a:avLst/>
          </a:prstGeom>
          <a:solidFill>
            <a:srgbClr val="3A7BFF">
              <a:alpha val="80000"/>
            </a:srgbClr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94360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31638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354787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  for production-ready release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3A7BFF">
              <a:alpha val="15000"/>
            </a:srgbClr>
          </a:solidFill>
          <a:ln w="12700">
            <a:solidFill>
              <a:srgbClr val="3A7B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3A7BFF">
              <a:alpha val="15000"/>
            </a:srgbClr>
          </a:solidFill>
          <a:ln w="12700">
            <a:solidFill>
              <a:srgbClr val="3A7B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2011680" cy="41148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3017520"/>
          </a:xfrm>
          <a:prstGeom prst="roundRect">
            <a:avLst>
              <a:gd name="adj" fmla="val 4545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21792" y="1280160"/>
            <a:ext cx="457200" cy="457200"/>
          </a:xfrm>
          <a:prstGeom prst="ellipse">
            <a:avLst/>
          </a:prstGeom>
          <a:solidFill>
            <a:srgbClr val="3A7BFF">
              <a:alpha val="80000"/>
            </a:srgbClr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21792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07008" y="12984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Usability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538728" y="1371600"/>
            <a:ext cx="36576" cy="228600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57600" y="129844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navigation, structured layouts, and clinical-quality result display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" y="2148840"/>
            <a:ext cx="457200" cy="457200"/>
          </a:xfrm>
          <a:prstGeom prst="ellipse">
            <a:avLst/>
          </a:prstGeom>
          <a:solidFill>
            <a:srgbClr val="3A7BFF">
              <a:alpha val="80000"/>
            </a:srgbClr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21792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07008" y="21671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Added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538728" y="2240280"/>
            <a:ext cx="36576" cy="228600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0" y="216712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integration makes ML predictions transparent and medically meaningful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" y="3017520"/>
            <a:ext cx="457200" cy="457200"/>
          </a:xfrm>
          <a:prstGeom prst="ellipse">
            <a:avLst/>
          </a:prstGeom>
          <a:solidFill>
            <a:srgbClr val="3A7BFF">
              <a:alpha val="80000"/>
            </a:srgbClr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21792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07008" y="30358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Structured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538728" y="3108960"/>
            <a:ext cx="36576" cy="228600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657600" y="303580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with full authentication system in place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3A7BFF">
              <a:alpha val="40000"/>
            </a:srgbClr>
          </a:solidFill>
          <a:ln w="12700">
            <a:solidFill>
              <a:srgbClr val="3A7BFF">
                <a:alpha val="6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"From prediction  →  to explainable, trustworthy clinical decision support"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3A7BFF">
              <a:alpha val="18000"/>
            </a:srgbClr>
          </a:solidFill>
          <a:ln w="12700">
            <a:solidFill>
              <a:srgbClr val="3A7B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3A7BFF">
              <a:alpha val="18000"/>
            </a:srgbClr>
          </a:solidFill>
          <a:ln w="12700">
            <a:solidFill>
              <a:srgbClr val="3A7B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0" y="-457200"/>
            <a:ext cx="2286000" cy="2286000"/>
          </a:xfrm>
          <a:prstGeom prst="ellipse">
            <a:avLst/>
          </a:prstGeom>
          <a:solidFill>
            <a:srgbClr val="3A7BFF">
              <a:alpha val="12000"/>
            </a:srgbClr>
          </a:solidFill>
          <a:ln w="12700">
            <a:solidFill>
              <a:srgbClr val="3A7B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371600" y="735916"/>
            <a:ext cx="6400800" cy="3657600"/>
          </a:xfrm>
          <a:prstGeom prst="roundRect">
            <a:avLst>
              <a:gd name="adj" fmla="val 5000"/>
            </a:avLst>
          </a:prstGeom>
          <a:solidFill>
            <a:srgbClr val="FFFFFF">
              <a:alpha val="2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554480" y="10058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3291840" y="2212848"/>
            <a:ext cx="2560320" cy="41148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554480" y="2359152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560320" y="3108960"/>
            <a:ext cx="4023360" cy="502920"/>
          </a:xfrm>
          <a:prstGeom prst="roundRect">
            <a:avLst>
              <a:gd name="adj" fmla="val 18182"/>
            </a:avLst>
          </a:prstGeom>
          <a:solidFill>
            <a:srgbClr val="3A7BFF">
              <a:alpha val="40000"/>
            </a:srgbClr>
          </a:solidFill>
          <a:ln w="12700">
            <a:solidFill>
              <a:srgbClr val="3A7BFF">
                <a:alpha val="6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560320" y="31089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MediTrust  |  Sprint 3  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DF7EAC3-E387-4F94-A5B2-945D2850CA76}">
  <we:reference id="a3b40b4f-8edf-490e-9df1-7e66f93912bf" version="1.2.0.0" store="EXCatalog" storeType="EXCatalog"/>
  <we:alternateReferences>
    <we:reference id="WA104380526" version="1.2.0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746</Words>
  <Application>Microsoft Office PowerPoint</Application>
  <PresentationFormat>On-screen Show (16:9)</PresentationFormat>
  <Paragraphs>171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MediTrust - Sprint 3 Progress Review</dc:title>
  <dc:subject>PptxGenJS Presentation</dc:subject>
  <dc:creator>PptxGenJS</dc:creator>
  <cp:lastModifiedBy>Ravindra Siva Sai Kumar Medicharla</cp:lastModifiedBy>
  <cp:revision>15</cp:revision>
  <dcterms:created xsi:type="dcterms:W3CDTF">2026-04-01T02:39:17Z</dcterms:created>
  <dcterms:modified xsi:type="dcterms:W3CDTF">2026-04-01T06:05:39Z</dcterms:modified>
</cp:coreProperties>
</file>