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5" d="100"/>
          <a:sy n="135" d="100"/>
        </p:scale>
        <p:origin x="380" y="3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Accuracy (%)</c:v>
                </c:pt>
              </c:strCache>
            </c:strRef>
          </c:tx>
          <c:spPr>
            <a:solidFill>
              <a:srgbClr val="0D9488"/>
            </a:solidFill>
            <a:effectLst/>
          </c:spPr>
          <c:invertIfNegative val="0"/>
          <c:dLbls>
            <c:numFmt formatCode="#,##0" sourceLinked="0"/>
            <c:spPr>
              <a:noFill/>
              <a:ln>
                <a:noFill/>
              </a:ln>
              <a:effectLst/>
            </c:spPr>
            <c:txPr>
              <a:bodyPr/>
              <a:lstStyle/>
              <a:p>
                <a:pPr>
                  <a:defRPr sz="11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Logistic Regression</c:v>
                </c:pt>
                <c:pt idx="1">
                  <c:v>Random Forest</c:v>
                </c:pt>
              </c:strCache>
            </c:strRef>
          </c:cat>
          <c:val>
            <c:numRef>
              <c:f>Sheet1!$B$2:$B$3</c:f>
              <c:numCache>
                <c:formatCode>General</c:formatCode>
                <c:ptCount val="2"/>
                <c:pt idx="0">
                  <c:v>82</c:v>
                </c:pt>
                <c:pt idx="1">
                  <c:v>83</c:v>
                </c:pt>
              </c:numCache>
            </c:numRef>
          </c:val>
          <c:extLst>
            <c:ext xmlns:c16="http://schemas.microsoft.com/office/drawing/2014/chart" uri="{C3380CC4-5D6E-409C-BE32-E72D297353CC}">
              <c16:uniqueId val="{00000000-3A2F-4BEC-8D4D-3ABBC43301EF}"/>
            </c:ext>
          </c:extLst>
        </c:ser>
        <c:ser>
          <c:idx val="1"/>
          <c:order val="1"/>
          <c:tx>
            <c:strRef>
              <c:f>Sheet1!$C$1</c:f>
              <c:strCache>
                <c:ptCount val="1"/>
                <c:pt idx="0">
                  <c:v>ROC-AUC (%)</c:v>
                </c:pt>
              </c:strCache>
            </c:strRef>
          </c:tx>
          <c:spPr>
            <a:solidFill>
              <a:srgbClr val="2DD4BF"/>
            </a:solidFill>
            <a:effectLst/>
          </c:spPr>
          <c:invertIfNegative val="0"/>
          <c:dLbls>
            <c:numFmt formatCode="#,##0" sourceLinked="0"/>
            <c:spPr>
              <a:noFill/>
              <a:ln>
                <a:noFill/>
              </a:ln>
              <a:effectLst/>
            </c:spPr>
            <c:txPr>
              <a:bodyPr/>
              <a:lstStyle/>
              <a:p>
                <a:pPr>
                  <a:defRPr sz="11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Logistic Regression</c:v>
                </c:pt>
                <c:pt idx="1">
                  <c:v>Random Forest</c:v>
                </c:pt>
              </c:strCache>
            </c:strRef>
          </c:cat>
          <c:val>
            <c:numRef>
              <c:f>Sheet1!$C$2:$C$3</c:f>
              <c:numCache>
                <c:formatCode>General</c:formatCode>
                <c:ptCount val="2"/>
                <c:pt idx="0">
                  <c:v>84</c:v>
                </c:pt>
                <c:pt idx="1">
                  <c:v>90</c:v>
                </c:pt>
              </c:numCache>
            </c:numRef>
          </c:val>
          <c:extLst>
            <c:ext xmlns:c16="http://schemas.microsoft.com/office/drawing/2014/chart" uri="{C3380CC4-5D6E-409C-BE32-E72D297353CC}">
              <c16:uniqueId val="{00000001-3A2F-4BEC-8D4D-3ABBC43301E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75569"/>
                </a:solidFill>
                <a:latin typeface="Arial"/>
              </a:defRPr>
            </a:pPr>
            <a:endParaRPr lang="en-US"/>
          </a:p>
        </c:txPr>
        <c:crossAx val="2094734552"/>
        <c:crosses val="autoZero"/>
        <c:auto val="1"/>
        <c:lblAlgn val="ctr"/>
        <c:lblOffset val="100"/>
        <c:noMultiLvlLbl val="1"/>
      </c:catAx>
      <c:valAx>
        <c:axId val="2094734552"/>
        <c:scaling>
          <c:orientation val="minMax"/>
          <c:max val="100"/>
          <c:min val="7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75569"/>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19090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0D9488"/>
          </a:solidFill>
          <a:ln w="12700">
            <a:solidFill>
              <a:srgbClr val="0D9488"/>
            </a:solidFill>
            <a:prstDash val="solid"/>
          </a:ln>
        </p:spPr>
        <p:txBody>
          <a:bodyPr/>
          <a:lstStyle/>
          <a:p>
            <a:endParaRPr lang="en-IN"/>
          </a:p>
        </p:txBody>
      </p:sp>
      <p:sp>
        <p:nvSpPr>
          <p:cNvPr id="3" name="Shape 1"/>
          <p:cNvSpPr/>
          <p:nvPr/>
        </p:nvSpPr>
        <p:spPr>
          <a:xfrm>
            <a:off x="0" y="164592"/>
            <a:ext cx="73152" cy="5184648"/>
          </a:xfrm>
          <a:prstGeom prst="rect">
            <a:avLst/>
          </a:prstGeom>
          <a:solidFill>
            <a:srgbClr val="CCFBF1"/>
          </a:solidFill>
          <a:ln w="12700">
            <a:solidFill>
              <a:srgbClr val="CCFBF1"/>
            </a:solidFill>
            <a:prstDash val="solid"/>
          </a:ln>
        </p:spPr>
        <p:txBody>
          <a:bodyPr/>
          <a:lstStyle/>
          <a:p>
            <a:endParaRPr lang="en-IN"/>
          </a:p>
        </p:txBody>
      </p:sp>
      <p:sp>
        <p:nvSpPr>
          <p:cNvPr id="4" name="Text 2"/>
          <p:cNvSpPr/>
          <p:nvPr/>
        </p:nvSpPr>
        <p:spPr>
          <a:xfrm>
            <a:off x="502920" y="548640"/>
            <a:ext cx="8229600" cy="1097280"/>
          </a:xfrm>
          <a:prstGeom prst="rect">
            <a:avLst/>
          </a:prstGeom>
          <a:noFill/>
          <a:ln/>
        </p:spPr>
        <p:txBody>
          <a:bodyPr wrap="square" rtlCol="0" anchor="ctr"/>
          <a:lstStyle/>
          <a:p>
            <a:pPr marL="0" indent="0">
              <a:buNone/>
            </a:pPr>
            <a:r>
              <a:rPr lang="en-US" sz="5600" b="1" dirty="0">
                <a:solidFill>
                  <a:srgbClr val="0D9488"/>
                </a:solidFill>
                <a:latin typeface="Calibri" pitchFamily="34" charset="0"/>
                <a:ea typeface="Calibri" pitchFamily="34" charset="-122"/>
                <a:cs typeface="Calibri" pitchFamily="34" charset="-120"/>
              </a:rPr>
              <a:t>MediTrust</a:t>
            </a:r>
            <a:endParaRPr lang="en-US" sz="5600" dirty="0"/>
          </a:p>
        </p:txBody>
      </p:sp>
      <p:sp>
        <p:nvSpPr>
          <p:cNvPr id="5" name="Text 3"/>
          <p:cNvSpPr/>
          <p:nvPr/>
        </p:nvSpPr>
        <p:spPr>
          <a:xfrm>
            <a:off x="502920" y="1645920"/>
            <a:ext cx="6858000" cy="502920"/>
          </a:xfrm>
          <a:prstGeom prst="rect">
            <a:avLst/>
          </a:prstGeom>
          <a:noFill/>
          <a:ln/>
        </p:spPr>
        <p:txBody>
          <a:bodyPr wrap="square" rtlCol="0" anchor="ctr"/>
          <a:lstStyle/>
          <a:p>
            <a:pPr marL="0" indent="0">
              <a:buNone/>
            </a:pPr>
            <a:r>
              <a:rPr lang="en-US" sz="1800" i="1" dirty="0">
                <a:solidFill>
                  <a:srgbClr val="475569"/>
                </a:solidFill>
                <a:latin typeface="Calibri" pitchFamily="34" charset="0"/>
                <a:ea typeface="Calibri" pitchFamily="34" charset="-122"/>
                <a:cs typeface="Calibri" pitchFamily="34" charset="-120"/>
              </a:rPr>
              <a:t>Cardiovascular Risk Prediction using Machine Learning</a:t>
            </a:r>
            <a:endParaRPr lang="en-US" sz="1800" dirty="0"/>
          </a:p>
        </p:txBody>
      </p:sp>
      <p:sp>
        <p:nvSpPr>
          <p:cNvPr id="6" name="Shape 4"/>
          <p:cNvSpPr/>
          <p:nvPr/>
        </p:nvSpPr>
        <p:spPr>
          <a:xfrm>
            <a:off x="502920" y="2304288"/>
            <a:ext cx="3200400" cy="36576"/>
          </a:xfrm>
          <a:prstGeom prst="rect">
            <a:avLst/>
          </a:prstGeom>
          <a:solidFill>
            <a:srgbClr val="0D9488"/>
          </a:solidFill>
          <a:ln w="12700">
            <a:solidFill>
              <a:srgbClr val="0D9488"/>
            </a:solidFill>
            <a:prstDash val="solid"/>
          </a:ln>
        </p:spPr>
        <p:txBody>
          <a:bodyPr/>
          <a:lstStyle/>
          <a:p>
            <a:endParaRPr lang="en-IN"/>
          </a:p>
        </p:txBody>
      </p:sp>
      <p:sp>
        <p:nvSpPr>
          <p:cNvPr id="7" name="Text 5"/>
          <p:cNvSpPr/>
          <p:nvPr/>
        </p:nvSpPr>
        <p:spPr>
          <a:xfrm>
            <a:off x="502920" y="2468880"/>
            <a:ext cx="6400800" cy="548640"/>
          </a:xfrm>
          <a:prstGeom prst="rect">
            <a:avLst/>
          </a:prstGeom>
          <a:noFill/>
          <a:ln/>
        </p:spPr>
        <p:txBody>
          <a:bodyPr wrap="square"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Sprint 2 — Progress Review</a:t>
            </a:r>
            <a:endParaRPr lang="en-US" sz="2600" dirty="0"/>
          </a:p>
        </p:txBody>
      </p:sp>
      <p:sp>
        <p:nvSpPr>
          <p:cNvPr id="9" name="Shape 7"/>
          <p:cNvSpPr/>
          <p:nvPr/>
        </p:nvSpPr>
        <p:spPr>
          <a:xfrm>
            <a:off x="6647688" y="4059936"/>
            <a:ext cx="2084832" cy="1051560"/>
          </a:xfrm>
          <a:prstGeom prst="rect">
            <a:avLst/>
          </a:prstGeom>
          <a:solidFill>
            <a:srgbClr val="F0FAF9"/>
          </a:solidFill>
          <a:ln w="19050">
            <a:solidFill>
              <a:srgbClr val="0D9488"/>
            </a:solidFill>
            <a:prstDash val="solid"/>
          </a:ln>
        </p:spPr>
        <p:txBody>
          <a:bodyPr/>
          <a:lstStyle/>
          <a:p>
            <a:endParaRPr lang="en-IN"/>
          </a:p>
        </p:txBody>
      </p:sp>
      <p:sp>
        <p:nvSpPr>
          <p:cNvPr id="10" name="Text 8"/>
          <p:cNvSpPr/>
          <p:nvPr/>
        </p:nvSpPr>
        <p:spPr>
          <a:xfrm>
            <a:off x="6798564" y="4160520"/>
            <a:ext cx="1783080" cy="201168"/>
          </a:xfrm>
          <a:prstGeom prst="rect">
            <a:avLst/>
          </a:prstGeom>
          <a:noFill/>
          <a:ln/>
        </p:spPr>
        <p:txBody>
          <a:bodyPr wrap="square" rtlCol="0" anchor="ctr"/>
          <a:lstStyle/>
          <a:p>
            <a:pPr marL="0" indent="0">
              <a:buNone/>
            </a:pPr>
            <a:r>
              <a:rPr lang="en-US" sz="900" b="1" dirty="0">
                <a:solidFill>
                  <a:srgbClr val="0D9488"/>
                </a:solidFill>
                <a:latin typeface="Calibri" pitchFamily="34" charset="0"/>
                <a:ea typeface="Calibri" pitchFamily="34" charset="-122"/>
                <a:cs typeface="Calibri" pitchFamily="34" charset="-120"/>
              </a:rPr>
              <a:t>Team</a:t>
            </a:r>
            <a:endParaRPr lang="en-US" sz="900" dirty="0"/>
          </a:p>
        </p:txBody>
      </p:sp>
      <p:sp>
        <p:nvSpPr>
          <p:cNvPr id="11" name="Text 9"/>
          <p:cNvSpPr/>
          <p:nvPr/>
        </p:nvSpPr>
        <p:spPr>
          <a:xfrm>
            <a:off x="6798564" y="4398264"/>
            <a:ext cx="1783080" cy="219456"/>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Ravindra SSK</a:t>
            </a:r>
            <a:endParaRPr lang="en-US" sz="1050" dirty="0"/>
          </a:p>
        </p:txBody>
      </p:sp>
      <p:sp>
        <p:nvSpPr>
          <p:cNvPr id="12" name="Text 10"/>
          <p:cNvSpPr/>
          <p:nvPr/>
        </p:nvSpPr>
        <p:spPr>
          <a:xfrm>
            <a:off x="6798564" y="4663440"/>
            <a:ext cx="1783080" cy="219456"/>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Uday</a:t>
            </a:r>
            <a:endParaRPr lang="en-US" sz="1050" dirty="0"/>
          </a:p>
        </p:txBody>
      </p:sp>
      <p:sp>
        <p:nvSpPr>
          <p:cNvPr id="13" name="Text 11"/>
          <p:cNvSpPr/>
          <p:nvPr/>
        </p:nvSpPr>
        <p:spPr>
          <a:xfrm>
            <a:off x="6912864" y="2962656"/>
            <a:ext cx="1783080" cy="201168"/>
          </a:xfrm>
          <a:prstGeom prst="rect">
            <a:avLst/>
          </a:prstGeom>
          <a:noFill/>
          <a:ln/>
        </p:spPr>
        <p:txBody>
          <a:bodyPr wrap="square" rtlCol="0" anchor="ctr"/>
          <a:lstStyle/>
          <a:p>
            <a:pPr marL="0" indent="0">
              <a:buNone/>
            </a:pPr>
            <a:endParaRPr lang="en-US" sz="900" dirty="0"/>
          </a:p>
        </p:txBody>
      </p:sp>
      <p:sp>
        <p:nvSpPr>
          <p:cNvPr id="14" name="Text 12"/>
          <p:cNvSpPr/>
          <p:nvPr/>
        </p:nvSpPr>
        <p:spPr>
          <a:xfrm>
            <a:off x="6912864" y="3145536"/>
            <a:ext cx="1783080" cy="219456"/>
          </a:xfrm>
          <a:prstGeom prst="rect">
            <a:avLst/>
          </a:prstGeom>
          <a:noFill/>
          <a:ln/>
        </p:spPr>
        <p:txBody>
          <a:bodyPr wrap="square" rtlCol="0" anchor="ctr"/>
          <a:lstStyle/>
          <a:p>
            <a:pPr marL="0" indent="0">
              <a:buNone/>
            </a:pPr>
            <a:endParaRPr lang="en-US" sz="1050" dirty="0"/>
          </a:p>
        </p:txBody>
      </p:sp>
      <p:sp>
        <p:nvSpPr>
          <p:cNvPr id="15" name="Text 13"/>
          <p:cNvSpPr/>
          <p:nvPr/>
        </p:nvSpPr>
        <p:spPr>
          <a:xfrm>
            <a:off x="6912864" y="3547872"/>
            <a:ext cx="1783080" cy="219456"/>
          </a:xfrm>
          <a:prstGeom prst="rect">
            <a:avLst/>
          </a:prstGeom>
          <a:noFill/>
          <a:ln/>
        </p:spPr>
        <p:txBody>
          <a:bodyPr wrap="square" rtlCol="0" anchor="ctr"/>
          <a:lstStyle/>
          <a:p>
            <a:pPr marL="0" indent="0">
              <a:buNone/>
            </a:pPr>
            <a:endParaRPr lang="en-US" sz="1050" dirty="0"/>
          </a:p>
        </p:txBody>
      </p:sp>
      <p:sp>
        <p:nvSpPr>
          <p:cNvPr id="16" name="Text 14"/>
          <p:cNvSpPr/>
          <p:nvPr/>
        </p:nvSpPr>
        <p:spPr>
          <a:xfrm>
            <a:off x="6912864" y="3767328"/>
            <a:ext cx="1783080" cy="201168"/>
          </a:xfrm>
          <a:prstGeom prst="rect">
            <a:avLst/>
          </a:prstGeom>
          <a:noFill/>
          <a:ln/>
        </p:spPr>
        <p:txBody>
          <a:bodyPr wrap="square" rtlCol="0" anchor="ctr"/>
          <a:lstStyle/>
          <a:p>
            <a:pPr marL="0" indent="0">
              <a:buNone/>
            </a:pPr>
            <a:endParaRPr lang="en-US" sz="900" dirty="0"/>
          </a:p>
        </p:txBody>
      </p:sp>
      <p:sp>
        <p:nvSpPr>
          <p:cNvPr id="17" name="Text 15"/>
          <p:cNvSpPr/>
          <p:nvPr/>
        </p:nvSpPr>
        <p:spPr>
          <a:xfrm>
            <a:off x="6912864" y="3950208"/>
            <a:ext cx="1783080" cy="219456"/>
          </a:xfrm>
          <a:prstGeom prst="rect">
            <a:avLst/>
          </a:prstGeom>
          <a:noFill/>
          <a:ln/>
        </p:spPr>
        <p:txBody>
          <a:bodyPr wrap="square" rtlCol="0" anchor="ctr"/>
          <a:lstStyle/>
          <a:p>
            <a:pPr marL="0" indent="0">
              <a:buNone/>
            </a:pPr>
            <a:endParaRPr lang="en-US" sz="1050" dirty="0"/>
          </a:p>
        </p:txBody>
      </p:sp>
      <p:sp>
        <p:nvSpPr>
          <p:cNvPr id="18" name="Text 16"/>
          <p:cNvSpPr/>
          <p:nvPr/>
        </p:nvSpPr>
        <p:spPr>
          <a:xfrm>
            <a:off x="6912864" y="4169664"/>
            <a:ext cx="1783080" cy="201168"/>
          </a:xfrm>
          <a:prstGeom prst="rect">
            <a:avLst/>
          </a:prstGeom>
          <a:noFill/>
          <a:ln/>
        </p:spPr>
        <p:txBody>
          <a:bodyPr wrap="square" rtlCol="0" anchor="ctr"/>
          <a:lstStyle/>
          <a:p>
            <a:pPr marL="0" indent="0">
              <a:buNone/>
            </a:pPr>
            <a:endParaRPr lang="en-US" sz="900" dirty="0"/>
          </a:p>
        </p:txBody>
      </p:sp>
      <p:sp>
        <p:nvSpPr>
          <p:cNvPr id="19" name="Text 17"/>
          <p:cNvSpPr/>
          <p:nvPr/>
        </p:nvSpPr>
        <p:spPr>
          <a:xfrm>
            <a:off x="6912864" y="4352544"/>
            <a:ext cx="1783080" cy="219456"/>
          </a:xfrm>
          <a:prstGeom prst="rect">
            <a:avLst/>
          </a:prstGeom>
          <a:noFill/>
          <a:ln/>
        </p:spPr>
        <p:txBody>
          <a:bodyPr wrap="square" rtlCol="0" anchor="ctr"/>
          <a:lstStyle/>
          <a:p>
            <a:pPr marL="0" indent="0">
              <a:buNone/>
            </a:pPr>
            <a:endParaRPr lang="en-US" sz="1050" dirty="0"/>
          </a:p>
        </p:txBody>
      </p:sp>
      <p:sp>
        <p:nvSpPr>
          <p:cNvPr id="20" name="Shape 18"/>
          <p:cNvSpPr/>
          <p:nvPr/>
        </p:nvSpPr>
        <p:spPr>
          <a:xfrm>
            <a:off x="0" y="5184648"/>
            <a:ext cx="9144000" cy="73152"/>
          </a:xfrm>
          <a:prstGeom prst="rect">
            <a:avLst/>
          </a:prstGeom>
          <a:solidFill>
            <a:srgbClr val="0D9488"/>
          </a:solidFill>
          <a:ln w="12700">
            <a:solidFill>
              <a:srgbClr val="0D9488"/>
            </a:solidFill>
            <a:prstDash val="solid"/>
          </a:ln>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9488"/>
          </a:solidFill>
          <a:ln w="12700">
            <a:solidFill>
              <a:srgbClr val="0D9488"/>
            </a:solidFill>
            <a:prstDash val="solid"/>
          </a:ln>
        </p:spPr>
        <p:txBody>
          <a:bodyPr/>
          <a:lstStyle/>
          <a:p>
            <a:endParaRPr lang="en-IN"/>
          </a:p>
        </p:txBody>
      </p:sp>
      <p:sp>
        <p:nvSpPr>
          <p:cNvPr id="3" name="Text 1"/>
          <p:cNvSpPr/>
          <p:nvPr/>
        </p:nvSpPr>
        <p:spPr>
          <a:xfrm>
            <a:off x="320040" y="0"/>
            <a:ext cx="850392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Sprint 1 Recap</a:t>
            </a:r>
            <a:endParaRPr lang="en-US" sz="2200" dirty="0"/>
          </a:p>
        </p:txBody>
      </p:sp>
      <p:sp>
        <p:nvSpPr>
          <p:cNvPr id="4" name="Shape 2"/>
          <p:cNvSpPr/>
          <p:nvPr/>
        </p:nvSpPr>
        <p:spPr>
          <a:xfrm>
            <a:off x="0" y="5184648"/>
            <a:ext cx="9144000" cy="73152"/>
          </a:xfrm>
          <a:prstGeom prst="rect">
            <a:avLst/>
          </a:prstGeom>
          <a:solidFill>
            <a:srgbClr val="CCFBF1"/>
          </a:solidFill>
          <a:ln w="12700">
            <a:solidFill>
              <a:srgbClr val="CCFBF1"/>
            </a:solidFill>
            <a:prstDash val="solid"/>
          </a:ln>
        </p:spPr>
        <p:txBody>
          <a:bodyPr/>
          <a:lstStyle/>
          <a:p>
            <a:endParaRPr lang="en-IN"/>
          </a:p>
        </p:txBody>
      </p:sp>
      <p:sp>
        <p:nvSpPr>
          <p:cNvPr id="5" name="Text 3"/>
          <p:cNvSpPr/>
          <p:nvPr/>
        </p:nvSpPr>
        <p:spPr>
          <a:xfrm>
            <a:off x="320040" y="777240"/>
            <a:ext cx="4023360" cy="320040"/>
          </a:xfrm>
          <a:prstGeom prst="rect">
            <a:avLst/>
          </a:prstGeom>
          <a:noFill/>
          <a:ln/>
        </p:spPr>
        <p:txBody>
          <a:bodyPr wrap="square" rtlCol="0" anchor="ctr"/>
          <a:lstStyle/>
          <a:p>
            <a:pPr marL="0" indent="0">
              <a:buNone/>
            </a:pPr>
            <a:r>
              <a:rPr lang="en-US" sz="1300" b="1" dirty="0">
                <a:solidFill>
                  <a:srgbClr val="16A34A"/>
                </a:solidFill>
                <a:latin typeface="Calibri" pitchFamily="34" charset="0"/>
                <a:ea typeface="Calibri" pitchFamily="34" charset="-122"/>
                <a:cs typeface="Calibri" pitchFamily="34" charset="-120"/>
              </a:rPr>
              <a:t>What Sprint 1 Built</a:t>
            </a:r>
            <a:endParaRPr lang="en-US" sz="1300" dirty="0"/>
          </a:p>
        </p:txBody>
      </p:sp>
      <p:sp>
        <p:nvSpPr>
          <p:cNvPr id="6" name="Shape 4"/>
          <p:cNvSpPr/>
          <p:nvPr/>
        </p:nvSpPr>
        <p:spPr>
          <a:xfrm>
            <a:off x="320040" y="1170432"/>
            <a:ext cx="4041648" cy="585216"/>
          </a:xfrm>
          <a:prstGeom prst="rect">
            <a:avLst/>
          </a:prstGeom>
          <a:solidFill>
            <a:srgbClr val="DCFCE7"/>
          </a:solidFill>
          <a:ln w="12700">
            <a:solidFill>
              <a:srgbClr val="16A34A"/>
            </a:solidFill>
            <a:prstDash val="solid"/>
          </a:ln>
        </p:spPr>
        <p:txBody>
          <a:bodyPr/>
          <a:lstStyle/>
          <a:p>
            <a:endParaRPr lang="en-IN"/>
          </a:p>
        </p:txBody>
      </p:sp>
      <p:sp>
        <p:nvSpPr>
          <p:cNvPr id="7" name="Shape 5"/>
          <p:cNvSpPr/>
          <p:nvPr/>
        </p:nvSpPr>
        <p:spPr>
          <a:xfrm>
            <a:off x="320040" y="1170432"/>
            <a:ext cx="73152" cy="585216"/>
          </a:xfrm>
          <a:prstGeom prst="rect">
            <a:avLst/>
          </a:prstGeom>
          <a:solidFill>
            <a:srgbClr val="16A34A"/>
          </a:solidFill>
          <a:ln w="12700">
            <a:solidFill>
              <a:srgbClr val="16A34A"/>
            </a:solidFill>
            <a:prstDash val="solid"/>
          </a:ln>
        </p:spPr>
        <p:txBody>
          <a:bodyPr/>
          <a:lstStyle/>
          <a:p>
            <a:endParaRPr lang="en-IN"/>
          </a:p>
        </p:txBody>
      </p:sp>
      <p:sp>
        <p:nvSpPr>
          <p:cNvPr id="8" name="Text 6"/>
          <p:cNvSpPr/>
          <p:nvPr/>
        </p:nvSpPr>
        <p:spPr>
          <a:xfrm>
            <a:off x="438912" y="1170432"/>
            <a:ext cx="274320" cy="585216"/>
          </a:xfrm>
          <a:prstGeom prst="rect">
            <a:avLst/>
          </a:prstGeom>
          <a:noFill/>
          <a:ln/>
        </p:spPr>
        <p:txBody>
          <a:bodyPr wrap="square" rtlCol="0" anchor="ctr"/>
          <a:lstStyle/>
          <a:p>
            <a:pPr marL="0" indent="0">
              <a:buNone/>
            </a:pPr>
            <a:r>
              <a:rPr lang="en-US" sz="1300" b="1" dirty="0">
                <a:solidFill>
                  <a:srgbClr val="16A34A"/>
                </a:solidFill>
                <a:latin typeface="Calibri" pitchFamily="34" charset="0"/>
                <a:ea typeface="Calibri" pitchFamily="34" charset="-122"/>
                <a:cs typeface="Calibri" pitchFamily="34" charset="-120"/>
              </a:rPr>
              <a:t>✓</a:t>
            </a:r>
            <a:endParaRPr lang="en-US" sz="1300" dirty="0"/>
          </a:p>
        </p:txBody>
      </p:sp>
      <p:sp>
        <p:nvSpPr>
          <p:cNvPr id="9" name="Text 7"/>
          <p:cNvSpPr/>
          <p:nvPr/>
        </p:nvSpPr>
        <p:spPr>
          <a:xfrm>
            <a:off x="768096" y="1170432"/>
            <a:ext cx="3511296" cy="585216"/>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User registration &amp; login (bcrypt + JWT)</a:t>
            </a:r>
            <a:endParaRPr lang="en-US" sz="1150" dirty="0"/>
          </a:p>
        </p:txBody>
      </p:sp>
      <p:sp>
        <p:nvSpPr>
          <p:cNvPr id="10" name="Shape 8"/>
          <p:cNvSpPr/>
          <p:nvPr/>
        </p:nvSpPr>
        <p:spPr>
          <a:xfrm>
            <a:off x="320040" y="1874520"/>
            <a:ext cx="4041648" cy="585216"/>
          </a:xfrm>
          <a:prstGeom prst="rect">
            <a:avLst/>
          </a:prstGeom>
          <a:solidFill>
            <a:srgbClr val="DCFCE7"/>
          </a:solidFill>
          <a:ln w="12700">
            <a:solidFill>
              <a:srgbClr val="16A34A"/>
            </a:solidFill>
            <a:prstDash val="solid"/>
          </a:ln>
        </p:spPr>
        <p:txBody>
          <a:bodyPr/>
          <a:lstStyle/>
          <a:p>
            <a:endParaRPr lang="en-IN"/>
          </a:p>
        </p:txBody>
      </p:sp>
      <p:sp>
        <p:nvSpPr>
          <p:cNvPr id="11" name="Shape 9"/>
          <p:cNvSpPr/>
          <p:nvPr/>
        </p:nvSpPr>
        <p:spPr>
          <a:xfrm>
            <a:off x="320040" y="1874520"/>
            <a:ext cx="73152" cy="585216"/>
          </a:xfrm>
          <a:prstGeom prst="rect">
            <a:avLst/>
          </a:prstGeom>
          <a:solidFill>
            <a:srgbClr val="16A34A"/>
          </a:solidFill>
          <a:ln w="12700">
            <a:solidFill>
              <a:srgbClr val="16A34A"/>
            </a:solidFill>
            <a:prstDash val="solid"/>
          </a:ln>
        </p:spPr>
        <p:txBody>
          <a:bodyPr/>
          <a:lstStyle/>
          <a:p>
            <a:endParaRPr lang="en-IN"/>
          </a:p>
        </p:txBody>
      </p:sp>
      <p:sp>
        <p:nvSpPr>
          <p:cNvPr id="12" name="Text 10"/>
          <p:cNvSpPr/>
          <p:nvPr/>
        </p:nvSpPr>
        <p:spPr>
          <a:xfrm>
            <a:off x="438912" y="1874520"/>
            <a:ext cx="274320" cy="585216"/>
          </a:xfrm>
          <a:prstGeom prst="rect">
            <a:avLst/>
          </a:prstGeom>
          <a:noFill/>
          <a:ln/>
        </p:spPr>
        <p:txBody>
          <a:bodyPr wrap="square" rtlCol="0" anchor="ctr"/>
          <a:lstStyle/>
          <a:p>
            <a:pPr marL="0" indent="0">
              <a:buNone/>
            </a:pPr>
            <a:r>
              <a:rPr lang="en-US" sz="1300" b="1" dirty="0">
                <a:solidFill>
                  <a:srgbClr val="16A34A"/>
                </a:solidFill>
                <a:latin typeface="Calibri" pitchFamily="34" charset="0"/>
                <a:ea typeface="Calibri" pitchFamily="34" charset="-122"/>
                <a:cs typeface="Calibri" pitchFamily="34" charset="-120"/>
              </a:rPr>
              <a:t>✓</a:t>
            </a:r>
            <a:endParaRPr lang="en-US" sz="1300" dirty="0"/>
          </a:p>
        </p:txBody>
      </p:sp>
      <p:sp>
        <p:nvSpPr>
          <p:cNvPr id="13" name="Text 11"/>
          <p:cNvSpPr/>
          <p:nvPr/>
        </p:nvSpPr>
        <p:spPr>
          <a:xfrm>
            <a:off x="768096" y="1874520"/>
            <a:ext cx="3511296" cy="585216"/>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FastAPI backend  (POST /register, POST /login)</a:t>
            </a:r>
            <a:endParaRPr lang="en-US" sz="1150" dirty="0"/>
          </a:p>
        </p:txBody>
      </p:sp>
      <p:sp>
        <p:nvSpPr>
          <p:cNvPr id="14" name="Shape 12"/>
          <p:cNvSpPr/>
          <p:nvPr/>
        </p:nvSpPr>
        <p:spPr>
          <a:xfrm>
            <a:off x="320040" y="2578608"/>
            <a:ext cx="4041648" cy="585216"/>
          </a:xfrm>
          <a:prstGeom prst="rect">
            <a:avLst/>
          </a:prstGeom>
          <a:solidFill>
            <a:srgbClr val="DCFCE7"/>
          </a:solidFill>
          <a:ln w="12700">
            <a:solidFill>
              <a:srgbClr val="16A34A"/>
            </a:solidFill>
            <a:prstDash val="solid"/>
          </a:ln>
        </p:spPr>
        <p:txBody>
          <a:bodyPr/>
          <a:lstStyle/>
          <a:p>
            <a:endParaRPr lang="en-IN"/>
          </a:p>
        </p:txBody>
      </p:sp>
      <p:sp>
        <p:nvSpPr>
          <p:cNvPr id="15" name="Shape 13"/>
          <p:cNvSpPr/>
          <p:nvPr/>
        </p:nvSpPr>
        <p:spPr>
          <a:xfrm>
            <a:off x="320040" y="2578608"/>
            <a:ext cx="73152" cy="585216"/>
          </a:xfrm>
          <a:prstGeom prst="rect">
            <a:avLst/>
          </a:prstGeom>
          <a:solidFill>
            <a:srgbClr val="16A34A"/>
          </a:solidFill>
          <a:ln w="12700">
            <a:solidFill>
              <a:srgbClr val="16A34A"/>
            </a:solidFill>
            <a:prstDash val="solid"/>
          </a:ln>
        </p:spPr>
        <p:txBody>
          <a:bodyPr/>
          <a:lstStyle/>
          <a:p>
            <a:endParaRPr lang="en-IN"/>
          </a:p>
        </p:txBody>
      </p:sp>
      <p:sp>
        <p:nvSpPr>
          <p:cNvPr id="16" name="Text 14"/>
          <p:cNvSpPr/>
          <p:nvPr/>
        </p:nvSpPr>
        <p:spPr>
          <a:xfrm>
            <a:off x="438912" y="2578608"/>
            <a:ext cx="274320" cy="585216"/>
          </a:xfrm>
          <a:prstGeom prst="rect">
            <a:avLst/>
          </a:prstGeom>
          <a:noFill/>
          <a:ln/>
        </p:spPr>
        <p:txBody>
          <a:bodyPr wrap="square" rtlCol="0" anchor="ctr"/>
          <a:lstStyle/>
          <a:p>
            <a:pPr marL="0" indent="0">
              <a:buNone/>
            </a:pPr>
            <a:r>
              <a:rPr lang="en-US" sz="1300" b="1" dirty="0">
                <a:solidFill>
                  <a:srgbClr val="16A34A"/>
                </a:solidFill>
                <a:latin typeface="Calibri" pitchFamily="34" charset="0"/>
                <a:ea typeface="Calibri" pitchFamily="34" charset="-122"/>
                <a:cs typeface="Calibri" pitchFamily="34" charset="-120"/>
              </a:rPr>
              <a:t>✓</a:t>
            </a:r>
            <a:endParaRPr lang="en-US" sz="1300" dirty="0"/>
          </a:p>
        </p:txBody>
      </p:sp>
      <p:sp>
        <p:nvSpPr>
          <p:cNvPr id="17" name="Text 15"/>
          <p:cNvSpPr/>
          <p:nvPr/>
        </p:nvSpPr>
        <p:spPr>
          <a:xfrm>
            <a:off x="768096" y="2578608"/>
            <a:ext cx="3511296" cy="585216"/>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PostgreSQL database via Docker</a:t>
            </a:r>
            <a:endParaRPr lang="en-US" sz="1150" dirty="0"/>
          </a:p>
        </p:txBody>
      </p:sp>
      <p:sp>
        <p:nvSpPr>
          <p:cNvPr id="18" name="Shape 16"/>
          <p:cNvSpPr/>
          <p:nvPr/>
        </p:nvSpPr>
        <p:spPr>
          <a:xfrm>
            <a:off x="320040" y="3282696"/>
            <a:ext cx="4041648" cy="585216"/>
          </a:xfrm>
          <a:prstGeom prst="rect">
            <a:avLst/>
          </a:prstGeom>
          <a:solidFill>
            <a:srgbClr val="DCFCE7"/>
          </a:solidFill>
          <a:ln w="12700">
            <a:solidFill>
              <a:srgbClr val="16A34A"/>
            </a:solidFill>
            <a:prstDash val="solid"/>
          </a:ln>
        </p:spPr>
        <p:txBody>
          <a:bodyPr/>
          <a:lstStyle/>
          <a:p>
            <a:endParaRPr lang="en-IN"/>
          </a:p>
        </p:txBody>
      </p:sp>
      <p:sp>
        <p:nvSpPr>
          <p:cNvPr id="19" name="Shape 17"/>
          <p:cNvSpPr/>
          <p:nvPr/>
        </p:nvSpPr>
        <p:spPr>
          <a:xfrm>
            <a:off x="320040" y="3282696"/>
            <a:ext cx="73152" cy="585216"/>
          </a:xfrm>
          <a:prstGeom prst="rect">
            <a:avLst/>
          </a:prstGeom>
          <a:solidFill>
            <a:srgbClr val="16A34A"/>
          </a:solidFill>
          <a:ln w="12700">
            <a:solidFill>
              <a:srgbClr val="16A34A"/>
            </a:solidFill>
            <a:prstDash val="solid"/>
          </a:ln>
        </p:spPr>
        <p:txBody>
          <a:bodyPr/>
          <a:lstStyle/>
          <a:p>
            <a:endParaRPr lang="en-IN"/>
          </a:p>
        </p:txBody>
      </p:sp>
      <p:sp>
        <p:nvSpPr>
          <p:cNvPr id="20" name="Text 18"/>
          <p:cNvSpPr/>
          <p:nvPr/>
        </p:nvSpPr>
        <p:spPr>
          <a:xfrm>
            <a:off x="438912" y="3282696"/>
            <a:ext cx="274320" cy="585216"/>
          </a:xfrm>
          <a:prstGeom prst="rect">
            <a:avLst/>
          </a:prstGeom>
          <a:noFill/>
          <a:ln/>
        </p:spPr>
        <p:txBody>
          <a:bodyPr wrap="square" rtlCol="0" anchor="ctr"/>
          <a:lstStyle/>
          <a:p>
            <a:pPr marL="0" indent="0">
              <a:buNone/>
            </a:pPr>
            <a:r>
              <a:rPr lang="en-US" sz="1300" b="1" dirty="0">
                <a:solidFill>
                  <a:srgbClr val="16A34A"/>
                </a:solidFill>
                <a:latin typeface="Calibri" pitchFamily="34" charset="0"/>
                <a:ea typeface="Calibri" pitchFamily="34" charset="-122"/>
                <a:cs typeface="Calibri" pitchFamily="34" charset="-120"/>
              </a:rPr>
              <a:t>✓</a:t>
            </a:r>
            <a:endParaRPr lang="en-US" sz="1300" dirty="0"/>
          </a:p>
        </p:txBody>
      </p:sp>
      <p:sp>
        <p:nvSpPr>
          <p:cNvPr id="21" name="Text 19"/>
          <p:cNvSpPr/>
          <p:nvPr/>
        </p:nvSpPr>
        <p:spPr>
          <a:xfrm>
            <a:off x="768096" y="3282696"/>
            <a:ext cx="3511296" cy="585216"/>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Working frontend  (login + assessment pages)</a:t>
            </a:r>
            <a:endParaRPr lang="en-US" sz="1150" dirty="0"/>
          </a:p>
        </p:txBody>
      </p:sp>
      <p:sp>
        <p:nvSpPr>
          <p:cNvPr id="22" name="Shape 20"/>
          <p:cNvSpPr/>
          <p:nvPr/>
        </p:nvSpPr>
        <p:spPr>
          <a:xfrm>
            <a:off x="320040" y="3986784"/>
            <a:ext cx="4041648" cy="585216"/>
          </a:xfrm>
          <a:prstGeom prst="rect">
            <a:avLst/>
          </a:prstGeom>
          <a:solidFill>
            <a:srgbClr val="DCFCE7"/>
          </a:solidFill>
          <a:ln w="12700">
            <a:solidFill>
              <a:srgbClr val="16A34A"/>
            </a:solidFill>
            <a:prstDash val="solid"/>
          </a:ln>
        </p:spPr>
        <p:txBody>
          <a:bodyPr/>
          <a:lstStyle/>
          <a:p>
            <a:endParaRPr lang="en-IN"/>
          </a:p>
        </p:txBody>
      </p:sp>
      <p:sp>
        <p:nvSpPr>
          <p:cNvPr id="23" name="Shape 21"/>
          <p:cNvSpPr/>
          <p:nvPr/>
        </p:nvSpPr>
        <p:spPr>
          <a:xfrm>
            <a:off x="320040" y="3986784"/>
            <a:ext cx="73152" cy="585216"/>
          </a:xfrm>
          <a:prstGeom prst="rect">
            <a:avLst/>
          </a:prstGeom>
          <a:solidFill>
            <a:srgbClr val="16A34A"/>
          </a:solidFill>
          <a:ln w="12700">
            <a:solidFill>
              <a:srgbClr val="16A34A"/>
            </a:solidFill>
            <a:prstDash val="solid"/>
          </a:ln>
        </p:spPr>
        <p:txBody>
          <a:bodyPr/>
          <a:lstStyle/>
          <a:p>
            <a:endParaRPr lang="en-IN"/>
          </a:p>
        </p:txBody>
      </p:sp>
      <p:sp>
        <p:nvSpPr>
          <p:cNvPr id="24" name="Text 22"/>
          <p:cNvSpPr/>
          <p:nvPr/>
        </p:nvSpPr>
        <p:spPr>
          <a:xfrm>
            <a:off x="438912" y="3986784"/>
            <a:ext cx="274320" cy="585216"/>
          </a:xfrm>
          <a:prstGeom prst="rect">
            <a:avLst/>
          </a:prstGeom>
          <a:noFill/>
          <a:ln/>
        </p:spPr>
        <p:txBody>
          <a:bodyPr wrap="square" rtlCol="0" anchor="ctr"/>
          <a:lstStyle/>
          <a:p>
            <a:pPr marL="0" indent="0">
              <a:buNone/>
            </a:pPr>
            <a:r>
              <a:rPr lang="en-US" sz="1300" b="1" dirty="0">
                <a:solidFill>
                  <a:srgbClr val="16A34A"/>
                </a:solidFill>
                <a:latin typeface="Calibri" pitchFamily="34" charset="0"/>
                <a:ea typeface="Calibri" pitchFamily="34" charset="-122"/>
                <a:cs typeface="Calibri" pitchFamily="34" charset="-120"/>
              </a:rPr>
              <a:t>✓</a:t>
            </a:r>
            <a:endParaRPr lang="en-US" sz="1300" dirty="0"/>
          </a:p>
        </p:txBody>
      </p:sp>
      <p:sp>
        <p:nvSpPr>
          <p:cNvPr id="25" name="Text 23"/>
          <p:cNvSpPr/>
          <p:nvPr/>
        </p:nvSpPr>
        <p:spPr>
          <a:xfrm>
            <a:off x="768096" y="3986784"/>
            <a:ext cx="3511296" cy="585216"/>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POST /assess endpoint  (dummy rule)</a:t>
            </a:r>
            <a:endParaRPr lang="en-US" sz="1150" dirty="0"/>
          </a:p>
        </p:txBody>
      </p:sp>
      <p:sp>
        <p:nvSpPr>
          <p:cNvPr id="26" name="Text 24"/>
          <p:cNvSpPr/>
          <p:nvPr/>
        </p:nvSpPr>
        <p:spPr>
          <a:xfrm>
            <a:off x="4773168" y="777240"/>
            <a:ext cx="4023360" cy="320040"/>
          </a:xfrm>
          <a:prstGeom prst="rect">
            <a:avLst/>
          </a:prstGeom>
          <a:noFill/>
          <a:ln/>
        </p:spPr>
        <p:txBody>
          <a:bodyPr wrap="square" rtlCol="0" anchor="ctr"/>
          <a:lstStyle/>
          <a:p>
            <a:pPr marL="0" indent="0">
              <a:buNone/>
            </a:pPr>
            <a:r>
              <a:rPr lang="en-US" sz="1300" b="1" dirty="0">
                <a:solidFill>
                  <a:srgbClr val="DC2626"/>
                </a:solidFill>
                <a:latin typeface="Calibri" pitchFamily="34" charset="0"/>
                <a:ea typeface="Calibri" pitchFamily="34" charset="-122"/>
                <a:cs typeface="Calibri" pitchFamily="34" charset="-120"/>
              </a:rPr>
              <a:t>What Was Missing</a:t>
            </a:r>
            <a:endParaRPr lang="en-US" sz="1300" dirty="0"/>
          </a:p>
        </p:txBody>
      </p:sp>
      <p:sp>
        <p:nvSpPr>
          <p:cNvPr id="27" name="Shape 25"/>
          <p:cNvSpPr/>
          <p:nvPr/>
        </p:nvSpPr>
        <p:spPr>
          <a:xfrm>
            <a:off x="4773168" y="1170432"/>
            <a:ext cx="4041648" cy="585216"/>
          </a:xfrm>
          <a:prstGeom prst="rect">
            <a:avLst/>
          </a:prstGeom>
          <a:solidFill>
            <a:srgbClr val="FEE2E2"/>
          </a:solidFill>
          <a:ln w="12700">
            <a:solidFill>
              <a:srgbClr val="DC2626"/>
            </a:solidFill>
            <a:prstDash val="solid"/>
          </a:ln>
        </p:spPr>
        <p:txBody>
          <a:bodyPr/>
          <a:lstStyle/>
          <a:p>
            <a:endParaRPr lang="en-IN"/>
          </a:p>
        </p:txBody>
      </p:sp>
      <p:sp>
        <p:nvSpPr>
          <p:cNvPr id="28" name="Shape 26"/>
          <p:cNvSpPr/>
          <p:nvPr/>
        </p:nvSpPr>
        <p:spPr>
          <a:xfrm>
            <a:off x="4773168" y="1170432"/>
            <a:ext cx="73152" cy="585216"/>
          </a:xfrm>
          <a:prstGeom prst="rect">
            <a:avLst/>
          </a:prstGeom>
          <a:solidFill>
            <a:srgbClr val="DC2626"/>
          </a:solidFill>
          <a:ln w="12700">
            <a:solidFill>
              <a:srgbClr val="DC2626"/>
            </a:solidFill>
            <a:prstDash val="solid"/>
          </a:ln>
        </p:spPr>
        <p:txBody>
          <a:bodyPr/>
          <a:lstStyle/>
          <a:p>
            <a:endParaRPr lang="en-IN"/>
          </a:p>
        </p:txBody>
      </p:sp>
      <p:sp>
        <p:nvSpPr>
          <p:cNvPr id="29" name="Text 27"/>
          <p:cNvSpPr/>
          <p:nvPr/>
        </p:nvSpPr>
        <p:spPr>
          <a:xfrm>
            <a:off x="4892040" y="1170432"/>
            <a:ext cx="274320" cy="585216"/>
          </a:xfrm>
          <a:prstGeom prst="rect">
            <a:avLst/>
          </a:prstGeom>
          <a:noFill/>
          <a:ln/>
        </p:spPr>
        <p:txBody>
          <a:bodyPr wrap="square" rtlCol="0" anchor="ctr"/>
          <a:lstStyle/>
          <a:p>
            <a:pPr marL="0" indent="0">
              <a:buNone/>
            </a:pPr>
            <a:r>
              <a:rPr lang="en-US" sz="1300" b="1" dirty="0">
                <a:solidFill>
                  <a:srgbClr val="DC2626"/>
                </a:solidFill>
                <a:latin typeface="Calibri" pitchFamily="34" charset="0"/>
                <a:ea typeface="Calibri" pitchFamily="34" charset="-122"/>
                <a:cs typeface="Calibri" pitchFamily="34" charset="-120"/>
              </a:rPr>
              <a:t>✗</a:t>
            </a:r>
            <a:endParaRPr lang="en-US" sz="1300" dirty="0"/>
          </a:p>
        </p:txBody>
      </p:sp>
      <p:sp>
        <p:nvSpPr>
          <p:cNvPr id="30" name="Text 28"/>
          <p:cNvSpPr/>
          <p:nvPr/>
        </p:nvSpPr>
        <p:spPr>
          <a:xfrm>
            <a:off x="5193792" y="1170432"/>
            <a:ext cx="3511296" cy="585216"/>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Risk score used only age — not real ML</a:t>
            </a:r>
            <a:endParaRPr lang="en-US" sz="1150" dirty="0"/>
          </a:p>
        </p:txBody>
      </p:sp>
      <p:sp>
        <p:nvSpPr>
          <p:cNvPr id="31" name="Shape 29"/>
          <p:cNvSpPr/>
          <p:nvPr/>
        </p:nvSpPr>
        <p:spPr>
          <a:xfrm>
            <a:off x="4773168" y="1874520"/>
            <a:ext cx="4041648" cy="585216"/>
          </a:xfrm>
          <a:prstGeom prst="rect">
            <a:avLst/>
          </a:prstGeom>
          <a:solidFill>
            <a:srgbClr val="FEE2E2"/>
          </a:solidFill>
          <a:ln w="12700">
            <a:solidFill>
              <a:srgbClr val="DC2626"/>
            </a:solidFill>
            <a:prstDash val="solid"/>
          </a:ln>
        </p:spPr>
        <p:txBody>
          <a:bodyPr/>
          <a:lstStyle/>
          <a:p>
            <a:endParaRPr lang="en-IN"/>
          </a:p>
        </p:txBody>
      </p:sp>
      <p:sp>
        <p:nvSpPr>
          <p:cNvPr id="32" name="Shape 30"/>
          <p:cNvSpPr/>
          <p:nvPr/>
        </p:nvSpPr>
        <p:spPr>
          <a:xfrm>
            <a:off x="4773168" y="1874520"/>
            <a:ext cx="73152" cy="585216"/>
          </a:xfrm>
          <a:prstGeom prst="rect">
            <a:avLst/>
          </a:prstGeom>
          <a:solidFill>
            <a:srgbClr val="DC2626"/>
          </a:solidFill>
          <a:ln w="12700">
            <a:solidFill>
              <a:srgbClr val="DC2626"/>
            </a:solidFill>
            <a:prstDash val="solid"/>
          </a:ln>
        </p:spPr>
        <p:txBody>
          <a:bodyPr/>
          <a:lstStyle/>
          <a:p>
            <a:endParaRPr lang="en-IN"/>
          </a:p>
        </p:txBody>
      </p:sp>
      <p:sp>
        <p:nvSpPr>
          <p:cNvPr id="33" name="Text 31"/>
          <p:cNvSpPr/>
          <p:nvPr/>
        </p:nvSpPr>
        <p:spPr>
          <a:xfrm>
            <a:off x="4892040" y="1874520"/>
            <a:ext cx="274320" cy="585216"/>
          </a:xfrm>
          <a:prstGeom prst="rect">
            <a:avLst/>
          </a:prstGeom>
          <a:noFill/>
          <a:ln/>
        </p:spPr>
        <p:txBody>
          <a:bodyPr wrap="square" rtlCol="0" anchor="ctr"/>
          <a:lstStyle/>
          <a:p>
            <a:pPr marL="0" indent="0">
              <a:buNone/>
            </a:pPr>
            <a:r>
              <a:rPr lang="en-US" sz="1300" b="1" dirty="0">
                <a:solidFill>
                  <a:srgbClr val="DC2626"/>
                </a:solidFill>
                <a:latin typeface="Calibri" pitchFamily="34" charset="0"/>
                <a:ea typeface="Calibri" pitchFamily="34" charset="-122"/>
                <a:cs typeface="Calibri" pitchFamily="34" charset="-120"/>
              </a:rPr>
              <a:t>✗</a:t>
            </a:r>
            <a:endParaRPr lang="en-US" sz="1300" dirty="0"/>
          </a:p>
        </p:txBody>
      </p:sp>
      <p:sp>
        <p:nvSpPr>
          <p:cNvPr id="34" name="Text 32"/>
          <p:cNvSpPr/>
          <p:nvPr/>
        </p:nvSpPr>
        <p:spPr>
          <a:xfrm>
            <a:off x="5193792" y="1874520"/>
            <a:ext cx="3511296" cy="585216"/>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Only 1 input field (not 11 clinical features)</a:t>
            </a:r>
            <a:endParaRPr lang="en-US" sz="1150" dirty="0"/>
          </a:p>
        </p:txBody>
      </p:sp>
      <p:sp>
        <p:nvSpPr>
          <p:cNvPr id="35" name="Shape 33"/>
          <p:cNvSpPr/>
          <p:nvPr/>
        </p:nvSpPr>
        <p:spPr>
          <a:xfrm>
            <a:off x="4773168" y="2578608"/>
            <a:ext cx="4041648" cy="585216"/>
          </a:xfrm>
          <a:prstGeom prst="rect">
            <a:avLst/>
          </a:prstGeom>
          <a:solidFill>
            <a:srgbClr val="FEE2E2"/>
          </a:solidFill>
          <a:ln w="12700">
            <a:solidFill>
              <a:srgbClr val="DC2626"/>
            </a:solidFill>
            <a:prstDash val="solid"/>
          </a:ln>
        </p:spPr>
        <p:txBody>
          <a:bodyPr/>
          <a:lstStyle/>
          <a:p>
            <a:endParaRPr lang="en-IN"/>
          </a:p>
        </p:txBody>
      </p:sp>
      <p:sp>
        <p:nvSpPr>
          <p:cNvPr id="36" name="Shape 34"/>
          <p:cNvSpPr/>
          <p:nvPr/>
        </p:nvSpPr>
        <p:spPr>
          <a:xfrm>
            <a:off x="4773168" y="2578608"/>
            <a:ext cx="73152" cy="585216"/>
          </a:xfrm>
          <a:prstGeom prst="rect">
            <a:avLst/>
          </a:prstGeom>
          <a:solidFill>
            <a:srgbClr val="DC2626"/>
          </a:solidFill>
          <a:ln w="12700">
            <a:solidFill>
              <a:srgbClr val="DC2626"/>
            </a:solidFill>
            <a:prstDash val="solid"/>
          </a:ln>
        </p:spPr>
        <p:txBody>
          <a:bodyPr/>
          <a:lstStyle/>
          <a:p>
            <a:endParaRPr lang="en-IN"/>
          </a:p>
        </p:txBody>
      </p:sp>
      <p:sp>
        <p:nvSpPr>
          <p:cNvPr id="37" name="Text 35"/>
          <p:cNvSpPr/>
          <p:nvPr/>
        </p:nvSpPr>
        <p:spPr>
          <a:xfrm>
            <a:off x="4892040" y="2578608"/>
            <a:ext cx="274320" cy="585216"/>
          </a:xfrm>
          <a:prstGeom prst="rect">
            <a:avLst/>
          </a:prstGeom>
          <a:noFill/>
          <a:ln/>
        </p:spPr>
        <p:txBody>
          <a:bodyPr wrap="square" rtlCol="0" anchor="ctr"/>
          <a:lstStyle/>
          <a:p>
            <a:pPr marL="0" indent="0">
              <a:buNone/>
            </a:pPr>
            <a:r>
              <a:rPr lang="en-US" sz="1300" b="1" dirty="0">
                <a:solidFill>
                  <a:srgbClr val="DC2626"/>
                </a:solidFill>
                <a:latin typeface="Calibri" pitchFamily="34" charset="0"/>
                <a:ea typeface="Calibri" pitchFamily="34" charset="-122"/>
                <a:cs typeface="Calibri" pitchFamily="34" charset="-120"/>
              </a:rPr>
              <a:t>✗</a:t>
            </a:r>
            <a:endParaRPr lang="en-US" sz="1300" dirty="0"/>
          </a:p>
        </p:txBody>
      </p:sp>
      <p:sp>
        <p:nvSpPr>
          <p:cNvPr id="38" name="Text 36"/>
          <p:cNvSpPr/>
          <p:nvPr/>
        </p:nvSpPr>
        <p:spPr>
          <a:xfrm>
            <a:off x="5193792" y="2578608"/>
            <a:ext cx="3511296" cy="585216"/>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No trained model, no pipeline, no joblib file</a:t>
            </a:r>
            <a:endParaRPr lang="en-US" sz="1150" dirty="0"/>
          </a:p>
        </p:txBody>
      </p:sp>
      <p:sp>
        <p:nvSpPr>
          <p:cNvPr id="39" name="Shape 37"/>
          <p:cNvSpPr/>
          <p:nvPr/>
        </p:nvSpPr>
        <p:spPr>
          <a:xfrm>
            <a:off x="4773168" y="3282696"/>
            <a:ext cx="4041648" cy="585216"/>
          </a:xfrm>
          <a:prstGeom prst="rect">
            <a:avLst/>
          </a:prstGeom>
          <a:solidFill>
            <a:srgbClr val="FEE2E2"/>
          </a:solidFill>
          <a:ln w="12700">
            <a:solidFill>
              <a:srgbClr val="DC2626"/>
            </a:solidFill>
            <a:prstDash val="solid"/>
          </a:ln>
        </p:spPr>
        <p:txBody>
          <a:bodyPr/>
          <a:lstStyle/>
          <a:p>
            <a:endParaRPr lang="en-IN"/>
          </a:p>
        </p:txBody>
      </p:sp>
      <p:sp>
        <p:nvSpPr>
          <p:cNvPr id="40" name="Shape 38"/>
          <p:cNvSpPr/>
          <p:nvPr/>
        </p:nvSpPr>
        <p:spPr>
          <a:xfrm>
            <a:off x="4773168" y="3282696"/>
            <a:ext cx="73152" cy="585216"/>
          </a:xfrm>
          <a:prstGeom prst="rect">
            <a:avLst/>
          </a:prstGeom>
          <a:solidFill>
            <a:srgbClr val="DC2626"/>
          </a:solidFill>
          <a:ln w="12700">
            <a:solidFill>
              <a:srgbClr val="DC2626"/>
            </a:solidFill>
            <a:prstDash val="solid"/>
          </a:ln>
        </p:spPr>
        <p:txBody>
          <a:bodyPr/>
          <a:lstStyle/>
          <a:p>
            <a:endParaRPr lang="en-IN"/>
          </a:p>
        </p:txBody>
      </p:sp>
      <p:sp>
        <p:nvSpPr>
          <p:cNvPr id="41" name="Text 39"/>
          <p:cNvSpPr/>
          <p:nvPr/>
        </p:nvSpPr>
        <p:spPr>
          <a:xfrm>
            <a:off x="4892040" y="3282696"/>
            <a:ext cx="274320" cy="585216"/>
          </a:xfrm>
          <a:prstGeom prst="rect">
            <a:avLst/>
          </a:prstGeom>
          <a:noFill/>
          <a:ln/>
        </p:spPr>
        <p:txBody>
          <a:bodyPr wrap="square" rtlCol="0" anchor="ctr"/>
          <a:lstStyle/>
          <a:p>
            <a:pPr marL="0" indent="0">
              <a:buNone/>
            </a:pPr>
            <a:r>
              <a:rPr lang="en-US" sz="1300" b="1" dirty="0">
                <a:solidFill>
                  <a:srgbClr val="DC2626"/>
                </a:solidFill>
                <a:latin typeface="Calibri" pitchFamily="34" charset="0"/>
                <a:ea typeface="Calibri" pitchFamily="34" charset="-122"/>
                <a:cs typeface="Calibri" pitchFamily="34" charset="-120"/>
              </a:rPr>
              <a:t>✗</a:t>
            </a:r>
            <a:endParaRPr lang="en-US" sz="1300" dirty="0"/>
          </a:p>
        </p:txBody>
      </p:sp>
      <p:sp>
        <p:nvSpPr>
          <p:cNvPr id="42" name="Text 40"/>
          <p:cNvSpPr/>
          <p:nvPr/>
        </p:nvSpPr>
        <p:spPr>
          <a:xfrm>
            <a:off x="5193792" y="3282696"/>
            <a:ext cx="3511296" cy="585216"/>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Database didn't store clinical features</a:t>
            </a:r>
            <a:endParaRPr lang="en-US" sz="1150" dirty="0"/>
          </a:p>
        </p:txBody>
      </p:sp>
      <p:sp>
        <p:nvSpPr>
          <p:cNvPr id="43" name="Shape 41"/>
          <p:cNvSpPr/>
          <p:nvPr/>
        </p:nvSpPr>
        <p:spPr>
          <a:xfrm>
            <a:off x="4773168" y="3986784"/>
            <a:ext cx="4041648" cy="585216"/>
          </a:xfrm>
          <a:prstGeom prst="rect">
            <a:avLst/>
          </a:prstGeom>
          <a:solidFill>
            <a:srgbClr val="FEE2E2"/>
          </a:solidFill>
          <a:ln w="12700">
            <a:solidFill>
              <a:srgbClr val="DC2626"/>
            </a:solidFill>
            <a:prstDash val="solid"/>
          </a:ln>
        </p:spPr>
        <p:txBody>
          <a:bodyPr/>
          <a:lstStyle/>
          <a:p>
            <a:endParaRPr lang="en-IN"/>
          </a:p>
        </p:txBody>
      </p:sp>
      <p:sp>
        <p:nvSpPr>
          <p:cNvPr id="44" name="Shape 42"/>
          <p:cNvSpPr/>
          <p:nvPr/>
        </p:nvSpPr>
        <p:spPr>
          <a:xfrm>
            <a:off x="4773168" y="3986784"/>
            <a:ext cx="73152" cy="585216"/>
          </a:xfrm>
          <a:prstGeom prst="rect">
            <a:avLst/>
          </a:prstGeom>
          <a:solidFill>
            <a:srgbClr val="DC2626"/>
          </a:solidFill>
          <a:ln w="12700">
            <a:solidFill>
              <a:srgbClr val="DC2626"/>
            </a:solidFill>
            <a:prstDash val="solid"/>
          </a:ln>
        </p:spPr>
        <p:txBody>
          <a:bodyPr/>
          <a:lstStyle/>
          <a:p>
            <a:endParaRPr lang="en-IN"/>
          </a:p>
        </p:txBody>
      </p:sp>
      <p:sp>
        <p:nvSpPr>
          <p:cNvPr id="45" name="Text 43"/>
          <p:cNvSpPr/>
          <p:nvPr/>
        </p:nvSpPr>
        <p:spPr>
          <a:xfrm>
            <a:off x="4892040" y="3986784"/>
            <a:ext cx="274320" cy="585216"/>
          </a:xfrm>
          <a:prstGeom prst="rect">
            <a:avLst/>
          </a:prstGeom>
          <a:noFill/>
          <a:ln/>
        </p:spPr>
        <p:txBody>
          <a:bodyPr wrap="square" rtlCol="0" anchor="ctr"/>
          <a:lstStyle/>
          <a:p>
            <a:pPr marL="0" indent="0">
              <a:buNone/>
            </a:pPr>
            <a:r>
              <a:rPr lang="en-US" sz="1300" b="1" dirty="0">
                <a:solidFill>
                  <a:srgbClr val="DC2626"/>
                </a:solidFill>
                <a:latin typeface="Calibri" pitchFamily="34" charset="0"/>
                <a:ea typeface="Calibri" pitchFamily="34" charset="-122"/>
                <a:cs typeface="Calibri" pitchFamily="34" charset="-120"/>
              </a:rPr>
              <a:t>✗</a:t>
            </a:r>
            <a:endParaRPr lang="en-US" sz="1300" dirty="0"/>
          </a:p>
        </p:txBody>
      </p:sp>
      <p:sp>
        <p:nvSpPr>
          <p:cNvPr id="46" name="Text 44"/>
          <p:cNvSpPr/>
          <p:nvPr/>
        </p:nvSpPr>
        <p:spPr>
          <a:xfrm>
            <a:off x="5193792" y="3986784"/>
            <a:ext cx="3511296" cy="585216"/>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No real medical prediction capability</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9488"/>
          </a:solidFill>
          <a:ln w="12700">
            <a:solidFill>
              <a:srgbClr val="0D9488"/>
            </a:solidFill>
            <a:prstDash val="solid"/>
          </a:ln>
        </p:spPr>
        <p:txBody>
          <a:bodyPr/>
          <a:lstStyle/>
          <a:p>
            <a:endParaRPr lang="en-IN"/>
          </a:p>
        </p:txBody>
      </p:sp>
      <p:sp>
        <p:nvSpPr>
          <p:cNvPr id="3" name="Text 1"/>
          <p:cNvSpPr/>
          <p:nvPr/>
        </p:nvSpPr>
        <p:spPr>
          <a:xfrm>
            <a:off x="320040" y="0"/>
            <a:ext cx="850392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Dataset Selection — Why UCI Heart Disease?</a:t>
            </a:r>
            <a:endParaRPr lang="en-US" sz="2200" dirty="0"/>
          </a:p>
        </p:txBody>
      </p:sp>
      <p:sp>
        <p:nvSpPr>
          <p:cNvPr id="4" name="Shape 2"/>
          <p:cNvSpPr/>
          <p:nvPr/>
        </p:nvSpPr>
        <p:spPr>
          <a:xfrm>
            <a:off x="4713" y="5184648"/>
            <a:ext cx="9144000" cy="73152"/>
          </a:xfrm>
          <a:prstGeom prst="rect">
            <a:avLst/>
          </a:prstGeom>
          <a:solidFill>
            <a:srgbClr val="CCFBF1"/>
          </a:solidFill>
          <a:ln w="12700">
            <a:solidFill>
              <a:srgbClr val="CCFBF1"/>
            </a:solidFill>
            <a:prstDash val="solid"/>
          </a:ln>
        </p:spPr>
        <p:txBody>
          <a:bodyPr/>
          <a:lstStyle/>
          <a:p>
            <a:endParaRPr lang="en-IN"/>
          </a:p>
        </p:txBody>
      </p:sp>
      <p:sp>
        <p:nvSpPr>
          <p:cNvPr id="5" name="Shape 3"/>
          <p:cNvSpPr/>
          <p:nvPr/>
        </p:nvSpPr>
        <p:spPr>
          <a:xfrm>
            <a:off x="256032" y="777240"/>
            <a:ext cx="2816352" cy="4315968"/>
          </a:xfrm>
          <a:prstGeom prst="rect">
            <a:avLst/>
          </a:prstGeom>
          <a:solidFill>
            <a:srgbClr val="DCFCE7"/>
          </a:solidFill>
          <a:ln w="25400">
            <a:solidFill>
              <a:srgbClr val="16A34A"/>
            </a:solidFill>
            <a:prstDash val="solid"/>
          </a:ln>
        </p:spPr>
        <p:txBody>
          <a:bodyPr/>
          <a:lstStyle/>
          <a:p>
            <a:endParaRPr lang="en-IN"/>
          </a:p>
        </p:txBody>
      </p:sp>
      <p:sp>
        <p:nvSpPr>
          <p:cNvPr id="6" name="Shape 4"/>
          <p:cNvSpPr/>
          <p:nvPr/>
        </p:nvSpPr>
        <p:spPr>
          <a:xfrm>
            <a:off x="256032" y="777240"/>
            <a:ext cx="2816352" cy="713232"/>
          </a:xfrm>
          <a:prstGeom prst="rect">
            <a:avLst/>
          </a:prstGeom>
          <a:solidFill>
            <a:srgbClr val="16A34A"/>
          </a:solidFill>
          <a:ln w="12700">
            <a:solidFill>
              <a:srgbClr val="16A34A"/>
            </a:solidFill>
            <a:prstDash val="solid"/>
          </a:ln>
        </p:spPr>
        <p:txBody>
          <a:bodyPr/>
          <a:lstStyle/>
          <a:p>
            <a:endParaRPr lang="en-IN"/>
          </a:p>
        </p:txBody>
      </p:sp>
      <p:sp>
        <p:nvSpPr>
          <p:cNvPr id="7" name="Text 5"/>
          <p:cNvSpPr/>
          <p:nvPr/>
        </p:nvSpPr>
        <p:spPr>
          <a:xfrm>
            <a:off x="365760" y="795528"/>
            <a:ext cx="2596896" cy="40233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UCI Heart Disease</a:t>
            </a:r>
            <a:endParaRPr lang="en-US" sz="1300" dirty="0"/>
          </a:p>
        </p:txBody>
      </p:sp>
      <p:sp>
        <p:nvSpPr>
          <p:cNvPr id="8" name="Text 6"/>
          <p:cNvSpPr/>
          <p:nvPr/>
        </p:nvSpPr>
        <p:spPr>
          <a:xfrm>
            <a:off x="365760" y="1188720"/>
            <a:ext cx="2596896" cy="237744"/>
          </a:xfrm>
          <a:prstGeom prst="rect">
            <a:avLst/>
          </a:prstGeom>
          <a:noFill/>
          <a:ln/>
        </p:spPr>
        <p:txBody>
          <a:bodyPr wrap="square" lIns="0" tIns="0" rIns="0" bIns="0" rtlCol="0" anchor="ctr"/>
          <a:lstStyle/>
          <a:p>
            <a:pPr marL="0" indent="0">
              <a:buNone/>
            </a:pPr>
            <a:r>
              <a:rPr lang="en-US" sz="1000" dirty="0">
                <a:solidFill>
                  <a:srgbClr val="E0F2FE"/>
                </a:solidFill>
                <a:latin typeface="Calibri" pitchFamily="34" charset="0"/>
                <a:ea typeface="Calibri" pitchFamily="34" charset="-122"/>
                <a:cs typeface="Calibri" pitchFamily="34" charset="-120"/>
              </a:rPr>
              <a:t>Cleveland Clinic, 1988</a:t>
            </a:r>
            <a:endParaRPr lang="en-US" sz="1000" dirty="0"/>
          </a:p>
        </p:txBody>
      </p:sp>
      <p:sp>
        <p:nvSpPr>
          <p:cNvPr id="9" name="Text 7"/>
          <p:cNvSpPr/>
          <p:nvPr/>
        </p:nvSpPr>
        <p:spPr>
          <a:xfrm>
            <a:off x="365760" y="1572768"/>
            <a:ext cx="2596896" cy="274320"/>
          </a:xfrm>
          <a:prstGeom prst="rect">
            <a:avLst/>
          </a:prstGeom>
          <a:noFill/>
          <a:ln/>
        </p:spPr>
        <p:txBody>
          <a:bodyPr wrap="square" rtlCol="0" anchor="ctr"/>
          <a:lstStyle/>
          <a:p>
            <a:pPr marL="0" indent="0">
              <a:buNone/>
            </a:pPr>
            <a:r>
              <a:rPr lang="en-US" sz="950" i="1" dirty="0">
                <a:solidFill>
                  <a:srgbClr val="475569"/>
                </a:solidFill>
                <a:latin typeface="Calibri" pitchFamily="34" charset="0"/>
                <a:ea typeface="Calibri" pitchFamily="34" charset="-122"/>
                <a:cs typeface="Calibri" pitchFamily="34" charset="-120"/>
              </a:rPr>
              <a:t>303 rows  ·  13 features  ·  6 rows missing</a:t>
            </a:r>
            <a:endParaRPr lang="en-US" sz="950" dirty="0"/>
          </a:p>
        </p:txBody>
      </p:sp>
      <p:sp>
        <p:nvSpPr>
          <p:cNvPr id="10" name="Shape 8"/>
          <p:cNvSpPr/>
          <p:nvPr/>
        </p:nvSpPr>
        <p:spPr>
          <a:xfrm>
            <a:off x="402336" y="2039112"/>
            <a:ext cx="109728" cy="109728"/>
          </a:xfrm>
          <a:prstGeom prst="ellipse">
            <a:avLst/>
          </a:prstGeom>
          <a:solidFill>
            <a:srgbClr val="16A34A"/>
          </a:solidFill>
          <a:ln w="12700">
            <a:solidFill>
              <a:srgbClr val="16A34A"/>
            </a:solidFill>
            <a:prstDash val="solid"/>
          </a:ln>
        </p:spPr>
        <p:txBody>
          <a:bodyPr/>
          <a:lstStyle/>
          <a:p>
            <a:endParaRPr lang="en-IN"/>
          </a:p>
        </p:txBody>
      </p:sp>
      <p:sp>
        <p:nvSpPr>
          <p:cNvPr id="11" name="Text 9"/>
          <p:cNvSpPr/>
          <p:nvPr/>
        </p:nvSpPr>
        <p:spPr>
          <a:xfrm>
            <a:off x="585216" y="1956816"/>
            <a:ext cx="2377440" cy="347472"/>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Clean data — no imputation needed</a:t>
            </a:r>
            <a:endParaRPr lang="en-US" sz="1050" dirty="0"/>
          </a:p>
        </p:txBody>
      </p:sp>
      <p:sp>
        <p:nvSpPr>
          <p:cNvPr id="12" name="Shape 10"/>
          <p:cNvSpPr/>
          <p:nvPr/>
        </p:nvSpPr>
        <p:spPr>
          <a:xfrm>
            <a:off x="402336" y="2423160"/>
            <a:ext cx="109728" cy="109728"/>
          </a:xfrm>
          <a:prstGeom prst="ellipse">
            <a:avLst/>
          </a:prstGeom>
          <a:solidFill>
            <a:srgbClr val="16A34A"/>
          </a:solidFill>
          <a:ln w="12700">
            <a:solidFill>
              <a:srgbClr val="16A34A"/>
            </a:solidFill>
            <a:prstDash val="solid"/>
          </a:ln>
        </p:spPr>
        <p:txBody>
          <a:bodyPr/>
          <a:lstStyle/>
          <a:p>
            <a:endParaRPr lang="en-IN"/>
          </a:p>
        </p:txBody>
      </p:sp>
      <p:sp>
        <p:nvSpPr>
          <p:cNvPr id="13" name="Text 11"/>
          <p:cNvSpPr/>
          <p:nvPr/>
        </p:nvSpPr>
        <p:spPr>
          <a:xfrm>
            <a:off x="585216" y="2340864"/>
            <a:ext cx="2377440" cy="347472"/>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All 11 features map to form inputs</a:t>
            </a:r>
            <a:endParaRPr lang="en-US" sz="1050" dirty="0"/>
          </a:p>
        </p:txBody>
      </p:sp>
      <p:sp>
        <p:nvSpPr>
          <p:cNvPr id="14" name="Shape 12"/>
          <p:cNvSpPr/>
          <p:nvPr/>
        </p:nvSpPr>
        <p:spPr>
          <a:xfrm>
            <a:off x="402336" y="2807208"/>
            <a:ext cx="109728" cy="109728"/>
          </a:xfrm>
          <a:prstGeom prst="ellipse">
            <a:avLst/>
          </a:prstGeom>
          <a:solidFill>
            <a:srgbClr val="16A34A"/>
          </a:solidFill>
          <a:ln w="12700">
            <a:solidFill>
              <a:srgbClr val="16A34A"/>
            </a:solidFill>
            <a:prstDash val="solid"/>
          </a:ln>
        </p:spPr>
        <p:txBody>
          <a:bodyPr/>
          <a:lstStyle/>
          <a:p>
            <a:endParaRPr lang="en-IN"/>
          </a:p>
        </p:txBody>
      </p:sp>
      <p:sp>
        <p:nvSpPr>
          <p:cNvPr id="15" name="Text 13"/>
          <p:cNvSpPr/>
          <p:nvPr/>
        </p:nvSpPr>
        <p:spPr>
          <a:xfrm>
            <a:off x="585216" y="2724912"/>
            <a:ext cx="2377440" cy="347472"/>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Binary target — easy to model</a:t>
            </a:r>
            <a:endParaRPr lang="en-US" sz="1050" dirty="0"/>
          </a:p>
        </p:txBody>
      </p:sp>
      <p:sp>
        <p:nvSpPr>
          <p:cNvPr id="16" name="Shape 14"/>
          <p:cNvSpPr/>
          <p:nvPr/>
        </p:nvSpPr>
        <p:spPr>
          <a:xfrm>
            <a:off x="402336" y="3191256"/>
            <a:ext cx="109728" cy="109728"/>
          </a:xfrm>
          <a:prstGeom prst="ellipse">
            <a:avLst/>
          </a:prstGeom>
          <a:solidFill>
            <a:srgbClr val="16A34A"/>
          </a:solidFill>
          <a:ln w="12700">
            <a:solidFill>
              <a:srgbClr val="16A34A"/>
            </a:solidFill>
            <a:prstDash val="solid"/>
          </a:ln>
        </p:spPr>
        <p:txBody>
          <a:bodyPr/>
          <a:lstStyle/>
          <a:p>
            <a:endParaRPr lang="en-IN"/>
          </a:p>
        </p:txBody>
      </p:sp>
      <p:sp>
        <p:nvSpPr>
          <p:cNvPr id="17" name="Text 15"/>
          <p:cNvSpPr/>
          <p:nvPr/>
        </p:nvSpPr>
        <p:spPr>
          <a:xfrm>
            <a:off x="585216" y="3108960"/>
            <a:ext cx="2377440" cy="347472"/>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Professor-recognized benchmark</a:t>
            </a:r>
            <a:endParaRPr lang="en-US" sz="1050" dirty="0"/>
          </a:p>
        </p:txBody>
      </p:sp>
      <p:sp>
        <p:nvSpPr>
          <p:cNvPr id="18" name="Shape 16"/>
          <p:cNvSpPr/>
          <p:nvPr/>
        </p:nvSpPr>
        <p:spPr>
          <a:xfrm>
            <a:off x="402336" y="3575304"/>
            <a:ext cx="109728" cy="109728"/>
          </a:xfrm>
          <a:prstGeom prst="ellipse">
            <a:avLst/>
          </a:prstGeom>
          <a:solidFill>
            <a:srgbClr val="16A34A"/>
          </a:solidFill>
          <a:ln w="12700">
            <a:solidFill>
              <a:srgbClr val="16A34A"/>
            </a:solidFill>
            <a:prstDash val="solid"/>
          </a:ln>
        </p:spPr>
        <p:txBody>
          <a:bodyPr/>
          <a:lstStyle/>
          <a:p>
            <a:endParaRPr lang="en-IN"/>
          </a:p>
        </p:txBody>
      </p:sp>
      <p:sp>
        <p:nvSpPr>
          <p:cNvPr id="19" name="Text 17"/>
          <p:cNvSpPr/>
          <p:nvPr/>
        </p:nvSpPr>
        <p:spPr>
          <a:xfrm>
            <a:off x="585216" y="3493008"/>
            <a:ext cx="2377440" cy="347472"/>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Trains in under 5 seconds</a:t>
            </a:r>
            <a:endParaRPr lang="en-US" sz="1050" dirty="0"/>
          </a:p>
        </p:txBody>
      </p:sp>
      <p:sp>
        <p:nvSpPr>
          <p:cNvPr id="20" name="Shape 18"/>
          <p:cNvSpPr/>
          <p:nvPr/>
        </p:nvSpPr>
        <p:spPr>
          <a:xfrm>
            <a:off x="365760" y="4709160"/>
            <a:ext cx="2596896" cy="292608"/>
          </a:xfrm>
          <a:prstGeom prst="rect">
            <a:avLst/>
          </a:prstGeom>
          <a:solidFill>
            <a:srgbClr val="FFFFFF"/>
          </a:solidFill>
          <a:ln w="19050">
            <a:solidFill>
              <a:srgbClr val="16A34A"/>
            </a:solidFill>
            <a:prstDash val="solid"/>
          </a:ln>
        </p:spPr>
        <p:txBody>
          <a:bodyPr/>
          <a:lstStyle/>
          <a:p>
            <a:endParaRPr lang="en-IN"/>
          </a:p>
        </p:txBody>
      </p:sp>
      <p:sp>
        <p:nvSpPr>
          <p:cNvPr id="21" name="Text 19"/>
          <p:cNvSpPr/>
          <p:nvPr/>
        </p:nvSpPr>
        <p:spPr>
          <a:xfrm>
            <a:off x="365760" y="4709160"/>
            <a:ext cx="2596896" cy="292608"/>
          </a:xfrm>
          <a:prstGeom prst="rect">
            <a:avLst/>
          </a:prstGeom>
          <a:noFill/>
          <a:ln/>
        </p:spPr>
        <p:txBody>
          <a:bodyPr wrap="square" rtlCol="0" anchor="ctr"/>
          <a:lstStyle/>
          <a:p>
            <a:pPr marL="0" indent="0" algn="ctr">
              <a:buNone/>
            </a:pPr>
            <a:r>
              <a:rPr lang="en-US" sz="1100" b="1" dirty="0">
                <a:solidFill>
                  <a:srgbClr val="16A34A"/>
                </a:solidFill>
                <a:latin typeface="Calibri" pitchFamily="34" charset="0"/>
                <a:ea typeface="Calibri" pitchFamily="34" charset="-122"/>
                <a:cs typeface="Calibri" pitchFamily="34" charset="-120"/>
              </a:rPr>
              <a:t>✓  Selected for Sprint 2</a:t>
            </a:r>
            <a:endParaRPr lang="en-US" sz="1100" dirty="0"/>
          </a:p>
        </p:txBody>
      </p:sp>
      <p:sp>
        <p:nvSpPr>
          <p:cNvPr id="22" name="Shape 20"/>
          <p:cNvSpPr/>
          <p:nvPr/>
        </p:nvSpPr>
        <p:spPr>
          <a:xfrm>
            <a:off x="3246120" y="777240"/>
            <a:ext cx="2816352" cy="4315968"/>
          </a:xfrm>
          <a:prstGeom prst="rect">
            <a:avLst/>
          </a:prstGeom>
          <a:solidFill>
            <a:srgbClr val="FEF3C7"/>
          </a:solidFill>
          <a:ln w="19050">
            <a:solidFill>
              <a:srgbClr val="D97706"/>
            </a:solidFill>
            <a:prstDash val="solid"/>
          </a:ln>
        </p:spPr>
        <p:txBody>
          <a:bodyPr/>
          <a:lstStyle/>
          <a:p>
            <a:endParaRPr lang="en-IN"/>
          </a:p>
        </p:txBody>
      </p:sp>
      <p:sp>
        <p:nvSpPr>
          <p:cNvPr id="23" name="Shape 21"/>
          <p:cNvSpPr/>
          <p:nvPr/>
        </p:nvSpPr>
        <p:spPr>
          <a:xfrm>
            <a:off x="3246120" y="777240"/>
            <a:ext cx="2816352" cy="713232"/>
          </a:xfrm>
          <a:prstGeom prst="rect">
            <a:avLst/>
          </a:prstGeom>
          <a:solidFill>
            <a:srgbClr val="D97706"/>
          </a:solidFill>
          <a:ln w="12700">
            <a:solidFill>
              <a:srgbClr val="D97706"/>
            </a:solidFill>
            <a:prstDash val="solid"/>
          </a:ln>
        </p:spPr>
        <p:txBody>
          <a:bodyPr/>
          <a:lstStyle/>
          <a:p>
            <a:endParaRPr lang="en-IN"/>
          </a:p>
        </p:txBody>
      </p:sp>
      <p:sp>
        <p:nvSpPr>
          <p:cNvPr id="24" name="Text 22"/>
          <p:cNvSpPr/>
          <p:nvPr/>
        </p:nvSpPr>
        <p:spPr>
          <a:xfrm>
            <a:off x="3355848" y="795528"/>
            <a:ext cx="2596896" cy="40233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Framingham Heart Study</a:t>
            </a:r>
            <a:endParaRPr lang="en-US" sz="1300" dirty="0"/>
          </a:p>
        </p:txBody>
      </p:sp>
      <p:sp>
        <p:nvSpPr>
          <p:cNvPr id="25" name="Text 23"/>
          <p:cNvSpPr/>
          <p:nvPr/>
        </p:nvSpPr>
        <p:spPr>
          <a:xfrm>
            <a:off x="3355848" y="1188720"/>
            <a:ext cx="2596896" cy="237744"/>
          </a:xfrm>
          <a:prstGeom prst="rect">
            <a:avLst/>
          </a:prstGeom>
          <a:noFill/>
          <a:ln/>
        </p:spPr>
        <p:txBody>
          <a:bodyPr wrap="square" lIns="0" tIns="0" rIns="0" bIns="0" rtlCol="0" anchor="ctr"/>
          <a:lstStyle/>
          <a:p>
            <a:pPr marL="0" indent="0">
              <a:buNone/>
            </a:pPr>
            <a:r>
              <a:rPr lang="en-US" sz="1000" dirty="0">
                <a:solidFill>
                  <a:srgbClr val="E0F2FE"/>
                </a:solidFill>
                <a:latin typeface="Calibri" pitchFamily="34" charset="0"/>
                <a:ea typeface="Calibri" pitchFamily="34" charset="-122"/>
                <a:cs typeface="Calibri" pitchFamily="34" charset="-120"/>
              </a:rPr>
              <a:t>NHLBI, Multi-decade</a:t>
            </a:r>
            <a:endParaRPr lang="en-US" sz="1000" dirty="0"/>
          </a:p>
        </p:txBody>
      </p:sp>
      <p:sp>
        <p:nvSpPr>
          <p:cNvPr id="26" name="Text 24"/>
          <p:cNvSpPr/>
          <p:nvPr/>
        </p:nvSpPr>
        <p:spPr>
          <a:xfrm>
            <a:off x="3355848" y="1572768"/>
            <a:ext cx="2596896" cy="274320"/>
          </a:xfrm>
          <a:prstGeom prst="rect">
            <a:avLst/>
          </a:prstGeom>
          <a:noFill/>
          <a:ln/>
        </p:spPr>
        <p:txBody>
          <a:bodyPr wrap="square" rtlCol="0" anchor="ctr"/>
          <a:lstStyle/>
          <a:p>
            <a:pPr marL="0" indent="0">
              <a:buNone/>
            </a:pPr>
            <a:r>
              <a:rPr lang="en-US" sz="950" i="1" dirty="0">
                <a:solidFill>
                  <a:srgbClr val="475569"/>
                </a:solidFill>
                <a:latin typeface="Calibri" pitchFamily="34" charset="0"/>
                <a:ea typeface="Calibri" pitchFamily="34" charset="-122"/>
                <a:cs typeface="Calibri" pitchFamily="34" charset="-120"/>
              </a:rPr>
              <a:t>4,240 rows  ·  15 features  ·  ~600 missing</a:t>
            </a:r>
            <a:endParaRPr lang="en-US" sz="950" dirty="0"/>
          </a:p>
        </p:txBody>
      </p:sp>
      <p:sp>
        <p:nvSpPr>
          <p:cNvPr id="27" name="Shape 25"/>
          <p:cNvSpPr/>
          <p:nvPr/>
        </p:nvSpPr>
        <p:spPr>
          <a:xfrm>
            <a:off x="3392424" y="2039112"/>
            <a:ext cx="109728" cy="109728"/>
          </a:xfrm>
          <a:prstGeom prst="ellipse">
            <a:avLst/>
          </a:prstGeom>
          <a:solidFill>
            <a:srgbClr val="D97706"/>
          </a:solidFill>
          <a:ln w="12700">
            <a:solidFill>
              <a:srgbClr val="D97706"/>
            </a:solidFill>
            <a:prstDash val="solid"/>
          </a:ln>
        </p:spPr>
        <p:txBody>
          <a:bodyPr/>
          <a:lstStyle/>
          <a:p>
            <a:endParaRPr lang="en-IN"/>
          </a:p>
        </p:txBody>
      </p:sp>
      <p:sp>
        <p:nvSpPr>
          <p:cNvPr id="28" name="Text 26"/>
          <p:cNvSpPr/>
          <p:nvPr/>
        </p:nvSpPr>
        <p:spPr>
          <a:xfrm>
            <a:off x="3575304" y="1956816"/>
            <a:ext cx="2377440" cy="347472"/>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Larger — better generalization</a:t>
            </a:r>
            <a:endParaRPr lang="en-US" sz="1050" dirty="0"/>
          </a:p>
        </p:txBody>
      </p:sp>
      <p:sp>
        <p:nvSpPr>
          <p:cNvPr id="29" name="Shape 27"/>
          <p:cNvSpPr/>
          <p:nvPr/>
        </p:nvSpPr>
        <p:spPr>
          <a:xfrm>
            <a:off x="3392424" y="2423160"/>
            <a:ext cx="109728" cy="109728"/>
          </a:xfrm>
          <a:prstGeom prst="ellipse">
            <a:avLst/>
          </a:prstGeom>
          <a:solidFill>
            <a:srgbClr val="D97706"/>
          </a:solidFill>
          <a:ln w="12700">
            <a:solidFill>
              <a:srgbClr val="D97706"/>
            </a:solidFill>
            <a:prstDash val="solid"/>
          </a:ln>
        </p:spPr>
        <p:txBody>
          <a:bodyPr/>
          <a:lstStyle/>
          <a:p>
            <a:endParaRPr lang="en-IN"/>
          </a:p>
        </p:txBody>
      </p:sp>
      <p:sp>
        <p:nvSpPr>
          <p:cNvPr id="30" name="Text 28"/>
          <p:cNvSpPr/>
          <p:nvPr/>
        </p:nvSpPr>
        <p:spPr>
          <a:xfrm>
            <a:off x="3575304" y="2340864"/>
            <a:ext cx="2377440" cy="347472"/>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~600 missing rows need imputation</a:t>
            </a:r>
            <a:endParaRPr lang="en-US" sz="1050" dirty="0"/>
          </a:p>
        </p:txBody>
      </p:sp>
      <p:sp>
        <p:nvSpPr>
          <p:cNvPr id="31" name="Shape 29"/>
          <p:cNvSpPr/>
          <p:nvPr/>
        </p:nvSpPr>
        <p:spPr>
          <a:xfrm>
            <a:off x="3392424" y="2807208"/>
            <a:ext cx="109728" cy="109728"/>
          </a:xfrm>
          <a:prstGeom prst="ellipse">
            <a:avLst/>
          </a:prstGeom>
          <a:solidFill>
            <a:srgbClr val="D97706"/>
          </a:solidFill>
          <a:ln w="12700">
            <a:solidFill>
              <a:srgbClr val="D97706"/>
            </a:solidFill>
            <a:prstDash val="solid"/>
          </a:ln>
        </p:spPr>
        <p:txBody>
          <a:bodyPr/>
          <a:lstStyle/>
          <a:p>
            <a:endParaRPr lang="en-IN"/>
          </a:p>
        </p:txBody>
      </p:sp>
      <p:sp>
        <p:nvSpPr>
          <p:cNvPr id="32" name="Text 30"/>
          <p:cNvSpPr/>
          <p:nvPr/>
        </p:nvSpPr>
        <p:spPr>
          <a:xfrm>
            <a:off x="3575304" y="2724912"/>
            <a:ext cx="2377440" cy="347472"/>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10-year risk target is complex</a:t>
            </a:r>
            <a:endParaRPr lang="en-US" sz="1050" dirty="0"/>
          </a:p>
        </p:txBody>
      </p:sp>
      <p:sp>
        <p:nvSpPr>
          <p:cNvPr id="33" name="Shape 31"/>
          <p:cNvSpPr/>
          <p:nvPr/>
        </p:nvSpPr>
        <p:spPr>
          <a:xfrm>
            <a:off x="3392424" y="3191256"/>
            <a:ext cx="109728" cy="109728"/>
          </a:xfrm>
          <a:prstGeom prst="ellipse">
            <a:avLst/>
          </a:prstGeom>
          <a:solidFill>
            <a:srgbClr val="D97706"/>
          </a:solidFill>
          <a:ln w="12700">
            <a:solidFill>
              <a:srgbClr val="D97706"/>
            </a:solidFill>
            <a:prstDash val="solid"/>
          </a:ln>
        </p:spPr>
        <p:txBody>
          <a:bodyPr/>
          <a:lstStyle/>
          <a:p>
            <a:endParaRPr lang="en-IN"/>
          </a:p>
        </p:txBody>
      </p:sp>
      <p:sp>
        <p:nvSpPr>
          <p:cNvPr id="34" name="Text 32"/>
          <p:cNvSpPr/>
          <p:nvPr/>
        </p:nvSpPr>
        <p:spPr>
          <a:xfrm>
            <a:off x="3575304" y="3108960"/>
            <a:ext cx="2377440" cy="347472"/>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Feature names differ from our form</a:t>
            </a:r>
            <a:endParaRPr lang="en-US" sz="1050" dirty="0"/>
          </a:p>
        </p:txBody>
      </p:sp>
      <p:sp>
        <p:nvSpPr>
          <p:cNvPr id="35" name="Shape 33"/>
          <p:cNvSpPr/>
          <p:nvPr/>
        </p:nvSpPr>
        <p:spPr>
          <a:xfrm>
            <a:off x="3392424" y="3575304"/>
            <a:ext cx="109728" cy="109728"/>
          </a:xfrm>
          <a:prstGeom prst="ellipse">
            <a:avLst/>
          </a:prstGeom>
          <a:solidFill>
            <a:srgbClr val="D97706"/>
          </a:solidFill>
          <a:ln w="12700">
            <a:solidFill>
              <a:srgbClr val="D97706"/>
            </a:solidFill>
            <a:prstDash val="solid"/>
          </a:ln>
        </p:spPr>
        <p:txBody>
          <a:bodyPr/>
          <a:lstStyle/>
          <a:p>
            <a:endParaRPr lang="en-IN"/>
          </a:p>
        </p:txBody>
      </p:sp>
      <p:sp>
        <p:nvSpPr>
          <p:cNvPr id="36" name="Text 34"/>
          <p:cNvSpPr/>
          <p:nvPr/>
        </p:nvSpPr>
        <p:spPr>
          <a:xfrm>
            <a:off x="3575304" y="3493008"/>
            <a:ext cx="2377440" cy="347472"/>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Good upgrade path later</a:t>
            </a:r>
            <a:endParaRPr lang="en-US" sz="1050" dirty="0"/>
          </a:p>
        </p:txBody>
      </p:sp>
      <p:sp>
        <p:nvSpPr>
          <p:cNvPr id="37" name="Shape 35"/>
          <p:cNvSpPr/>
          <p:nvPr/>
        </p:nvSpPr>
        <p:spPr>
          <a:xfrm>
            <a:off x="3355848" y="4709160"/>
            <a:ext cx="2596896" cy="292608"/>
          </a:xfrm>
          <a:prstGeom prst="rect">
            <a:avLst/>
          </a:prstGeom>
          <a:solidFill>
            <a:srgbClr val="FFFFFF"/>
          </a:solidFill>
          <a:ln w="19050">
            <a:solidFill>
              <a:srgbClr val="D97706"/>
            </a:solidFill>
            <a:prstDash val="solid"/>
          </a:ln>
        </p:spPr>
        <p:txBody>
          <a:bodyPr/>
          <a:lstStyle/>
          <a:p>
            <a:endParaRPr lang="en-IN"/>
          </a:p>
        </p:txBody>
      </p:sp>
      <p:sp>
        <p:nvSpPr>
          <p:cNvPr id="38" name="Text 36"/>
          <p:cNvSpPr/>
          <p:nvPr/>
        </p:nvSpPr>
        <p:spPr>
          <a:xfrm>
            <a:off x="3355848" y="4709160"/>
            <a:ext cx="2596896" cy="292608"/>
          </a:xfrm>
          <a:prstGeom prst="rect">
            <a:avLst/>
          </a:prstGeom>
          <a:noFill/>
          <a:ln/>
        </p:spPr>
        <p:txBody>
          <a:bodyPr wrap="square" rtlCol="0" anchor="ctr"/>
          <a:lstStyle/>
          <a:p>
            <a:pPr marL="0" indent="0" algn="ctr">
              <a:buNone/>
            </a:pPr>
            <a:r>
              <a:rPr lang="en-US" sz="1100" b="1" dirty="0">
                <a:solidFill>
                  <a:srgbClr val="D97706"/>
                </a:solidFill>
                <a:latin typeface="Calibri" pitchFamily="34" charset="0"/>
                <a:ea typeface="Calibri" pitchFamily="34" charset="-122"/>
                <a:cs typeface="Calibri" pitchFamily="34" charset="-120"/>
              </a:rPr>
              <a:t>→  Consider for Future upgrade</a:t>
            </a:r>
            <a:endParaRPr lang="en-US" sz="1100" dirty="0"/>
          </a:p>
        </p:txBody>
      </p:sp>
      <p:sp>
        <p:nvSpPr>
          <p:cNvPr id="39" name="Shape 37"/>
          <p:cNvSpPr/>
          <p:nvPr/>
        </p:nvSpPr>
        <p:spPr>
          <a:xfrm>
            <a:off x="6236208" y="777240"/>
            <a:ext cx="2816352" cy="4315968"/>
          </a:xfrm>
          <a:prstGeom prst="rect">
            <a:avLst/>
          </a:prstGeom>
          <a:solidFill>
            <a:srgbClr val="FEE2E2"/>
          </a:solidFill>
          <a:ln w="19050">
            <a:solidFill>
              <a:srgbClr val="DC2626"/>
            </a:solidFill>
            <a:prstDash val="solid"/>
          </a:ln>
        </p:spPr>
        <p:txBody>
          <a:bodyPr/>
          <a:lstStyle/>
          <a:p>
            <a:endParaRPr lang="en-IN"/>
          </a:p>
        </p:txBody>
      </p:sp>
      <p:sp>
        <p:nvSpPr>
          <p:cNvPr id="40" name="Shape 38"/>
          <p:cNvSpPr/>
          <p:nvPr/>
        </p:nvSpPr>
        <p:spPr>
          <a:xfrm>
            <a:off x="6236208" y="777240"/>
            <a:ext cx="2816352" cy="713232"/>
          </a:xfrm>
          <a:prstGeom prst="rect">
            <a:avLst/>
          </a:prstGeom>
          <a:solidFill>
            <a:srgbClr val="DC2626"/>
          </a:solidFill>
          <a:ln w="12700">
            <a:solidFill>
              <a:srgbClr val="DC2626"/>
            </a:solidFill>
            <a:prstDash val="solid"/>
          </a:ln>
        </p:spPr>
        <p:txBody>
          <a:bodyPr/>
          <a:lstStyle/>
          <a:p>
            <a:endParaRPr lang="en-IN"/>
          </a:p>
        </p:txBody>
      </p:sp>
      <p:sp>
        <p:nvSpPr>
          <p:cNvPr id="41" name="Text 39"/>
          <p:cNvSpPr/>
          <p:nvPr/>
        </p:nvSpPr>
        <p:spPr>
          <a:xfrm>
            <a:off x="6345936" y="795528"/>
            <a:ext cx="2596896" cy="40233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MIMIC-III / IV</a:t>
            </a:r>
            <a:endParaRPr lang="en-US" sz="1300" dirty="0"/>
          </a:p>
        </p:txBody>
      </p:sp>
      <p:sp>
        <p:nvSpPr>
          <p:cNvPr id="42" name="Text 40"/>
          <p:cNvSpPr/>
          <p:nvPr/>
        </p:nvSpPr>
        <p:spPr>
          <a:xfrm>
            <a:off x="6345936" y="1188720"/>
            <a:ext cx="2596896" cy="237744"/>
          </a:xfrm>
          <a:prstGeom prst="rect">
            <a:avLst/>
          </a:prstGeom>
          <a:noFill/>
          <a:ln/>
        </p:spPr>
        <p:txBody>
          <a:bodyPr wrap="square" lIns="0" tIns="0" rIns="0" bIns="0" rtlCol="0" anchor="ctr"/>
          <a:lstStyle/>
          <a:p>
            <a:pPr marL="0" indent="0">
              <a:buNone/>
            </a:pPr>
            <a:r>
              <a:rPr lang="en-US" sz="1000" dirty="0">
                <a:solidFill>
                  <a:srgbClr val="E0F2FE"/>
                </a:solidFill>
                <a:latin typeface="Calibri" pitchFamily="34" charset="0"/>
                <a:ea typeface="Calibri" pitchFamily="34" charset="-122"/>
                <a:cs typeface="Calibri" pitchFamily="34" charset="-120"/>
              </a:rPr>
              <a:t>MIT — ICU Records</a:t>
            </a:r>
            <a:endParaRPr lang="en-US" sz="1000" dirty="0"/>
          </a:p>
        </p:txBody>
      </p:sp>
      <p:sp>
        <p:nvSpPr>
          <p:cNvPr id="43" name="Text 41"/>
          <p:cNvSpPr/>
          <p:nvPr/>
        </p:nvSpPr>
        <p:spPr>
          <a:xfrm>
            <a:off x="6345936" y="1572768"/>
            <a:ext cx="2596896" cy="274320"/>
          </a:xfrm>
          <a:prstGeom prst="rect">
            <a:avLst/>
          </a:prstGeom>
          <a:noFill/>
          <a:ln/>
        </p:spPr>
        <p:txBody>
          <a:bodyPr wrap="square" rtlCol="0" anchor="ctr"/>
          <a:lstStyle/>
          <a:p>
            <a:pPr marL="0" indent="0">
              <a:buNone/>
            </a:pPr>
            <a:r>
              <a:rPr lang="en-US" sz="950" i="1" dirty="0">
                <a:solidFill>
                  <a:srgbClr val="475569"/>
                </a:solidFill>
                <a:latin typeface="Calibri" pitchFamily="34" charset="0"/>
                <a:ea typeface="Calibri" pitchFamily="34" charset="-122"/>
                <a:cs typeface="Calibri" pitchFamily="34" charset="-120"/>
              </a:rPr>
              <a:t>40,000+ rows  ·  100s features  ·  Extensive missing</a:t>
            </a:r>
            <a:endParaRPr lang="en-US" sz="950" dirty="0"/>
          </a:p>
        </p:txBody>
      </p:sp>
      <p:sp>
        <p:nvSpPr>
          <p:cNvPr id="44" name="Shape 42"/>
          <p:cNvSpPr/>
          <p:nvPr/>
        </p:nvSpPr>
        <p:spPr>
          <a:xfrm>
            <a:off x="6382512" y="2039112"/>
            <a:ext cx="109728" cy="109728"/>
          </a:xfrm>
          <a:prstGeom prst="ellipse">
            <a:avLst/>
          </a:prstGeom>
          <a:solidFill>
            <a:srgbClr val="DC2626"/>
          </a:solidFill>
          <a:ln w="12700">
            <a:solidFill>
              <a:srgbClr val="DC2626"/>
            </a:solidFill>
            <a:prstDash val="solid"/>
          </a:ln>
        </p:spPr>
        <p:txBody>
          <a:bodyPr/>
          <a:lstStyle/>
          <a:p>
            <a:endParaRPr lang="en-IN"/>
          </a:p>
        </p:txBody>
      </p:sp>
      <p:sp>
        <p:nvSpPr>
          <p:cNvPr id="45" name="Text 43"/>
          <p:cNvSpPr/>
          <p:nvPr/>
        </p:nvSpPr>
        <p:spPr>
          <a:xfrm>
            <a:off x="6565392" y="1956816"/>
            <a:ext cx="2377440" cy="347472"/>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ICU data — not screening data</a:t>
            </a:r>
            <a:endParaRPr lang="en-US" sz="1050" dirty="0"/>
          </a:p>
        </p:txBody>
      </p:sp>
      <p:sp>
        <p:nvSpPr>
          <p:cNvPr id="46" name="Shape 44"/>
          <p:cNvSpPr/>
          <p:nvPr/>
        </p:nvSpPr>
        <p:spPr>
          <a:xfrm>
            <a:off x="6382512" y="2423160"/>
            <a:ext cx="109728" cy="109728"/>
          </a:xfrm>
          <a:prstGeom prst="ellipse">
            <a:avLst/>
          </a:prstGeom>
          <a:solidFill>
            <a:srgbClr val="DC2626"/>
          </a:solidFill>
          <a:ln w="12700">
            <a:solidFill>
              <a:srgbClr val="DC2626"/>
            </a:solidFill>
            <a:prstDash val="solid"/>
          </a:ln>
        </p:spPr>
        <p:txBody>
          <a:bodyPr/>
          <a:lstStyle/>
          <a:p>
            <a:endParaRPr lang="en-IN"/>
          </a:p>
        </p:txBody>
      </p:sp>
      <p:sp>
        <p:nvSpPr>
          <p:cNvPr id="47" name="Text 45"/>
          <p:cNvSpPr/>
          <p:nvPr/>
        </p:nvSpPr>
        <p:spPr>
          <a:xfrm>
            <a:off x="6565392" y="2340864"/>
            <a:ext cx="2377440" cy="347472"/>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Requires hospital credentials</a:t>
            </a:r>
            <a:endParaRPr lang="en-US" sz="1050" dirty="0"/>
          </a:p>
        </p:txBody>
      </p:sp>
      <p:sp>
        <p:nvSpPr>
          <p:cNvPr id="48" name="Shape 46"/>
          <p:cNvSpPr/>
          <p:nvPr/>
        </p:nvSpPr>
        <p:spPr>
          <a:xfrm>
            <a:off x="6382512" y="2807208"/>
            <a:ext cx="109728" cy="109728"/>
          </a:xfrm>
          <a:prstGeom prst="ellipse">
            <a:avLst/>
          </a:prstGeom>
          <a:solidFill>
            <a:srgbClr val="DC2626"/>
          </a:solidFill>
          <a:ln w="12700">
            <a:solidFill>
              <a:srgbClr val="DC2626"/>
            </a:solidFill>
            <a:prstDash val="solid"/>
          </a:ln>
        </p:spPr>
        <p:txBody>
          <a:bodyPr/>
          <a:lstStyle/>
          <a:p>
            <a:endParaRPr lang="en-IN"/>
          </a:p>
        </p:txBody>
      </p:sp>
      <p:sp>
        <p:nvSpPr>
          <p:cNvPr id="49" name="Text 47"/>
          <p:cNvSpPr/>
          <p:nvPr/>
        </p:nvSpPr>
        <p:spPr>
          <a:xfrm>
            <a:off x="6565392" y="2724912"/>
            <a:ext cx="2377440" cy="347472"/>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Weeks of preprocessing required</a:t>
            </a:r>
            <a:endParaRPr lang="en-US" sz="1050" dirty="0"/>
          </a:p>
        </p:txBody>
      </p:sp>
      <p:sp>
        <p:nvSpPr>
          <p:cNvPr id="50" name="Shape 48"/>
          <p:cNvSpPr/>
          <p:nvPr/>
        </p:nvSpPr>
        <p:spPr>
          <a:xfrm>
            <a:off x="6382512" y="3191256"/>
            <a:ext cx="109728" cy="109728"/>
          </a:xfrm>
          <a:prstGeom prst="ellipse">
            <a:avLst/>
          </a:prstGeom>
          <a:solidFill>
            <a:srgbClr val="DC2626"/>
          </a:solidFill>
          <a:ln w="12700">
            <a:solidFill>
              <a:srgbClr val="DC2626"/>
            </a:solidFill>
            <a:prstDash val="solid"/>
          </a:ln>
        </p:spPr>
        <p:txBody>
          <a:bodyPr/>
          <a:lstStyle/>
          <a:p>
            <a:endParaRPr lang="en-IN"/>
          </a:p>
        </p:txBody>
      </p:sp>
      <p:sp>
        <p:nvSpPr>
          <p:cNvPr id="51" name="Text 49"/>
          <p:cNvSpPr/>
          <p:nvPr/>
        </p:nvSpPr>
        <p:spPr>
          <a:xfrm>
            <a:off x="6565392" y="3108960"/>
            <a:ext cx="2377440" cy="347472"/>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Feature engineering alone is a project</a:t>
            </a:r>
            <a:endParaRPr lang="en-US" sz="1050" dirty="0"/>
          </a:p>
        </p:txBody>
      </p:sp>
      <p:sp>
        <p:nvSpPr>
          <p:cNvPr id="52" name="Shape 50"/>
          <p:cNvSpPr/>
          <p:nvPr/>
        </p:nvSpPr>
        <p:spPr>
          <a:xfrm>
            <a:off x="6382512" y="3575304"/>
            <a:ext cx="109728" cy="109728"/>
          </a:xfrm>
          <a:prstGeom prst="ellipse">
            <a:avLst/>
          </a:prstGeom>
          <a:solidFill>
            <a:srgbClr val="DC2626"/>
          </a:solidFill>
          <a:ln w="12700">
            <a:solidFill>
              <a:srgbClr val="DC2626"/>
            </a:solidFill>
            <a:prstDash val="solid"/>
          </a:ln>
        </p:spPr>
        <p:txBody>
          <a:bodyPr/>
          <a:lstStyle/>
          <a:p>
            <a:endParaRPr lang="en-IN"/>
          </a:p>
        </p:txBody>
      </p:sp>
      <p:sp>
        <p:nvSpPr>
          <p:cNvPr id="53" name="Text 51"/>
          <p:cNvSpPr/>
          <p:nvPr/>
        </p:nvSpPr>
        <p:spPr>
          <a:xfrm>
            <a:off x="6565392" y="3493008"/>
            <a:ext cx="2377440" cy="347472"/>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Way too complex for a sprint</a:t>
            </a:r>
            <a:endParaRPr lang="en-US" sz="1050" dirty="0"/>
          </a:p>
        </p:txBody>
      </p:sp>
      <p:sp>
        <p:nvSpPr>
          <p:cNvPr id="54" name="Shape 52"/>
          <p:cNvSpPr/>
          <p:nvPr/>
        </p:nvSpPr>
        <p:spPr>
          <a:xfrm>
            <a:off x="6345936" y="4709160"/>
            <a:ext cx="2596896" cy="292608"/>
          </a:xfrm>
          <a:prstGeom prst="rect">
            <a:avLst/>
          </a:prstGeom>
          <a:solidFill>
            <a:srgbClr val="FFFFFF"/>
          </a:solidFill>
          <a:ln w="19050">
            <a:solidFill>
              <a:srgbClr val="DC2626"/>
            </a:solidFill>
            <a:prstDash val="solid"/>
          </a:ln>
        </p:spPr>
        <p:txBody>
          <a:bodyPr/>
          <a:lstStyle/>
          <a:p>
            <a:endParaRPr lang="en-IN"/>
          </a:p>
        </p:txBody>
      </p:sp>
      <p:sp>
        <p:nvSpPr>
          <p:cNvPr id="55" name="Text 53"/>
          <p:cNvSpPr/>
          <p:nvPr/>
        </p:nvSpPr>
        <p:spPr>
          <a:xfrm>
            <a:off x="6345936" y="4709160"/>
            <a:ext cx="2596896" cy="292608"/>
          </a:xfrm>
          <a:prstGeom prst="rect">
            <a:avLst/>
          </a:prstGeom>
          <a:noFill/>
          <a:ln/>
        </p:spPr>
        <p:txBody>
          <a:bodyPr wrap="square" rtlCol="0" anchor="ctr"/>
          <a:lstStyle/>
          <a:p>
            <a:pPr marL="0" indent="0" algn="ctr">
              <a:buNone/>
            </a:pPr>
            <a:r>
              <a:rPr lang="en-US" sz="1100" b="1" dirty="0">
                <a:solidFill>
                  <a:srgbClr val="DC2626"/>
                </a:solidFill>
                <a:latin typeface="Calibri" pitchFamily="34" charset="0"/>
                <a:ea typeface="Calibri" pitchFamily="34" charset="-122"/>
                <a:cs typeface="Calibri" pitchFamily="34" charset="-120"/>
              </a:rPr>
              <a:t>✗  Not suitable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9488"/>
          </a:solidFill>
          <a:ln w="12700">
            <a:solidFill>
              <a:srgbClr val="0D9488"/>
            </a:solidFill>
            <a:prstDash val="solid"/>
          </a:ln>
        </p:spPr>
        <p:txBody>
          <a:bodyPr/>
          <a:lstStyle/>
          <a:p>
            <a:endParaRPr lang="en-IN"/>
          </a:p>
        </p:txBody>
      </p:sp>
      <p:sp>
        <p:nvSpPr>
          <p:cNvPr id="3" name="Text 1"/>
          <p:cNvSpPr/>
          <p:nvPr/>
        </p:nvSpPr>
        <p:spPr>
          <a:xfrm>
            <a:off x="320040" y="0"/>
            <a:ext cx="850392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Dataset Parameters — Features</a:t>
            </a:r>
            <a:endParaRPr lang="en-US" sz="2200" dirty="0"/>
          </a:p>
        </p:txBody>
      </p:sp>
      <p:sp>
        <p:nvSpPr>
          <p:cNvPr id="4" name="Shape 2"/>
          <p:cNvSpPr/>
          <p:nvPr/>
        </p:nvSpPr>
        <p:spPr>
          <a:xfrm>
            <a:off x="0" y="5184648"/>
            <a:ext cx="9144000" cy="73152"/>
          </a:xfrm>
          <a:prstGeom prst="rect">
            <a:avLst/>
          </a:prstGeom>
          <a:solidFill>
            <a:srgbClr val="CCFBF1"/>
          </a:solidFill>
          <a:ln w="12700">
            <a:solidFill>
              <a:srgbClr val="CCFBF1"/>
            </a:solidFill>
            <a:prstDash val="solid"/>
          </a:ln>
        </p:spPr>
        <p:txBody>
          <a:bodyPr/>
          <a:lstStyle/>
          <a:p>
            <a:endParaRPr lang="en-IN"/>
          </a:p>
        </p:txBody>
      </p:sp>
      <p:sp>
        <p:nvSpPr>
          <p:cNvPr id="5" name="Shape 3"/>
          <p:cNvSpPr/>
          <p:nvPr/>
        </p:nvSpPr>
        <p:spPr>
          <a:xfrm>
            <a:off x="256032" y="749808"/>
            <a:ext cx="274320" cy="329184"/>
          </a:xfrm>
          <a:prstGeom prst="rect">
            <a:avLst/>
          </a:prstGeom>
          <a:solidFill>
            <a:srgbClr val="0D9488"/>
          </a:solidFill>
          <a:ln w="12700">
            <a:solidFill>
              <a:srgbClr val="0D9488"/>
            </a:solidFill>
            <a:prstDash val="solid"/>
          </a:ln>
        </p:spPr>
        <p:txBody>
          <a:bodyPr/>
          <a:lstStyle/>
          <a:p>
            <a:endParaRPr lang="en-IN"/>
          </a:p>
        </p:txBody>
      </p:sp>
      <p:sp>
        <p:nvSpPr>
          <p:cNvPr id="6" name="Text 4"/>
          <p:cNvSpPr/>
          <p:nvPr/>
        </p:nvSpPr>
        <p:spPr>
          <a:xfrm>
            <a:off x="310896" y="749808"/>
            <a:ext cx="201168" cy="329184"/>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7" name="Shape 5"/>
          <p:cNvSpPr/>
          <p:nvPr/>
        </p:nvSpPr>
        <p:spPr>
          <a:xfrm>
            <a:off x="1572768" y="749808"/>
            <a:ext cx="2286000" cy="329184"/>
          </a:xfrm>
          <a:prstGeom prst="rect">
            <a:avLst/>
          </a:prstGeom>
          <a:solidFill>
            <a:srgbClr val="0D9488"/>
          </a:solidFill>
          <a:ln w="12700">
            <a:solidFill>
              <a:srgbClr val="0D9488"/>
            </a:solidFill>
            <a:prstDash val="solid"/>
          </a:ln>
        </p:spPr>
        <p:txBody>
          <a:bodyPr/>
          <a:lstStyle/>
          <a:p>
            <a:endParaRPr lang="en-IN"/>
          </a:p>
        </p:txBody>
      </p:sp>
      <p:sp>
        <p:nvSpPr>
          <p:cNvPr id="8" name="Text 6"/>
          <p:cNvSpPr/>
          <p:nvPr/>
        </p:nvSpPr>
        <p:spPr>
          <a:xfrm>
            <a:off x="1627632" y="749808"/>
            <a:ext cx="2212848" cy="329184"/>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Parameter Name</a:t>
            </a:r>
            <a:endParaRPr lang="en-US" sz="1050" dirty="0"/>
          </a:p>
        </p:txBody>
      </p:sp>
      <p:sp>
        <p:nvSpPr>
          <p:cNvPr id="9" name="Shape 7"/>
          <p:cNvSpPr/>
          <p:nvPr/>
        </p:nvSpPr>
        <p:spPr>
          <a:xfrm>
            <a:off x="4041648" y="749808"/>
            <a:ext cx="2331720" cy="329184"/>
          </a:xfrm>
          <a:prstGeom prst="rect">
            <a:avLst/>
          </a:prstGeom>
          <a:solidFill>
            <a:srgbClr val="0D9488"/>
          </a:solidFill>
          <a:ln w="12700">
            <a:solidFill>
              <a:srgbClr val="0D9488"/>
            </a:solidFill>
            <a:prstDash val="solid"/>
          </a:ln>
        </p:spPr>
        <p:txBody>
          <a:bodyPr/>
          <a:lstStyle/>
          <a:p>
            <a:endParaRPr lang="en-IN"/>
          </a:p>
        </p:txBody>
      </p:sp>
      <p:sp>
        <p:nvSpPr>
          <p:cNvPr id="10" name="Text 8"/>
          <p:cNvSpPr/>
          <p:nvPr/>
        </p:nvSpPr>
        <p:spPr>
          <a:xfrm>
            <a:off x="4096512" y="749808"/>
            <a:ext cx="2258568" cy="329184"/>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Options / Range</a:t>
            </a:r>
            <a:endParaRPr lang="en-US" sz="1050" dirty="0"/>
          </a:p>
        </p:txBody>
      </p:sp>
      <p:sp>
        <p:nvSpPr>
          <p:cNvPr id="11" name="Shape 9"/>
          <p:cNvSpPr/>
          <p:nvPr/>
        </p:nvSpPr>
        <p:spPr>
          <a:xfrm>
            <a:off x="6565392" y="749808"/>
            <a:ext cx="2423160" cy="329184"/>
          </a:xfrm>
          <a:prstGeom prst="rect">
            <a:avLst/>
          </a:prstGeom>
          <a:solidFill>
            <a:srgbClr val="0D9488"/>
          </a:solidFill>
          <a:ln w="12700">
            <a:solidFill>
              <a:srgbClr val="0D9488"/>
            </a:solidFill>
            <a:prstDash val="solid"/>
          </a:ln>
        </p:spPr>
        <p:txBody>
          <a:bodyPr/>
          <a:lstStyle/>
          <a:p>
            <a:endParaRPr lang="en-IN"/>
          </a:p>
        </p:txBody>
      </p:sp>
      <p:sp>
        <p:nvSpPr>
          <p:cNvPr id="12" name="Text 10"/>
          <p:cNvSpPr/>
          <p:nvPr/>
        </p:nvSpPr>
        <p:spPr>
          <a:xfrm>
            <a:off x="6620256" y="749808"/>
            <a:ext cx="2350008" cy="329184"/>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Clinical Meaning</a:t>
            </a:r>
            <a:endParaRPr lang="en-US" sz="1050" dirty="0"/>
          </a:p>
        </p:txBody>
      </p:sp>
      <p:sp>
        <p:nvSpPr>
          <p:cNvPr id="13" name="Shape 11"/>
          <p:cNvSpPr/>
          <p:nvPr/>
        </p:nvSpPr>
        <p:spPr>
          <a:xfrm>
            <a:off x="256032" y="1152144"/>
            <a:ext cx="8732520" cy="512064"/>
          </a:xfrm>
          <a:prstGeom prst="rect">
            <a:avLst/>
          </a:prstGeom>
          <a:solidFill>
            <a:srgbClr val="FFFFFF"/>
          </a:solidFill>
          <a:ln w="12700">
            <a:solidFill>
              <a:srgbClr val="E2E8F0"/>
            </a:solidFill>
            <a:prstDash val="solid"/>
          </a:ln>
        </p:spPr>
        <p:txBody>
          <a:bodyPr/>
          <a:lstStyle/>
          <a:p>
            <a:endParaRPr lang="en-IN"/>
          </a:p>
        </p:txBody>
      </p:sp>
      <p:sp>
        <p:nvSpPr>
          <p:cNvPr id="14" name="Shape 12"/>
          <p:cNvSpPr/>
          <p:nvPr/>
        </p:nvSpPr>
        <p:spPr>
          <a:xfrm>
            <a:off x="256032" y="1152144"/>
            <a:ext cx="274320" cy="512064"/>
          </a:xfrm>
          <a:prstGeom prst="rect">
            <a:avLst/>
          </a:prstGeom>
          <a:solidFill>
            <a:srgbClr val="CCFBF1"/>
          </a:solidFill>
          <a:ln w="12700">
            <a:solidFill>
              <a:srgbClr val="0D9488"/>
            </a:solidFill>
            <a:prstDash val="solid"/>
          </a:ln>
        </p:spPr>
        <p:txBody>
          <a:bodyPr/>
          <a:lstStyle/>
          <a:p>
            <a:endParaRPr lang="en-IN"/>
          </a:p>
        </p:txBody>
      </p:sp>
      <p:sp>
        <p:nvSpPr>
          <p:cNvPr id="15" name="Text 13"/>
          <p:cNvSpPr/>
          <p:nvPr/>
        </p:nvSpPr>
        <p:spPr>
          <a:xfrm>
            <a:off x="256032" y="1152144"/>
            <a:ext cx="274320" cy="512064"/>
          </a:xfrm>
          <a:prstGeom prst="rect">
            <a:avLst/>
          </a:prstGeom>
          <a:noFill/>
          <a:ln/>
        </p:spPr>
        <p:txBody>
          <a:bodyPr wrap="square" lIns="0" tIns="0" rIns="0" bIns="0" rtlCol="0" anchor="ctr"/>
          <a:lstStyle/>
          <a:p>
            <a:pPr marL="0" indent="0" algn="ctr">
              <a:buNone/>
            </a:pPr>
            <a:r>
              <a:rPr lang="en-US" sz="1000" b="1" dirty="0">
                <a:solidFill>
                  <a:srgbClr val="0D9488"/>
                </a:solidFill>
                <a:latin typeface="Calibri" pitchFamily="34" charset="0"/>
                <a:ea typeface="Calibri" pitchFamily="34" charset="-122"/>
                <a:cs typeface="Calibri" pitchFamily="34" charset="-120"/>
              </a:rPr>
              <a:t>1</a:t>
            </a:r>
            <a:endParaRPr lang="en-US" sz="1000" dirty="0"/>
          </a:p>
        </p:txBody>
      </p:sp>
      <p:sp>
        <p:nvSpPr>
          <p:cNvPr id="16" name="Text 14"/>
          <p:cNvSpPr/>
          <p:nvPr/>
        </p:nvSpPr>
        <p:spPr>
          <a:xfrm>
            <a:off x="1572768" y="1188720"/>
            <a:ext cx="2267712" cy="237744"/>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Age</a:t>
            </a:r>
            <a:endParaRPr lang="en-US" sz="1100" dirty="0"/>
          </a:p>
        </p:txBody>
      </p:sp>
      <p:sp>
        <p:nvSpPr>
          <p:cNvPr id="17" name="Text 15"/>
          <p:cNvSpPr/>
          <p:nvPr/>
        </p:nvSpPr>
        <p:spPr>
          <a:xfrm>
            <a:off x="1572768" y="1426464"/>
            <a:ext cx="2267712" cy="201168"/>
          </a:xfrm>
          <a:prstGeom prst="rect">
            <a:avLst/>
          </a:prstGeom>
          <a:noFill/>
          <a:ln/>
        </p:spPr>
        <p:txBody>
          <a:bodyPr wrap="square" lIns="0" tIns="0" rIns="0" bIns="0" rtlCol="0" anchor="ctr"/>
          <a:lstStyle/>
          <a:p>
            <a:pPr marL="0" indent="0">
              <a:buNone/>
            </a:pPr>
            <a:r>
              <a:rPr lang="en-US" sz="900" i="1" dirty="0">
                <a:solidFill>
                  <a:srgbClr val="0D9488"/>
                </a:solidFill>
                <a:latin typeface="Calibri" pitchFamily="34" charset="0"/>
                <a:ea typeface="Calibri" pitchFamily="34" charset="-122"/>
                <a:cs typeface="Calibri" pitchFamily="34" charset="-120"/>
              </a:rPr>
              <a:t>Number</a:t>
            </a:r>
            <a:endParaRPr lang="en-US" sz="900" dirty="0"/>
          </a:p>
        </p:txBody>
      </p:sp>
      <p:sp>
        <p:nvSpPr>
          <p:cNvPr id="18" name="Text 16"/>
          <p:cNvSpPr/>
          <p:nvPr/>
        </p:nvSpPr>
        <p:spPr>
          <a:xfrm>
            <a:off x="4041648" y="1197864"/>
            <a:ext cx="2331720" cy="420624"/>
          </a:xfrm>
          <a:prstGeom prst="rect">
            <a:avLst/>
          </a:prstGeom>
          <a:noFill/>
          <a:ln/>
        </p:spPr>
        <p:txBody>
          <a:bodyPr wrap="square" lIns="0" tIns="0" rIns="0" bIns="0" rtlCol="0" anchor="t"/>
          <a:lstStyle/>
          <a:p>
            <a:pPr marL="0" indent="0">
              <a:buNone/>
            </a:pPr>
            <a:r>
              <a:rPr lang="en-US" sz="1000" dirty="0">
                <a:solidFill>
                  <a:srgbClr val="475569"/>
                </a:solidFill>
                <a:latin typeface="Calibri" pitchFamily="34" charset="0"/>
                <a:ea typeface="Calibri" pitchFamily="34" charset="-122"/>
                <a:cs typeface="Calibri" pitchFamily="34" charset="-120"/>
              </a:rPr>
              <a:t>Any whole number</a:t>
            </a:r>
            <a:endParaRPr lang="en-US" sz="1000" dirty="0"/>
          </a:p>
          <a:p>
            <a:pPr marL="0" indent="0">
              <a:buNone/>
            </a:pPr>
            <a:r>
              <a:rPr lang="en-US" sz="1000" dirty="0">
                <a:solidFill>
                  <a:srgbClr val="475569"/>
                </a:solidFill>
                <a:latin typeface="Calibri" pitchFamily="34" charset="0"/>
                <a:ea typeface="Calibri" pitchFamily="34" charset="-122"/>
                <a:cs typeface="Calibri" pitchFamily="34" charset="-120"/>
              </a:rPr>
              <a:t>(e.g. 29, 45, 63)</a:t>
            </a:r>
            <a:endParaRPr lang="en-US" sz="1000" dirty="0"/>
          </a:p>
        </p:txBody>
      </p:sp>
      <p:sp>
        <p:nvSpPr>
          <p:cNvPr id="19" name="Text 17"/>
          <p:cNvSpPr/>
          <p:nvPr/>
        </p:nvSpPr>
        <p:spPr>
          <a:xfrm>
            <a:off x="6565392" y="1197864"/>
            <a:ext cx="2423160" cy="420624"/>
          </a:xfrm>
          <a:prstGeom prst="rect">
            <a:avLst/>
          </a:prstGeom>
          <a:noFill/>
          <a:ln/>
        </p:spPr>
        <p:txBody>
          <a:bodyPr wrap="square" lIns="0" tIns="0" rIns="0" bIns="0" rtlCol="0" anchor="t"/>
          <a:lstStyle/>
          <a:p>
            <a:pPr marL="0" indent="0">
              <a:buNone/>
            </a:pPr>
            <a:r>
              <a:rPr lang="en-US" sz="1000" dirty="0">
                <a:solidFill>
                  <a:srgbClr val="1E293B"/>
                </a:solidFill>
                <a:latin typeface="Calibri" pitchFamily="34" charset="0"/>
                <a:ea typeface="Calibri" pitchFamily="34" charset="-122"/>
                <a:cs typeface="Calibri" pitchFamily="34" charset="-120"/>
              </a:rPr>
              <a:t>Cardiovascular risk rises sharply after age 45 in men and 55 in women</a:t>
            </a:r>
            <a:endParaRPr lang="en-US" sz="1000" dirty="0"/>
          </a:p>
        </p:txBody>
      </p:sp>
      <p:sp>
        <p:nvSpPr>
          <p:cNvPr id="20" name="Shape 18"/>
          <p:cNvSpPr/>
          <p:nvPr/>
        </p:nvSpPr>
        <p:spPr>
          <a:xfrm>
            <a:off x="260745" y="1668921"/>
            <a:ext cx="8732520" cy="512064"/>
          </a:xfrm>
          <a:prstGeom prst="rect">
            <a:avLst/>
          </a:prstGeom>
          <a:solidFill>
            <a:srgbClr val="F0FAF9"/>
          </a:solidFill>
          <a:ln w="12700">
            <a:solidFill>
              <a:srgbClr val="E2E8F0"/>
            </a:solidFill>
            <a:prstDash val="solid"/>
          </a:ln>
        </p:spPr>
        <p:txBody>
          <a:bodyPr/>
          <a:lstStyle/>
          <a:p>
            <a:endParaRPr lang="en-IN"/>
          </a:p>
        </p:txBody>
      </p:sp>
      <p:sp>
        <p:nvSpPr>
          <p:cNvPr id="21" name="Shape 19"/>
          <p:cNvSpPr/>
          <p:nvPr/>
        </p:nvSpPr>
        <p:spPr>
          <a:xfrm>
            <a:off x="256032" y="1664208"/>
            <a:ext cx="274320" cy="512064"/>
          </a:xfrm>
          <a:prstGeom prst="rect">
            <a:avLst/>
          </a:prstGeom>
          <a:solidFill>
            <a:srgbClr val="CCFBF1"/>
          </a:solidFill>
          <a:ln w="12700">
            <a:solidFill>
              <a:srgbClr val="0D9488"/>
            </a:solidFill>
            <a:prstDash val="solid"/>
          </a:ln>
        </p:spPr>
        <p:txBody>
          <a:bodyPr/>
          <a:lstStyle/>
          <a:p>
            <a:endParaRPr lang="en-IN"/>
          </a:p>
        </p:txBody>
      </p:sp>
      <p:sp>
        <p:nvSpPr>
          <p:cNvPr id="22" name="Text 20"/>
          <p:cNvSpPr/>
          <p:nvPr/>
        </p:nvSpPr>
        <p:spPr>
          <a:xfrm>
            <a:off x="256032" y="1664208"/>
            <a:ext cx="274320" cy="512064"/>
          </a:xfrm>
          <a:prstGeom prst="rect">
            <a:avLst/>
          </a:prstGeom>
          <a:noFill/>
          <a:ln/>
        </p:spPr>
        <p:txBody>
          <a:bodyPr wrap="square" lIns="0" tIns="0" rIns="0" bIns="0" rtlCol="0" anchor="ctr"/>
          <a:lstStyle/>
          <a:p>
            <a:pPr marL="0" indent="0" algn="ctr">
              <a:buNone/>
            </a:pPr>
            <a:r>
              <a:rPr lang="en-US" sz="1000" b="1" dirty="0">
                <a:solidFill>
                  <a:srgbClr val="0D9488"/>
                </a:solidFill>
                <a:latin typeface="Calibri" pitchFamily="34" charset="0"/>
                <a:ea typeface="Calibri" pitchFamily="34" charset="-122"/>
                <a:cs typeface="Calibri" pitchFamily="34" charset="-120"/>
              </a:rPr>
              <a:t>2</a:t>
            </a:r>
            <a:endParaRPr lang="en-US" sz="1000" dirty="0"/>
          </a:p>
        </p:txBody>
      </p:sp>
      <p:sp>
        <p:nvSpPr>
          <p:cNvPr id="23" name="Text 21"/>
          <p:cNvSpPr/>
          <p:nvPr/>
        </p:nvSpPr>
        <p:spPr>
          <a:xfrm>
            <a:off x="1572768" y="1700784"/>
            <a:ext cx="2267712" cy="237744"/>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Sex</a:t>
            </a:r>
            <a:endParaRPr lang="en-US" sz="1100" dirty="0"/>
          </a:p>
        </p:txBody>
      </p:sp>
      <p:sp>
        <p:nvSpPr>
          <p:cNvPr id="24" name="Text 22"/>
          <p:cNvSpPr/>
          <p:nvPr/>
        </p:nvSpPr>
        <p:spPr>
          <a:xfrm>
            <a:off x="1572768" y="1938528"/>
            <a:ext cx="2267712" cy="201168"/>
          </a:xfrm>
          <a:prstGeom prst="rect">
            <a:avLst/>
          </a:prstGeom>
          <a:noFill/>
          <a:ln/>
        </p:spPr>
        <p:txBody>
          <a:bodyPr wrap="square" lIns="0" tIns="0" rIns="0" bIns="0" rtlCol="0" anchor="ctr"/>
          <a:lstStyle/>
          <a:p>
            <a:pPr marL="0" indent="0">
              <a:buNone/>
            </a:pPr>
            <a:r>
              <a:rPr lang="en-US" sz="900" i="1" dirty="0">
                <a:solidFill>
                  <a:srgbClr val="0D9488"/>
                </a:solidFill>
                <a:latin typeface="Calibri" pitchFamily="34" charset="0"/>
                <a:ea typeface="Calibri" pitchFamily="34" charset="-122"/>
                <a:cs typeface="Calibri" pitchFamily="34" charset="-120"/>
              </a:rPr>
              <a:t>Dropdown</a:t>
            </a:r>
            <a:endParaRPr lang="en-US" sz="900" dirty="0"/>
          </a:p>
        </p:txBody>
      </p:sp>
      <p:sp>
        <p:nvSpPr>
          <p:cNvPr id="25" name="Text 23"/>
          <p:cNvSpPr/>
          <p:nvPr/>
        </p:nvSpPr>
        <p:spPr>
          <a:xfrm>
            <a:off x="4041648" y="1709928"/>
            <a:ext cx="2331720" cy="420624"/>
          </a:xfrm>
          <a:prstGeom prst="rect">
            <a:avLst/>
          </a:prstGeom>
          <a:noFill/>
          <a:ln/>
        </p:spPr>
        <p:txBody>
          <a:bodyPr wrap="square" lIns="0" tIns="0" rIns="0" bIns="0" rtlCol="0" anchor="t"/>
          <a:lstStyle/>
          <a:p>
            <a:pPr marL="0" indent="0">
              <a:buNone/>
            </a:pPr>
            <a:r>
              <a:rPr lang="en-US" sz="1000" dirty="0">
                <a:solidFill>
                  <a:srgbClr val="475569"/>
                </a:solidFill>
                <a:latin typeface="Calibri" pitchFamily="34" charset="0"/>
                <a:ea typeface="Calibri" pitchFamily="34" charset="-122"/>
                <a:cs typeface="Calibri" pitchFamily="34" charset="-120"/>
              </a:rPr>
              <a:t>Male</a:t>
            </a:r>
            <a:endParaRPr lang="en-US" sz="1000" dirty="0"/>
          </a:p>
          <a:p>
            <a:pPr marL="0" indent="0">
              <a:buNone/>
            </a:pPr>
            <a:r>
              <a:rPr lang="en-US" sz="1000" dirty="0">
                <a:solidFill>
                  <a:srgbClr val="475569"/>
                </a:solidFill>
                <a:latin typeface="Calibri" pitchFamily="34" charset="0"/>
                <a:ea typeface="Calibri" pitchFamily="34" charset="-122"/>
                <a:cs typeface="Calibri" pitchFamily="34" charset="-120"/>
              </a:rPr>
              <a:t>Female</a:t>
            </a:r>
            <a:endParaRPr lang="en-US" sz="1000" dirty="0"/>
          </a:p>
        </p:txBody>
      </p:sp>
      <p:sp>
        <p:nvSpPr>
          <p:cNvPr id="26" name="Text 24"/>
          <p:cNvSpPr/>
          <p:nvPr/>
        </p:nvSpPr>
        <p:spPr>
          <a:xfrm>
            <a:off x="6565392" y="1709928"/>
            <a:ext cx="2423160" cy="420624"/>
          </a:xfrm>
          <a:prstGeom prst="rect">
            <a:avLst/>
          </a:prstGeom>
          <a:noFill/>
          <a:ln/>
        </p:spPr>
        <p:txBody>
          <a:bodyPr wrap="square" lIns="0" tIns="0" rIns="0" bIns="0" rtlCol="0" anchor="t"/>
          <a:lstStyle/>
          <a:p>
            <a:pPr marL="0" indent="0">
              <a:buNone/>
            </a:pPr>
            <a:r>
              <a:rPr lang="en-US" sz="1000" dirty="0">
                <a:solidFill>
                  <a:srgbClr val="1E293B"/>
                </a:solidFill>
                <a:latin typeface="Calibri" pitchFamily="34" charset="0"/>
                <a:ea typeface="Calibri" pitchFamily="34" charset="-122"/>
                <a:cs typeface="Calibri" pitchFamily="34" charset="-120"/>
              </a:rPr>
              <a:t>Biological sex of the patient. Males have statistically higher risk</a:t>
            </a:r>
            <a:endParaRPr lang="en-US" sz="1000" dirty="0"/>
          </a:p>
        </p:txBody>
      </p:sp>
      <p:sp>
        <p:nvSpPr>
          <p:cNvPr id="27" name="Shape 25"/>
          <p:cNvSpPr/>
          <p:nvPr/>
        </p:nvSpPr>
        <p:spPr>
          <a:xfrm>
            <a:off x="256032" y="2176272"/>
            <a:ext cx="8732520" cy="749808"/>
          </a:xfrm>
          <a:prstGeom prst="rect">
            <a:avLst/>
          </a:prstGeom>
          <a:solidFill>
            <a:srgbClr val="FFFFFF"/>
          </a:solidFill>
          <a:ln w="12700">
            <a:solidFill>
              <a:srgbClr val="E2E8F0"/>
            </a:solidFill>
            <a:prstDash val="solid"/>
          </a:ln>
        </p:spPr>
        <p:txBody>
          <a:bodyPr/>
          <a:lstStyle/>
          <a:p>
            <a:endParaRPr lang="en-IN"/>
          </a:p>
        </p:txBody>
      </p:sp>
      <p:sp>
        <p:nvSpPr>
          <p:cNvPr id="28" name="Shape 26"/>
          <p:cNvSpPr/>
          <p:nvPr/>
        </p:nvSpPr>
        <p:spPr>
          <a:xfrm>
            <a:off x="256032" y="2176272"/>
            <a:ext cx="274320" cy="749808"/>
          </a:xfrm>
          <a:prstGeom prst="rect">
            <a:avLst/>
          </a:prstGeom>
          <a:solidFill>
            <a:srgbClr val="CCFBF1"/>
          </a:solidFill>
          <a:ln w="12700">
            <a:solidFill>
              <a:srgbClr val="0D9488"/>
            </a:solidFill>
            <a:prstDash val="solid"/>
          </a:ln>
        </p:spPr>
        <p:txBody>
          <a:bodyPr/>
          <a:lstStyle/>
          <a:p>
            <a:endParaRPr lang="en-IN"/>
          </a:p>
        </p:txBody>
      </p:sp>
      <p:sp>
        <p:nvSpPr>
          <p:cNvPr id="29" name="Text 27"/>
          <p:cNvSpPr/>
          <p:nvPr/>
        </p:nvSpPr>
        <p:spPr>
          <a:xfrm>
            <a:off x="256032" y="2176272"/>
            <a:ext cx="274320" cy="749808"/>
          </a:xfrm>
          <a:prstGeom prst="rect">
            <a:avLst/>
          </a:prstGeom>
          <a:noFill/>
          <a:ln/>
        </p:spPr>
        <p:txBody>
          <a:bodyPr wrap="square" lIns="0" tIns="0" rIns="0" bIns="0" rtlCol="0" anchor="ctr"/>
          <a:lstStyle/>
          <a:p>
            <a:pPr marL="0" indent="0" algn="ctr">
              <a:buNone/>
            </a:pPr>
            <a:r>
              <a:rPr lang="en-US" sz="1000" b="1" dirty="0">
                <a:solidFill>
                  <a:srgbClr val="0D9488"/>
                </a:solidFill>
                <a:latin typeface="Calibri" pitchFamily="34" charset="0"/>
                <a:ea typeface="Calibri" pitchFamily="34" charset="-122"/>
                <a:cs typeface="Calibri" pitchFamily="34" charset="-120"/>
              </a:rPr>
              <a:t>3</a:t>
            </a:r>
            <a:endParaRPr lang="en-US" sz="1000" dirty="0"/>
          </a:p>
        </p:txBody>
      </p:sp>
      <p:sp>
        <p:nvSpPr>
          <p:cNvPr id="30" name="Text 28"/>
          <p:cNvSpPr/>
          <p:nvPr/>
        </p:nvSpPr>
        <p:spPr>
          <a:xfrm>
            <a:off x="1572768" y="2212848"/>
            <a:ext cx="2267712" cy="237744"/>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Chest Pain Type</a:t>
            </a:r>
            <a:endParaRPr lang="en-US" sz="1100" dirty="0"/>
          </a:p>
        </p:txBody>
      </p:sp>
      <p:sp>
        <p:nvSpPr>
          <p:cNvPr id="31" name="Text 29"/>
          <p:cNvSpPr/>
          <p:nvPr/>
        </p:nvSpPr>
        <p:spPr>
          <a:xfrm>
            <a:off x="1572768" y="2450592"/>
            <a:ext cx="2267712" cy="201168"/>
          </a:xfrm>
          <a:prstGeom prst="rect">
            <a:avLst/>
          </a:prstGeom>
          <a:noFill/>
          <a:ln/>
        </p:spPr>
        <p:txBody>
          <a:bodyPr wrap="square" lIns="0" tIns="0" rIns="0" bIns="0" rtlCol="0" anchor="ctr"/>
          <a:lstStyle/>
          <a:p>
            <a:pPr marL="0" indent="0">
              <a:buNone/>
            </a:pPr>
            <a:r>
              <a:rPr lang="en-US" sz="900" i="1" dirty="0">
                <a:solidFill>
                  <a:srgbClr val="0D9488"/>
                </a:solidFill>
                <a:latin typeface="Calibri" pitchFamily="34" charset="0"/>
                <a:ea typeface="Calibri" pitchFamily="34" charset="-122"/>
                <a:cs typeface="Calibri" pitchFamily="34" charset="-120"/>
              </a:rPr>
              <a:t>Dropdown</a:t>
            </a:r>
            <a:endParaRPr lang="en-US" sz="900" dirty="0"/>
          </a:p>
        </p:txBody>
      </p:sp>
      <p:sp>
        <p:nvSpPr>
          <p:cNvPr id="32" name="Text 30"/>
          <p:cNvSpPr/>
          <p:nvPr/>
        </p:nvSpPr>
        <p:spPr>
          <a:xfrm>
            <a:off x="4041648" y="2221992"/>
            <a:ext cx="2331720" cy="658368"/>
          </a:xfrm>
          <a:prstGeom prst="rect">
            <a:avLst/>
          </a:prstGeom>
          <a:noFill/>
          <a:ln/>
        </p:spPr>
        <p:txBody>
          <a:bodyPr wrap="square" lIns="0" tIns="0" rIns="0" bIns="0" rtlCol="0" anchor="t"/>
          <a:lstStyle/>
          <a:p>
            <a:pPr marL="0" indent="0">
              <a:buNone/>
            </a:pPr>
            <a:r>
              <a:rPr lang="en-US" sz="1000" dirty="0">
                <a:solidFill>
                  <a:srgbClr val="475569"/>
                </a:solidFill>
                <a:latin typeface="Calibri" pitchFamily="34" charset="0"/>
                <a:ea typeface="Calibri" pitchFamily="34" charset="-122"/>
                <a:cs typeface="Calibri" pitchFamily="34" charset="-120"/>
              </a:rPr>
              <a:t>Typical Angina</a:t>
            </a:r>
            <a:endParaRPr lang="en-US" sz="1000" dirty="0"/>
          </a:p>
          <a:p>
            <a:pPr marL="0" indent="0">
              <a:buNone/>
            </a:pPr>
            <a:r>
              <a:rPr lang="en-US" sz="1000" dirty="0">
                <a:solidFill>
                  <a:srgbClr val="475569"/>
                </a:solidFill>
                <a:latin typeface="Calibri" pitchFamily="34" charset="0"/>
                <a:ea typeface="Calibri" pitchFamily="34" charset="-122"/>
                <a:cs typeface="Calibri" pitchFamily="34" charset="-120"/>
              </a:rPr>
              <a:t>Atypical Angina</a:t>
            </a:r>
            <a:endParaRPr lang="en-US" sz="1000" dirty="0"/>
          </a:p>
          <a:p>
            <a:pPr marL="0" indent="0">
              <a:buNone/>
            </a:pPr>
            <a:r>
              <a:rPr lang="en-US" sz="1000" dirty="0">
                <a:solidFill>
                  <a:srgbClr val="475569"/>
                </a:solidFill>
                <a:latin typeface="Calibri" pitchFamily="34" charset="0"/>
                <a:ea typeface="Calibri" pitchFamily="34" charset="-122"/>
                <a:cs typeface="Calibri" pitchFamily="34" charset="-120"/>
              </a:rPr>
              <a:t>Non-Anginal Pain</a:t>
            </a:r>
            <a:endParaRPr lang="en-US" sz="1000" dirty="0"/>
          </a:p>
          <a:p>
            <a:pPr marL="0" indent="0">
              <a:buNone/>
            </a:pPr>
            <a:r>
              <a:rPr lang="en-US" sz="1000" dirty="0">
                <a:solidFill>
                  <a:srgbClr val="475569"/>
                </a:solidFill>
                <a:latin typeface="Calibri" pitchFamily="34" charset="0"/>
                <a:ea typeface="Calibri" pitchFamily="34" charset="-122"/>
                <a:cs typeface="Calibri" pitchFamily="34" charset="-120"/>
              </a:rPr>
              <a:t>Asymptomatic</a:t>
            </a:r>
            <a:endParaRPr lang="en-US" sz="1000" dirty="0"/>
          </a:p>
        </p:txBody>
      </p:sp>
      <p:sp>
        <p:nvSpPr>
          <p:cNvPr id="33" name="Text 31"/>
          <p:cNvSpPr/>
          <p:nvPr/>
        </p:nvSpPr>
        <p:spPr>
          <a:xfrm>
            <a:off x="6565392" y="2221992"/>
            <a:ext cx="2423160" cy="658368"/>
          </a:xfrm>
          <a:prstGeom prst="rect">
            <a:avLst/>
          </a:prstGeom>
          <a:noFill/>
          <a:ln/>
        </p:spPr>
        <p:txBody>
          <a:bodyPr wrap="square" lIns="0" tIns="0" rIns="0" bIns="0" rtlCol="0" anchor="t"/>
          <a:lstStyle/>
          <a:p>
            <a:pPr marL="0" indent="0">
              <a:buNone/>
            </a:pPr>
            <a:r>
              <a:rPr lang="en-US" sz="1000" dirty="0">
                <a:solidFill>
                  <a:srgbClr val="1E293B"/>
                </a:solidFill>
                <a:latin typeface="Calibri" pitchFamily="34" charset="0"/>
                <a:ea typeface="Calibri" pitchFamily="34" charset="-122"/>
                <a:cs typeface="Calibri" pitchFamily="34" charset="-120"/>
              </a:rPr>
              <a:t>Type of chest discomfort. Asymptomatic (type 3) is paradoxically highest risk — silent disease</a:t>
            </a:r>
            <a:endParaRPr lang="en-US" sz="1000" dirty="0"/>
          </a:p>
        </p:txBody>
      </p:sp>
      <p:sp>
        <p:nvSpPr>
          <p:cNvPr id="34" name="Shape 32"/>
          <p:cNvSpPr/>
          <p:nvPr/>
        </p:nvSpPr>
        <p:spPr>
          <a:xfrm>
            <a:off x="256032" y="2926080"/>
            <a:ext cx="8732520" cy="512064"/>
          </a:xfrm>
          <a:prstGeom prst="rect">
            <a:avLst/>
          </a:prstGeom>
          <a:solidFill>
            <a:srgbClr val="F0FAF9"/>
          </a:solidFill>
          <a:ln w="12700">
            <a:solidFill>
              <a:srgbClr val="E2E8F0"/>
            </a:solidFill>
            <a:prstDash val="solid"/>
          </a:ln>
        </p:spPr>
        <p:txBody>
          <a:bodyPr/>
          <a:lstStyle/>
          <a:p>
            <a:endParaRPr lang="en-IN"/>
          </a:p>
        </p:txBody>
      </p:sp>
      <p:sp>
        <p:nvSpPr>
          <p:cNvPr id="35" name="Shape 33"/>
          <p:cNvSpPr/>
          <p:nvPr/>
        </p:nvSpPr>
        <p:spPr>
          <a:xfrm>
            <a:off x="256032" y="2926080"/>
            <a:ext cx="274320" cy="512064"/>
          </a:xfrm>
          <a:prstGeom prst="rect">
            <a:avLst/>
          </a:prstGeom>
          <a:solidFill>
            <a:srgbClr val="CCFBF1"/>
          </a:solidFill>
          <a:ln w="12700">
            <a:solidFill>
              <a:srgbClr val="0D9488"/>
            </a:solidFill>
            <a:prstDash val="solid"/>
          </a:ln>
        </p:spPr>
        <p:txBody>
          <a:bodyPr/>
          <a:lstStyle/>
          <a:p>
            <a:endParaRPr lang="en-IN"/>
          </a:p>
        </p:txBody>
      </p:sp>
      <p:sp>
        <p:nvSpPr>
          <p:cNvPr id="36" name="Text 34"/>
          <p:cNvSpPr/>
          <p:nvPr/>
        </p:nvSpPr>
        <p:spPr>
          <a:xfrm>
            <a:off x="256032" y="2926080"/>
            <a:ext cx="274320" cy="512064"/>
          </a:xfrm>
          <a:prstGeom prst="rect">
            <a:avLst/>
          </a:prstGeom>
          <a:noFill/>
          <a:ln/>
        </p:spPr>
        <p:txBody>
          <a:bodyPr wrap="square" lIns="0" tIns="0" rIns="0" bIns="0" rtlCol="0" anchor="ctr"/>
          <a:lstStyle/>
          <a:p>
            <a:pPr marL="0" indent="0" algn="ctr">
              <a:buNone/>
            </a:pPr>
            <a:r>
              <a:rPr lang="en-US" sz="1000" b="1" dirty="0">
                <a:solidFill>
                  <a:srgbClr val="0D9488"/>
                </a:solidFill>
                <a:latin typeface="Calibri" pitchFamily="34" charset="0"/>
                <a:ea typeface="Calibri" pitchFamily="34" charset="-122"/>
                <a:cs typeface="Calibri" pitchFamily="34" charset="-120"/>
              </a:rPr>
              <a:t>4</a:t>
            </a:r>
            <a:endParaRPr lang="en-US" sz="1000" dirty="0"/>
          </a:p>
        </p:txBody>
      </p:sp>
      <p:sp>
        <p:nvSpPr>
          <p:cNvPr id="37" name="Text 35"/>
          <p:cNvSpPr/>
          <p:nvPr/>
        </p:nvSpPr>
        <p:spPr>
          <a:xfrm>
            <a:off x="1572768" y="2962656"/>
            <a:ext cx="2267712" cy="237744"/>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Resting Blood Pressure</a:t>
            </a:r>
            <a:endParaRPr lang="en-US" sz="1100" dirty="0"/>
          </a:p>
        </p:txBody>
      </p:sp>
      <p:sp>
        <p:nvSpPr>
          <p:cNvPr id="38" name="Text 36"/>
          <p:cNvSpPr/>
          <p:nvPr/>
        </p:nvSpPr>
        <p:spPr>
          <a:xfrm>
            <a:off x="1572768" y="3200400"/>
            <a:ext cx="2267712" cy="201168"/>
          </a:xfrm>
          <a:prstGeom prst="rect">
            <a:avLst/>
          </a:prstGeom>
          <a:noFill/>
          <a:ln/>
        </p:spPr>
        <p:txBody>
          <a:bodyPr wrap="square" lIns="0" tIns="0" rIns="0" bIns="0" rtlCol="0" anchor="ctr"/>
          <a:lstStyle/>
          <a:p>
            <a:pPr marL="0" indent="0">
              <a:buNone/>
            </a:pPr>
            <a:r>
              <a:rPr lang="en-US" sz="900" i="1" dirty="0">
                <a:solidFill>
                  <a:srgbClr val="0D9488"/>
                </a:solidFill>
                <a:latin typeface="Calibri" pitchFamily="34" charset="0"/>
                <a:ea typeface="Calibri" pitchFamily="34" charset="-122"/>
                <a:cs typeface="Calibri" pitchFamily="34" charset="-120"/>
              </a:rPr>
              <a:t>Number (mmHg)</a:t>
            </a:r>
            <a:endParaRPr lang="en-US" sz="900" dirty="0"/>
          </a:p>
        </p:txBody>
      </p:sp>
      <p:sp>
        <p:nvSpPr>
          <p:cNvPr id="39" name="Text 37"/>
          <p:cNvSpPr/>
          <p:nvPr/>
        </p:nvSpPr>
        <p:spPr>
          <a:xfrm>
            <a:off x="4041648" y="2971800"/>
            <a:ext cx="2331720" cy="420624"/>
          </a:xfrm>
          <a:prstGeom prst="rect">
            <a:avLst/>
          </a:prstGeom>
          <a:noFill/>
          <a:ln/>
        </p:spPr>
        <p:txBody>
          <a:bodyPr wrap="square" lIns="0" tIns="0" rIns="0" bIns="0" rtlCol="0" anchor="t"/>
          <a:lstStyle/>
          <a:p>
            <a:pPr marL="0" indent="0">
              <a:buNone/>
            </a:pPr>
            <a:r>
              <a:rPr lang="en-US" sz="1000" dirty="0">
                <a:solidFill>
                  <a:srgbClr val="475569"/>
                </a:solidFill>
                <a:latin typeface="Calibri" pitchFamily="34" charset="0"/>
                <a:ea typeface="Calibri" pitchFamily="34" charset="-122"/>
                <a:cs typeface="Calibri" pitchFamily="34" charset="-120"/>
              </a:rPr>
              <a:t>Numeric value in mmHg</a:t>
            </a:r>
            <a:endParaRPr lang="en-US" sz="1000" dirty="0"/>
          </a:p>
          <a:p>
            <a:pPr marL="0" indent="0">
              <a:buNone/>
            </a:pPr>
            <a:r>
              <a:rPr lang="en-US" sz="1000" dirty="0">
                <a:solidFill>
                  <a:srgbClr val="475569"/>
                </a:solidFill>
                <a:latin typeface="Calibri" pitchFamily="34" charset="0"/>
                <a:ea typeface="Calibri" pitchFamily="34" charset="-122"/>
                <a:cs typeface="Calibri" pitchFamily="34" charset="-120"/>
              </a:rPr>
              <a:t>(e.g. 110, 140, 170)</a:t>
            </a:r>
            <a:endParaRPr lang="en-US" sz="1000" dirty="0"/>
          </a:p>
        </p:txBody>
      </p:sp>
      <p:sp>
        <p:nvSpPr>
          <p:cNvPr id="40" name="Text 38"/>
          <p:cNvSpPr/>
          <p:nvPr/>
        </p:nvSpPr>
        <p:spPr>
          <a:xfrm>
            <a:off x="6565392" y="2971800"/>
            <a:ext cx="2423160" cy="420624"/>
          </a:xfrm>
          <a:prstGeom prst="rect">
            <a:avLst/>
          </a:prstGeom>
          <a:noFill/>
          <a:ln/>
        </p:spPr>
        <p:txBody>
          <a:bodyPr wrap="square" lIns="0" tIns="0" rIns="0" bIns="0" rtlCol="0" anchor="t"/>
          <a:lstStyle/>
          <a:p>
            <a:pPr marL="0" indent="0">
              <a:buNone/>
            </a:pPr>
            <a:r>
              <a:rPr lang="en-US" sz="1000" dirty="0">
                <a:solidFill>
                  <a:srgbClr val="1E293B"/>
                </a:solidFill>
                <a:latin typeface="Calibri" pitchFamily="34" charset="0"/>
                <a:ea typeface="Calibri" pitchFamily="34" charset="-122"/>
                <a:cs typeface="Calibri" pitchFamily="34" charset="-120"/>
              </a:rPr>
              <a:t>Resting blood pressure at hospital admission. Hypertension (&gt;140) is a primary risk factor</a:t>
            </a:r>
            <a:endParaRPr lang="en-US" sz="1000" dirty="0"/>
          </a:p>
        </p:txBody>
      </p:sp>
      <p:sp>
        <p:nvSpPr>
          <p:cNvPr id="41" name="Shape 39"/>
          <p:cNvSpPr/>
          <p:nvPr/>
        </p:nvSpPr>
        <p:spPr>
          <a:xfrm>
            <a:off x="256032" y="3438144"/>
            <a:ext cx="8732520" cy="512064"/>
          </a:xfrm>
          <a:prstGeom prst="rect">
            <a:avLst/>
          </a:prstGeom>
          <a:solidFill>
            <a:srgbClr val="FFFFFF"/>
          </a:solidFill>
          <a:ln w="12700">
            <a:solidFill>
              <a:srgbClr val="E2E8F0"/>
            </a:solidFill>
            <a:prstDash val="solid"/>
          </a:ln>
        </p:spPr>
        <p:txBody>
          <a:bodyPr/>
          <a:lstStyle/>
          <a:p>
            <a:endParaRPr lang="en-IN"/>
          </a:p>
        </p:txBody>
      </p:sp>
      <p:sp>
        <p:nvSpPr>
          <p:cNvPr id="42" name="Shape 40"/>
          <p:cNvSpPr/>
          <p:nvPr/>
        </p:nvSpPr>
        <p:spPr>
          <a:xfrm>
            <a:off x="256032" y="3438144"/>
            <a:ext cx="274320" cy="512064"/>
          </a:xfrm>
          <a:prstGeom prst="rect">
            <a:avLst/>
          </a:prstGeom>
          <a:solidFill>
            <a:srgbClr val="CCFBF1"/>
          </a:solidFill>
          <a:ln w="12700">
            <a:solidFill>
              <a:srgbClr val="0D9488"/>
            </a:solidFill>
            <a:prstDash val="solid"/>
          </a:ln>
        </p:spPr>
        <p:txBody>
          <a:bodyPr/>
          <a:lstStyle/>
          <a:p>
            <a:endParaRPr lang="en-IN"/>
          </a:p>
        </p:txBody>
      </p:sp>
      <p:sp>
        <p:nvSpPr>
          <p:cNvPr id="43" name="Text 41"/>
          <p:cNvSpPr/>
          <p:nvPr/>
        </p:nvSpPr>
        <p:spPr>
          <a:xfrm>
            <a:off x="256032" y="3438144"/>
            <a:ext cx="274320" cy="512064"/>
          </a:xfrm>
          <a:prstGeom prst="rect">
            <a:avLst/>
          </a:prstGeom>
          <a:noFill/>
          <a:ln/>
        </p:spPr>
        <p:txBody>
          <a:bodyPr wrap="square" lIns="0" tIns="0" rIns="0" bIns="0" rtlCol="0" anchor="ctr"/>
          <a:lstStyle/>
          <a:p>
            <a:pPr marL="0" indent="0" algn="ctr">
              <a:buNone/>
            </a:pPr>
            <a:r>
              <a:rPr lang="en-US" sz="1000" b="1" dirty="0">
                <a:solidFill>
                  <a:srgbClr val="0D9488"/>
                </a:solidFill>
                <a:latin typeface="Calibri" pitchFamily="34" charset="0"/>
                <a:ea typeface="Calibri" pitchFamily="34" charset="-122"/>
                <a:cs typeface="Calibri" pitchFamily="34" charset="-120"/>
              </a:rPr>
              <a:t>5</a:t>
            </a:r>
            <a:endParaRPr lang="en-US" sz="1000" dirty="0"/>
          </a:p>
        </p:txBody>
      </p:sp>
      <p:sp>
        <p:nvSpPr>
          <p:cNvPr id="44" name="Text 42"/>
          <p:cNvSpPr/>
          <p:nvPr/>
        </p:nvSpPr>
        <p:spPr>
          <a:xfrm>
            <a:off x="1572768" y="3474720"/>
            <a:ext cx="2267712" cy="237744"/>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Cholesterol Level</a:t>
            </a:r>
            <a:endParaRPr lang="en-US" sz="1100" dirty="0"/>
          </a:p>
        </p:txBody>
      </p:sp>
      <p:sp>
        <p:nvSpPr>
          <p:cNvPr id="45" name="Text 43"/>
          <p:cNvSpPr/>
          <p:nvPr/>
        </p:nvSpPr>
        <p:spPr>
          <a:xfrm>
            <a:off x="1572768" y="3712464"/>
            <a:ext cx="2267712" cy="201168"/>
          </a:xfrm>
          <a:prstGeom prst="rect">
            <a:avLst/>
          </a:prstGeom>
          <a:noFill/>
          <a:ln/>
        </p:spPr>
        <p:txBody>
          <a:bodyPr wrap="square" lIns="0" tIns="0" rIns="0" bIns="0" rtlCol="0" anchor="ctr"/>
          <a:lstStyle/>
          <a:p>
            <a:pPr marL="0" indent="0">
              <a:buNone/>
            </a:pPr>
            <a:r>
              <a:rPr lang="en-US" sz="900" i="1" dirty="0">
                <a:solidFill>
                  <a:srgbClr val="0D9488"/>
                </a:solidFill>
                <a:latin typeface="Calibri" pitchFamily="34" charset="0"/>
                <a:ea typeface="Calibri" pitchFamily="34" charset="-122"/>
                <a:cs typeface="Calibri" pitchFamily="34" charset="-120"/>
              </a:rPr>
              <a:t>Number (mg/dL)</a:t>
            </a:r>
            <a:endParaRPr lang="en-US" sz="900" dirty="0"/>
          </a:p>
        </p:txBody>
      </p:sp>
      <p:sp>
        <p:nvSpPr>
          <p:cNvPr id="46" name="Text 44"/>
          <p:cNvSpPr/>
          <p:nvPr/>
        </p:nvSpPr>
        <p:spPr>
          <a:xfrm>
            <a:off x="4041648" y="3483864"/>
            <a:ext cx="2331720" cy="420624"/>
          </a:xfrm>
          <a:prstGeom prst="rect">
            <a:avLst/>
          </a:prstGeom>
          <a:noFill/>
          <a:ln/>
        </p:spPr>
        <p:txBody>
          <a:bodyPr wrap="square" lIns="0" tIns="0" rIns="0" bIns="0" rtlCol="0" anchor="t"/>
          <a:lstStyle/>
          <a:p>
            <a:pPr marL="0" indent="0">
              <a:buNone/>
            </a:pPr>
            <a:r>
              <a:rPr lang="en-US" sz="1000" dirty="0">
                <a:solidFill>
                  <a:srgbClr val="475569"/>
                </a:solidFill>
                <a:latin typeface="Calibri" pitchFamily="34" charset="0"/>
                <a:ea typeface="Calibri" pitchFamily="34" charset="-122"/>
                <a:cs typeface="Calibri" pitchFamily="34" charset="-120"/>
              </a:rPr>
              <a:t>Numeric value in mg/dL</a:t>
            </a:r>
            <a:endParaRPr lang="en-US" sz="1000" dirty="0"/>
          </a:p>
          <a:p>
            <a:pPr marL="0" indent="0">
              <a:buNone/>
            </a:pPr>
            <a:r>
              <a:rPr lang="en-US" sz="1000" dirty="0">
                <a:solidFill>
                  <a:srgbClr val="475569"/>
                </a:solidFill>
                <a:latin typeface="Calibri" pitchFamily="34" charset="0"/>
                <a:ea typeface="Calibri" pitchFamily="34" charset="-122"/>
                <a:cs typeface="Calibri" pitchFamily="34" charset="-120"/>
              </a:rPr>
              <a:t>(e.g. 150, 240, 350)</a:t>
            </a:r>
            <a:endParaRPr lang="en-US" sz="1000" dirty="0"/>
          </a:p>
        </p:txBody>
      </p:sp>
      <p:sp>
        <p:nvSpPr>
          <p:cNvPr id="47" name="Text 45"/>
          <p:cNvSpPr/>
          <p:nvPr/>
        </p:nvSpPr>
        <p:spPr>
          <a:xfrm>
            <a:off x="6565392" y="3483864"/>
            <a:ext cx="2423160" cy="420624"/>
          </a:xfrm>
          <a:prstGeom prst="rect">
            <a:avLst/>
          </a:prstGeom>
          <a:noFill/>
          <a:ln/>
        </p:spPr>
        <p:txBody>
          <a:bodyPr wrap="square" lIns="0" tIns="0" rIns="0" bIns="0" rtlCol="0" anchor="t"/>
          <a:lstStyle/>
          <a:p>
            <a:pPr marL="0" indent="0">
              <a:buNone/>
            </a:pPr>
            <a:r>
              <a:rPr lang="en-US" sz="1000" dirty="0">
                <a:solidFill>
                  <a:srgbClr val="1E293B"/>
                </a:solidFill>
                <a:latin typeface="Calibri" pitchFamily="34" charset="0"/>
                <a:ea typeface="Calibri" pitchFamily="34" charset="-122"/>
                <a:cs typeface="Calibri" pitchFamily="34" charset="-120"/>
              </a:rPr>
              <a:t>Serum cholesterol level. High LDL builds arterial plaque — key biomarker for heart disease</a:t>
            </a:r>
            <a:endParaRPr lang="en-US" sz="1000" dirty="0"/>
          </a:p>
        </p:txBody>
      </p:sp>
      <p:sp>
        <p:nvSpPr>
          <p:cNvPr id="48" name="Shape 46"/>
          <p:cNvSpPr/>
          <p:nvPr/>
        </p:nvSpPr>
        <p:spPr>
          <a:xfrm>
            <a:off x="256032" y="3950208"/>
            <a:ext cx="8732520" cy="566928"/>
          </a:xfrm>
          <a:prstGeom prst="rect">
            <a:avLst/>
          </a:prstGeom>
          <a:solidFill>
            <a:srgbClr val="F0FAF9"/>
          </a:solidFill>
          <a:ln w="12700">
            <a:solidFill>
              <a:srgbClr val="E2E8F0"/>
            </a:solidFill>
            <a:prstDash val="solid"/>
          </a:ln>
        </p:spPr>
        <p:txBody>
          <a:bodyPr/>
          <a:lstStyle/>
          <a:p>
            <a:endParaRPr lang="en-IN"/>
          </a:p>
        </p:txBody>
      </p:sp>
      <p:sp>
        <p:nvSpPr>
          <p:cNvPr id="49" name="Shape 47"/>
          <p:cNvSpPr/>
          <p:nvPr/>
        </p:nvSpPr>
        <p:spPr>
          <a:xfrm>
            <a:off x="256032" y="3950208"/>
            <a:ext cx="274320" cy="566928"/>
          </a:xfrm>
          <a:prstGeom prst="rect">
            <a:avLst/>
          </a:prstGeom>
          <a:solidFill>
            <a:srgbClr val="CCFBF1"/>
          </a:solidFill>
          <a:ln w="12700">
            <a:solidFill>
              <a:srgbClr val="0D9488"/>
            </a:solidFill>
            <a:prstDash val="solid"/>
          </a:ln>
        </p:spPr>
        <p:txBody>
          <a:bodyPr/>
          <a:lstStyle/>
          <a:p>
            <a:endParaRPr lang="en-IN"/>
          </a:p>
        </p:txBody>
      </p:sp>
      <p:sp>
        <p:nvSpPr>
          <p:cNvPr id="50" name="Text 48"/>
          <p:cNvSpPr/>
          <p:nvPr/>
        </p:nvSpPr>
        <p:spPr>
          <a:xfrm>
            <a:off x="256032" y="3950208"/>
            <a:ext cx="274320" cy="566928"/>
          </a:xfrm>
          <a:prstGeom prst="rect">
            <a:avLst/>
          </a:prstGeom>
          <a:noFill/>
          <a:ln/>
        </p:spPr>
        <p:txBody>
          <a:bodyPr wrap="square" lIns="0" tIns="0" rIns="0" bIns="0" rtlCol="0" anchor="ctr"/>
          <a:lstStyle/>
          <a:p>
            <a:pPr marL="0" indent="0" algn="ctr">
              <a:buNone/>
            </a:pPr>
            <a:r>
              <a:rPr lang="en-US" sz="1000" b="1" dirty="0">
                <a:solidFill>
                  <a:srgbClr val="0D9488"/>
                </a:solidFill>
                <a:latin typeface="Calibri" pitchFamily="34" charset="0"/>
                <a:ea typeface="Calibri" pitchFamily="34" charset="-122"/>
                <a:cs typeface="Calibri" pitchFamily="34" charset="-120"/>
              </a:rPr>
              <a:t>6</a:t>
            </a:r>
            <a:endParaRPr lang="en-US" sz="1000" dirty="0"/>
          </a:p>
        </p:txBody>
      </p:sp>
      <p:sp>
        <p:nvSpPr>
          <p:cNvPr id="51" name="Text 49"/>
          <p:cNvSpPr/>
          <p:nvPr/>
        </p:nvSpPr>
        <p:spPr>
          <a:xfrm>
            <a:off x="1572768" y="3986784"/>
            <a:ext cx="2267712" cy="237744"/>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High Fasting Blood Sugar</a:t>
            </a:r>
            <a:endParaRPr lang="en-US" sz="1100" dirty="0"/>
          </a:p>
        </p:txBody>
      </p:sp>
      <p:sp>
        <p:nvSpPr>
          <p:cNvPr id="52" name="Text 50"/>
          <p:cNvSpPr/>
          <p:nvPr/>
        </p:nvSpPr>
        <p:spPr>
          <a:xfrm>
            <a:off x="1572768" y="4224528"/>
            <a:ext cx="2267712" cy="201168"/>
          </a:xfrm>
          <a:prstGeom prst="rect">
            <a:avLst/>
          </a:prstGeom>
          <a:noFill/>
          <a:ln/>
        </p:spPr>
        <p:txBody>
          <a:bodyPr wrap="square" lIns="0" tIns="0" rIns="0" bIns="0" rtlCol="0" anchor="ctr"/>
          <a:lstStyle/>
          <a:p>
            <a:pPr marL="0" indent="0">
              <a:buNone/>
            </a:pPr>
            <a:r>
              <a:rPr lang="en-US" sz="900" i="1" dirty="0">
                <a:solidFill>
                  <a:srgbClr val="0D9488"/>
                </a:solidFill>
                <a:latin typeface="Calibri" pitchFamily="34" charset="0"/>
                <a:ea typeface="Calibri" pitchFamily="34" charset="-122"/>
                <a:cs typeface="Calibri" pitchFamily="34" charset="-120"/>
              </a:rPr>
              <a:t>Dropdown</a:t>
            </a:r>
            <a:endParaRPr lang="en-US" sz="900" dirty="0"/>
          </a:p>
        </p:txBody>
      </p:sp>
      <p:sp>
        <p:nvSpPr>
          <p:cNvPr id="53" name="Text 51"/>
          <p:cNvSpPr/>
          <p:nvPr/>
        </p:nvSpPr>
        <p:spPr>
          <a:xfrm>
            <a:off x="4041648" y="3995928"/>
            <a:ext cx="2331720" cy="475488"/>
          </a:xfrm>
          <a:prstGeom prst="rect">
            <a:avLst/>
          </a:prstGeom>
          <a:noFill/>
          <a:ln/>
        </p:spPr>
        <p:txBody>
          <a:bodyPr wrap="square" lIns="0" tIns="0" rIns="0" bIns="0" rtlCol="0" anchor="t"/>
          <a:lstStyle/>
          <a:p>
            <a:pPr marL="0" indent="0">
              <a:buNone/>
            </a:pPr>
            <a:r>
              <a:rPr lang="en-US" sz="1000" dirty="0">
                <a:solidFill>
                  <a:srgbClr val="475569"/>
                </a:solidFill>
                <a:latin typeface="Calibri" pitchFamily="34" charset="0"/>
                <a:ea typeface="Calibri" pitchFamily="34" charset="-122"/>
                <a:cs typeface="Calibri" pitchFamily="34" charset="-120"/>
              </a:rPr>
              <a:t>No  (≤ 120 mg/dL)</a:t>
            </a:r>
            <a:endParaRPr lang="en-US" sz="1000" dirty="0"/>
          </a:p>
          <a:p>
            <a:pPr marL="0" indent="0">
              <a:buNone/>
            </a:pPr>
            <a:r>
              <a:rPr lang="en-US" sz="1000" dirty="0">
                <a:solidFill>
                  <a:srgbClr val="475569"/>
                </a:solidFill>
                <a:latin typeface="Calibri" pitchFamily="34" charset="0"/>
                <a:ea typeface="Calibri" pitchFamily="34" charset="-122"/>
                <a:cs typeface="Calibri" pitchFamily="34" charset="-120"/>
              </a:rPr>
              <a:t>Yes  (&gt; 120 mg/dL)</a:t>
            </a:r>
            <a:endParaRPr lang="en-US" sz="1000" dirty="0"/>
          </a:p>
        </p:txBody>
      </p:sp>
      <p:sp>
        <p:nvSpPr>
          <p:cNvPr id="54" name="Text 52"/>
          <p:cNvSpPr/>
          <p:nvPr/>
        </p:nvSpPr>
        <p:spPr>
          <a:xfrm>
            <a:off x="6565392" y="3995928"/>
            <a:ext cx="2423160" cy="475488"/>
          </a:xfrm>
          <a:prstGeom prst="rect">
            <a:avLst/>
          </a:prstGeom>
          <a:noFill/>
          <a:ln/>
        </p:spPr>
        <p:txBody>
          <a:bodyPr wrap="square" lIns="0" tIns="0" rIns="0" bIns="0" rtlCol="0" anchor="t"/>
          <a:lstStyle/>
          <a:p>
            <a:pPr marL="0" indent="0">
              <a:buNone/>
            </a:pPr>
            <a:r>
              <a:rPr lang="en-US" sz="1000" dirty="0">
                <a:solidFill>
                  <a:srgbClr val="1E293B"/>
                </a:solidFill>
                <a:latin typeface="Calibri" pitchFamily="34" charset="0"/>
                <a:ea typeface="Calibri" pitchFamily="34" charset="-122"/>
                <a:cs typeface="Calibri" pitchFamily="34" charset="-120"/>
              </a:rPr>
              <a:t>Whether fasting blood sugar exceeds 120 mg/dL. Elevated glucose signals diabetes, doubling risk</a:t>
            </a:r>
            <a:endParaRPr lang="en-US" sz="1000" dirty="0"/>
          </a:p>
        </p:txBody>
      </p:sp>
      <p:sp>
        <p:nvSpPr>
          <p:cNvPr id="55" name="Shape 53"/>
          <p:cNvSpPr/>
          <p:nvPr/>
        </p:nvSpPr>
        <p:spPr>
          <a:xfrm>
            <a:off x="256032" y="4517136"/>
            <a:ext cx="8732520" cy="621792"/>
          </a:xfrm>
          <a:prstGeom prst="rect">
            <a:avLst/>
          </a:prstGeom>
          <a:solidFill>
            <a:srgbClr val="FFFFFF"/>
          </a:solidFill>
          <a:ln w="12700">
            <a:solidFill>
              <a:srgbClr val="E2E8F0"/>
            </a:solidFill>
            <a:prstDash val="solid"/>
          </a:ln>
        </p:spPr>
        <p:txBody>
          <a:bodyPr/>
          <a:lstStyle/>
          <a:p>
            <a:endParaRPr lang="en-IN"/>
          </a:p>
        </p:txBody>
      </p:sp>
      <p:sp>
        <p:nvSpPr>
          <p:cNvPr id="56" name="Shape 54"/>
          <p:cNvSpPr/>
          <p:nvPr/>
        </p:nvSpPr>
        <p:spPr>
          <a:xfrm>
            <a:off x="256032" y="4517136"/>
            <a:ext cx="274320" cy="621792"/>
          </a:xfrm>
          <a:prstGeom prst="rect">
            <a:avLst/>
          </a:prstGeom>
          <a:solidFill>
            <a:srgbClr val="CCFBF1"/>
          </a:solidFill>
          <a:ln w="12700">
            <a:solidFill>
              <a:srgbClr val="0D9488"/>
            </a:solidFill>
            <a:prstDash val="solid"/>
          </a:ln>
        </p:spPr>
        <p:txBody>
          <a:bodyPr/>
          <a:lstStyle/>
          <a:p>
            <a:endParaRPr lang="en-IN"/>
          </a:p>
        </p:txBody>
      </p:sp>
      <p:sp>
        <p:nvSpPr>
          <p:cNvPr id="57" name="Text 55"/>
          <p:cNvSpPr/>
          <p:nvPr/>
        </p:nvSpPr>
        <p:spPr>
          <a:xfrm>
            <a:off x="256032" y="4517136"/>
            <a:ext cx="274320" cy="621792"/>
          </a:xfrm>
          <a:prstGeom prst="rect">
            <a:avLst/>
          </a:prstGeom>
          <a:noFill/>
          <a:ln/>
        </p:spPr>
        <p:txBody>
          <a:bodyPr wrap="square" lIns="0" tIns="0" rIns="0" bIns="0" rtlCol="0" anchor="ctr"/>
          <a:lstStyle/>
          <a:p>
            <a:pPr marL="0" indent="0" algn="ctr">
              <a:buNone/>
            </a:pPr>
            <a:r>
              <a:rPr lang="en-US" sz="1000" b="1" dirty="0">
                <a:solidFill>
                  <a:srgbClr val="0D9488"/>
                </a:solidFill>
                <a:latin typeface="Calibri" pitchFamily="34" charset="0"/>
                <a:ea typeface="Calibri" pitchFamily="34" charset="-122"/>
                <a:cs typeface="Calibri" pitchFamily="34" charset="-120"/>
              </a:rPr>
              <a:t>7</a:t>
            </a:r>
            <a:endParaRPr lang="en-US" sz="1000" dirty="0"/>
          </a:p>
        </p:txBody>
      </p:sp>
      <p:sp>
        <p:nvSpPr>
          <p:cNvPr id="58" name="Text 56"/>
          <p:cNvSpPr/>
          <p:nvPr/>
        </p:nvSpPr>
        <p:spPr>
          <a:xfrm>
            <a:off x="1572768" y="4553712"/>
            <a:ext cx="2267712" cy="237744"/>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Resting ECG Result</a:t>
            </a:r>
            <a:endParaRPr lang="en-US" sz="1100" dirty="0"/>
          </a:p>
        </p:txBody>
      </p:sp>
      <p:sp>
        <p:nvSpPr>
          <p:cNvPr id="59" name="Text 57"/>
          <p:cNvSpPr/>
          <p:nvPr/>
        </p:nvSpPr>
        <p:spPr>
          <a:xfrm>
            <a:off x="1572768" y="4791456"/>
            <a:ext cx="2267712" cy="201168"/>
          </a:xfrm>
          <a:prstGeom prst="rect">
            <a:avLst/>
          </a:prstGeom>
          <a:noFill/>
          <a:ln/>
        </p:spPr>
        <p:txBody>
          <a:bodyPr wrap="square" lIns="0" tIns="0" rIns="0" bIns="0" rtlCol="0" anchor="ctr"/>
          <a:lstStyle/>
          <a:p>
            <a:pPr marL="0" indent="0">
              <a:buNone/>
            </a:pPr>
            <a:r>
              <a:rPr lang="en-US" sz="900" i="1" dirty="0">
                <a:solidFill>
                  <a:srgbClr val="0D9488"/>
                </a:solidFill>
                <a:latin typeface="Calibri" pitchFamily="34" charset="0"/>
                <a:ea typeface="Calibri" pitchFamily="34" charset="-122"/>
                <a:cs typeface="Calibri" pitchFamily="34" charset="-120"/>
              </a:rPr>
              <a:t>Dropdown</a:t>
            </a:r>
            <a:endParaRPr lang="en-US" sz="900" dirty="0"/>
          </a:p>
        </p:txBody>
      </p:sp>
      <p:sp>
        <p:nvSpPr>
          <p:cNvPr id="60" name="Text 58"/>
          <p:cNvSpPr/>
          <p:nvPr/>
        </p:nvSpPr>
        <p:spPr>
          <a:xfrm>
            <a:off x="4041648" y="4562856"/>
            <a:ext cx="2331720" cy="530352"/>
          </a:xfrm>
          <a:prstGeom prst="rect">
            <a:avLst/>
          </a:prstGeom>
          <a:noFill/>
          <a:ln/>
        </p:spPr>
        <p:txBody>
          <a:bodyPr wrap="square" lIns="0" tIns="0" rIns="0" bIns="0" rtlCol="0" anchor="t"/>
          <a:lstStyle/>
          <a:p>
            <a:pPr marL="0" indent="0">
              <a:buNone/>
            </a:pPr>
            <a:r>
              <a:rPr lang="en-US" sz="1000" dirty="0">
                <a:solidFill>
                  <a:srgbClr val="475569"/>
                </a:solidFill>
                <a:latin typeface="Calibri" pitchFamily="34" charset="0"/>
                <a:ea typeface="Calibri" pitchFamily="34" charset="-122"/>
                <a:cs typeface="Calibri" pitchFamily="34" charset="-120"/>
              </a:rPr>
              <a:t>Normal</a:t>
            </a:r>
            <a:endParaRPr lang="en-US" sz="1000" dirty="0"/>
          </a:p>
          <a:p>
            <a:pPr marL="0" indent="0">
              <a:buNone/>
            </a:pPr>
            <a:r>
              <a:rPr lang="en-US" sz="1000" dirty="0">
                <a:solidFill>
                  <a:srgbClr val="475569"/>
                </a:solidFill>
                <a:latin typeface="Calibri" pitchFamily="34" charset="0"/>
                <a:ea typeface="Calibri" pitchFamily="34" charset="-122"/>
                <a:cs typeface="Calibri" pitchFamily="34" charset="-120"/>
              </a:rPr>
              <a:t>ST-T Abnormality</a:t>
            </a:r>
            <a:endParaRPr lang="en-US" sz="1000" dirty="0"/>
          </a:p>
          <a:p>
            <a:pPr marL="0" indent="0">
              <a:buNone/>
            </a:pPr>
            <a:r>
              <a:rPr lang="en-US" sz="1000" dirty="0">
                <a:solidFill>
                  <a:srgbClr val="475569"/>
                </a:solidFill>
                <a:latin typeface="Calibri" pitchFamily="34" charset="0"/>
                <a:ea typeface="Calibri" pitchFamily="34" charset="-122"/>
                <a:cs typeface="Calibri" pitchFamily="34" charset="-120"/>
              </a:rPr>
              <a:t>LV Hypertrophy</a:t>
            </a:r>
            <a:endParaRPr lang="en-US" sz="1000" dirty="0"/>
          </a:p>
        </p:txBody>
      </p:sp>
      <p:sp>
        <p:nvSpPr>
          <p:cNvPr id="61" name="Text 59"/>
          <p:cNvSpPr/>
          <p:nvPr/>
        </p:nvSpPr>
        <p:spPr>
          <a:xfrm>
            <a:off x="6565392" y="4562856"/>
            <a:ext cx="2423160" cy="530352"/>
          </a:xfrm>
          <a:prstGeom prst="rect">
            <a:avLst/>
          </a:prstGeom>
          <a:noFill/>
          <a:ln/>
        </p:spPr>
        <p:txBody>
          <a:bodyPr wrap="square" lIns="0" tIns="0" rIns="0" bIns="0" rtlCol="0" anchor="t"/>
          <a:lstStyle/>
          <a:p>
            <a:pPr marL="0" indent="0">
              <a:buNone/>
            </a:pPr>
            <a:r>
              <a:rPr lang="en-US" sz="1000" dirty="0">
                <a:solidFill>
                  <a:srgbClr val="1E293B"/>
                </a:solidFill>
                <a:latin typeface="Calibri" pitchFamily="34" charset="0"/>
                <a:ea typeface="Calibri" pitchFamily="34" charset="-122"/>
                <a:cs typeface="Calibri" pitchFamily="34" charset="-120"/>
              </a:rPr>
              <a:t>Electrocardiogram result at rest. ST-T wave abnormalities or left ventricular hypertrophy signal cardiac stress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9488"/>
          </a:solidFill>
          <a:ln w="12700">
            <a:solidFill>
              <a:srgbClr val="0D9488"/>
            </a:solidFill>
            <a:prstDash val="solid"/>
          </a:ln>
        </p:spPr>
        <p:txBody>
          <a:bodyPr/>
          <a:lstStyle/>
          <a:p>
            <a:endParaRPr lang="en-IN"/>
          </a:p>
        </p:txBody>
      </p:sp>
      <p:sp>
        <p:nvSpPr>
          <p:cNvPr id="3" name="Text 1"/>
          <p:cNvSpPr/>
          <p:nvPr/>
        </p:nvSpPr>
        <p:spPr>
          <a:xfrm>
            <a:off x="320040" y="0"/>
            <a:ext cx="850392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Dataset Parameters — Features</a:t>
            </a:r>
            <a:endParaRPr lang="en-US" sz="2200" dirty="0"/>
          </a:p>
        </p:txBody>
      </p:sp>
      <p:sp>
        <p:nvSpPr>
          <p:cNvPr id="4" name="Shape 2"/>
          <p:cNvSpPr/>
          <p:nvPr/>
        </p:nvSpPr>
        <p:spPr>
          <a:xfrm>
            <a:off x="0" y="5184648"/>
            <a:ext cx="9144000" cy="73152"/>
          </a:xfrm>
          <a:prstGeom prst="rect">
            <a:avLst/>
          </a:prstGeom>
          <a:solidFill>
            <a:srgbClr val="CCFBF1"/>
          </a:solidFill>
          <a:ln w="12700">
            <a:solidFill>
              <a:srgbClr val="CCFBF1"/>
            </a:solidFill>
            <a:prstDash val="solid"/>
          </a:ln>
        </p:spPr>
        <p:txBody>
          <a:bodyPr/>
          <a:lstStyle/>
          <a:p>
            <a:endParaRPr lang="en-IN"/>
          </a:p>
        </p:txBody>
      </p:sp>
      <p:sp>
        <p:nvSpPr>
          <p:cNvPr id="5" name="Shape 3"/>
          <p:cNvSpPr/>
          <p:nvPr/>
        </p:nvSpPr>
        <p:spPr>
          <a:xfrm>
            <a:off x="256032" y="749808"/>
            <a:ext cx="274320" cy="329184"/>
          </a:xfrm>
          <a:prstGeom prst="rect">
            <a:avLst/>
          </a:prstGeom>
          <a:solidFill>
            <a:srgbClr val="0D9488"/>
          </a:solidFill>
          <a:ln w="12700">
            <a:solidFill>
              <a:srgbClr val="0D9488"/>
            </a:solidFill>
            <a:prstDash val="solid"/>
          </a:ln>
        </p:spPr>
        <p:txBody>
          <a:bodyPr/>
          <a:lstStyle/>
          <a:p>
            <a:endParaRPr lang="en-IN"/>
          </a:p>
        </p:txBody>
      </p:sp>
      <p:sp>
        <p:nvSpPr>
          <p:cNvPr id="6" name="Text 4"/>
          <p:cNvSpPr/>
          <p:nvPr/>
        </p:nvSpPr>
        <p:spPr>
          <a:xfrm>
            <a:off x="310896" y="749808"/>
            <a:ext cx="201168" cy="329184"/>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7" name="Shape 5"/>
          <p:cNvSpPr/>
          <p:nvPr/>
        </p:nvSpPr>
        <p:spPr>
          <a:xfrm>
            <a:off x="1572768" y="749808"/>
            <a:ext cx="2286000" cy="329184"/>
          </a:xfrm>
          <a:prstGeom prst="rect">
            <a:avLst/>
          </a:prstGeom>
          <a:solidFill>
            <a:srgbClr val="0D9488"/>
          </a:solidFill>
          <a:ln w="12700">
            <a:solidFill>
              <a:srgbClr val="0D9488"/>
            </a:solidFill>
            <a:prstDash val="solid"/>
          </a:ln>
        </p:spPr>
        <p:txBody>
          <a:bodyPr/>
          <a:lstStyle/>
          <a:p>
            <a:endParaRPr lang="en-IN"/>
          </a:p>
        </p:txBody>
      </p:sp>
      <p:sp>
        <p:nvSpPr>
          <p:cNvPr id="8" name="Text 6"/>
          <p:cNvSpPr/>
          <p:nvPr/>
        </p:nvSpPr>
        <p:spPr>
          <a:xfrm>
            <a:off x="1627632" y="749808"/>
            <a:ext cx="2212848" cy="329184"/>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Parameter Name</a:t>
            </a:r>
            <a:endParaRPr lang="en-US" sz="1050" dirty="0"/>
          </a:p>
        </p:txBody>
      </p:sp>
      <p:sp>
        <p:nvSpPr>
          <p:cNvPr id="9" name="Shape 7"/>
          <p:cNvSpPr/>
          <p:nvPr/>
        </p:nvSpPr>
        <p:spPr>
          <a:xfrm>
            <a:off x="4041648" y="749808"/>
            <a:ext cx="2331720" cy="329184"/>
          </a:xfrm>
          <a:prstGeom prst="rect">
            <a:avLst/>
          </a:prstGeom>
          <a:solidFill>
            <a:srgbClr val="0D9488"/>
          </a:solidFill>
          <a:ln w="12700">
            <a:solidFill>
              <a:srgbClr val="0D9488"/>
            </a:solidFill>
            <a:prstDash val="solid"/>
          </a:ln>
        </p:spPr>
        <p:txBody>
          <a:bodyPr/>
          <a:lstStyle/>
          <a:p>
            <a:endParaRPr lang="en-IN"/>
          </a:p>
        </p:txBody>
      </p:sp>
      <p:sp>
        <p:nvSpPr>
          <p:cNvPr id="10" name="Text 8"/>
          <p:cNvSpPr/>
          <p:nvPr/>
        </p:nvSpPr>
        <p:spPr>
          <a:xfrm>
            <a:off x="4096512" y="749808"/>
            <a:ext cx="2258568" cy="329184"/>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Options / Range</a:t>
            </a:r>
            <a:endParaRPr lang="en-US" sz="1050" dirty="0"/>
          </a:p>
        </p:txBody>
      </p:sp>
      <p:sp>
        <p:nvSpPr>
          <p:cNvPr id="11" name="Shape 9"/>
          <p:cNvSpPr/>
          <p:nvPr/>
        </p:nvSpPr>
        <p:spPr>
          <a:xfrm>
            <a:off x="6565392" y="749808"/>
            <a:ext cx="2423160" cy="329184"/>
          </a:xfrm>
          <a:prstGeom prst="rect">
            <a:avLst/>
          </a:prstGeom>
          <a:solidFill>
            <a:srgbClr val="0D9488"/>
          </a:solidFill>
          <a:ln w="12700">
            <a:solidFill>
              <a:srgbClr val="0D9488"/>
            </a:solidFill>
            <a:prstDash val="solid"/>
          </a:ln>
        </p:spPr>
        <p:txBody>
          <a:bodyPr/>
          <a:lstStyle/>
          <a:p>
            <a:endParaRPr lang="en-IN"/>
          </a:p>
        </p:txBody>
      </p:sp>
      <p:sp>
        <p:nvSpPr>
          <p:cNvPr id="12" name="Text 10"/>
          <p:cNvSpPr/>
          <p:nvPr/>
        </p:nvSpPr>
        <p:spPr>
          <a:xfrm>
            <a:off x="6620256" y="749808"/>
            <a:ext cx="2350008" cy="329184"/>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Clinical Meaning</a:t>
            </a:r>
            <a:endParaRPr lang="en-US" sz="1050" dirty="0"/>
          </a:p>
        </p:txBody>
      </p:sp>
      <p:sp>
        <p:nvSpPr>
          <p:cNvPr id="13" name="Shape 11"/>
          <p:cNvSpPr/>
          <p:nvPr/>
        </p:nvSpPr>
        <p:spPr>
          <a:xfrm>
            <a:off x="256032" y="1097280"/>
            <a:ext cx="8732520" cy="0"/>
          </a:xfrm>
          <a:prstGeom prst="rect">
            <a:avLst/>
          </a:prstGeom>
          <a:solidFill>
            <a:srgbClr val="FFFFFF"/>
          </a:solidFill>
          <a:ln w="12700">
            <a:solidFill>
              <a:srgbClr val="FFFFFF"/>
            </a:solidFill>
            <a:prstDash val="solid"/>
          </a:ln>
        </p:spPr>
        <p:txBody>
          <a:bodyPr/>
          <a:lstStyle/>
          <a:p>
            <a:endParaRPr lang="en-IN"/>
          </a:p>
        </p:txBody>
      </p:sp>
      <p:sp>
        <p:nvSpPr>
          <p:cNvPr id="14" name="Shape 12"/>
          <p:cNvSpPr/>
          <p:nvPr/>
        </p:nvSpPr>
        <p:spPr>
          <a:xfrm>
            <a:off x="256032" y="1152144"/>
            <a:ext cx="8732520" cy="512064"/>
          </a:xfrm>
          <a:prstGeom prst="rect">
            <a:avLst/>
          </a:prstGeom>
          <a:solidFill>
            <a:srgbClr val="FFFFFF"/>
          </a:solidFill>
          <a:ln w="12700">
            <a:solidFill>
              <a:srgbClr val="E2E8F0"/>
            </a:solidFill>
            <a:prstDash val="solid"/>
          </a:ln>
        </p:spPr>
        <p:txBody>
          <a:bodyPr/>
          <a:lstStyle/>
          <a:p>
            <a:endParaRPr lang="en-IN"/>
          </a:p>
        </p:txBody>
      </p:sp>
      <p:sp>
        <p:nvSpPr>
          <p:cNvPr id="15" name="Shape 13"/>
          <p:cNvSpPr/>
          <p:nvPr/>
        </p:nvSpPr>
        <p:spPr>
          <a:xfrm>
            <a:off x="256032" y="1152144"/>
            <a:ext cx="274320" cy="512064"/>
          </a:xfrm>
          <a:prstGeom prst="rect">
            <a:avLst/>
          </a:prstGeom>
          <a:solidFill>
            <a:srgbClr val="CCFBF1"/>
          </a:solidFill>
          <a:ln w="12700">
            <a:solidFill>
              <a:srgbClr val="0D9488"/>
            </a:solidFill>
            <a:prstDash val="solid"/>
          </a:ln>
        </p:spPr>
        <p:txBody>
          <a:bodyPr/>
          <a:lstStyle/>
          <a:p>
            <a:endParaRPr lang="en-IN"/>
          </a:p>
        </p:txBody>
      </p:sp>
      <p:sp>
        <p:nvSpPr>
          <p:cNvPr id="16" name="Text 14"/>
          <p:cNvSpPr/>
          <p:nvPr/>
        </p:nvSpPr>
        <p:spPr>
          <a:xfrm>
            <a:off x="256032" y="1152144"/>
            <a:ext cx="274320" cy="512064"/>
          </a:xfrm>
          <a:prstGeom prst="rect">
            <a:avLst/>
          </a:prstGeom>
          <a:noFill/>
          <a:ln/>
        </p:spPr>
        <p:txBody>
          <a:bodyPr wrap="square" lIns="0" tIns="0" rIns="0" bIns="0" rtlCol="0" anchor="ctr"/>
          <a:lstStyle/>
          <a:p>
            <a:pPr marL="0" indent="0" algn="ctr">
              <a:buNone/>
            </a:pPr>
            <a:r>
              <a:rPr lang="en-US" sz="1000" b="1" dirty="0">
                <a:solidFill>
                  <a:srgbClr val="0D9488"/>
                </a:solidFill>
                <a:latin typeface="Calibri" pitchFamily="34" charset="0"/>
                <a:ea typeface="Calibri" pitchFamily="34" charset="-122"/>
                <a:cs typeface="Calibri" pitchFamily="34" charset="-120"/>
              </a:rPr>
              <a:t>8</a:t>
            </a:r>
            <a:endParaRPr lang="en-US" sz="1000" dirty="0"/>
          </a:p>
        </p:txBody>
      </p:sp>
      <p:sp>
        <p:nvSpPr>
          <p:cNvPr id="17" name="Text 15"/>
          <p:cNvSpPr/>
          <p:nvPr/>
        </p:nvSpPr>
        <p:spPr>
          <a:xfrm>
            <a:off x="1572768" y="1188720"/>
            <a:ext cx="2267712" cy="237744"/>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Max Heart Rate</a:t>
            </a:r>
            <a:endParaRPr lang="en-US" sz="1100" dirty="0"/>
          </a:p>
        </p:txBody>
      </p:sp>
      <p:sp>
        <p:nvSpPr>
          <p:cNvPr id="18" name="Text 16"/>
          <p:cNvSpPr/>
          <p:nvPr/>
        </p:nvSpPr>
        <p:spPr>
          <a:xfrm>
            <a:off x="1572768" y="1426464"/>
            <a:ext cx="2267712" cy="201168"/>
          </a:xfrm>
          <a:prstGeom prst="rect">
            <a:avLst/>
          </a:prstGeom>
          <a:noFill/>
          <a:ln/>
        </p:spPr>
        <p:txBody>
          <a:bodyPr wrap="square" lIns="0" tIns="0" rIns="0" bIns="0" rtlCol="0" anchor="ctr"/>
          <a:lstStyle/>
          <a:p>
            <a:pPr marL="0" indent="0">
              <a:buNone/>
            </a:pPr>
            <a:r>
              <a:rPr lang="en-US" sz="900" i="1" dirty="0">
                <a:solidFill>
                  <a:srgbClr val="0D9488"/>
                </a:solidFill>
                <a:latin typeface="Calibri" pitchFamily="34" charset="0"/>
                <a:ea typeface="Calibri" pitchFamily="34" charset="-122"/>
                <a:cs typeface="Calibri" pitchFamily="34" charset="-120"/>
              </a:rPr>
              <a:t>Number (bpm)</a:t>
            </a:r>
            <a:endParaRPr lang="en-US" sz="900" dirty="0"/>
          </a:p>
        </p:txBody>
      </p:sp>
      <p:sp>
        <p:nvSpPr>
          <p:cNvPr id="19" name="Text 17"/>
          <p:cNvSpPr/>
          <p:nvPr/>
        </p:nvSpPr>
        <p:spPr>
          <a:xfrm>
            <a:off x="4041648" y="1197864"/>
            <a:ext cx="2331720" cy="420624"/>
          </a:xfrm>
          <a:prstGeom prst="rect">
            <a:avLst/>
          </a:prstGeom>
          <a:noFill/>
          <a:ln/>
        </p:spPr>
        <p:txBody>
          <a:bodyPr wrap="square" lIns="0" tIns="0" rIns="0" bIns="0" rtlCol="0" anchor="t"/>
          <a:lstStyle/>
          <a:p>
            <a:pPr marL="0" indent="0">
              <a:buNone/>
            </a:pPr>
            <a:r>
              <a:rPr lang="en-US" sz="1000" dirty="0">
                <a:solidFill>
                  <a:srgbClr val="475569"/>
                </a:solidFill>
                <a:latin typeface="Calibri" pitchFamily="34" charset="0"/>
                <a:ea typeface="Calibri" pitchFamily="34" charset="-122"/>
                <a:cs typeface="Calibri" pitchFamily="34" charset="-120"/>
              </a:rPr>
              <a:t>Numeric value in bpm</a:t>
            </a:r>
            <a:endParaRPr lang="en-US" sz="1000" dirty="0"/>
          </a:p>
          <a:p>
            <a:pPr marL="0" indent="0">
              <a:buNone/>
            </a:pPr>
            <a:r>
              <a:rPr lang="en-US" sz="1000" dirty="0">
                <a:solidFill>
                  <a:srgbClr val="475569"/>
                </a:solidFill>
                <a:latin typeface="Calibri" pitchFamily="34" charset="0"/>
                <a:ea typeface="Calibri" pitchFamily="34" charset="-122"/>
                <a:cs typeface="Calibri" pitchFamily="34" charset="-120"/>
              </a:rPr>
              <a:t>(e.g. 100, 150, 190)</a:t>
            </a:r>
            <a:endParaRPr lang="en-US" sz="1000" dirty="0"/>
          </a:p>
        </p:txBody>
      </p:sp>
      <p:sp>
        <p:nvSpPr>
          <p:cNvPr id="20" name="Text 18"/>
          <p:cNvSpPr/>
          <p:nvPr/>
        </p:nvSpPr>
        <p:spPr>
          <a:xfrm>
            <a:off x="6565392" y="1197864"/>
            <a:ext cx="2423160" cy="420624"/>
          </a:xfrm>
          <a:prstGeom prst="rect">
            <a:avLst/>
          </a:prstGeom>
          <a:noFill/>
          <a:ln/>
        </p:spPr>
        <p:txBody>
          <a:bodyPr wrap="square" lIns="0" tIns="0" rIns="0" bIns="0" rtlCol="0" anchor="t"/>
          <a:lstStyle/>
          <a:p>
            <a:pPr marL="0" indent="0">
              <a:buNone/>
            </a:pPr>
            <a:r>
              <a:rPr lang="en-US" sz="1000" dirty="0">
                <a:solidFill>
                  <a:srgbClr val="1E293B"/>
                </a:solidFill>
                <a:latin typeface="Calibri" pitchFamily="34" charset="0"/>
                <a:ea typeface="Calibri" pitchFamily="34" charset="-122"/>
                <a:cs typeface="Calibri" pitchFamily="34" charset="-120"/>
              </a:rPr>
              <a:t>Maximum heart rate achieved during exercise test. Lower max HR often indicates poor cardiac function</a:t>
            </a:r>
            <a:endParaRPr lang="en-US" sz="1000" dirty="0"/>
          </a:p>
        </p:txBody>
      </p:sp>
      <p:sp>
        <p:nvSpPr>
          <p:cNvPr id="21" name="Shape 19"/>
          <p:cNvSpPr/>
          <p:nvPr/>
        </p:nvSpPr>
        <p:spPr>
          <a:xfrm>
            <a:off x="256032" y="1664208"/>
            <a:ext cx="8732520" cy="512064"/>
          </a:xfrm>
          <a:prstGeom prst="rect">
            <a:avLst/>
          </a:prstGeom>
          <a:solidFill>
            <a:srgbClr val="F0FAF9"/>
          </a:solidFill>
          <a:ln w="12700">
            <a:solidFill>
              <a:srgbClr val="E2E8F0"/>
            </a:solidFill>
            <a:prstDash val="solid"/>
          </a:ln>
        </p:spPr>
        <p:txBody>
          <a:bodyPr/>
          <a:lstStyle/>
          <a:p>
            <a:endParaRPr lang="en-IN"/>
          </a:p>
        </p:txBody>
      </p:sp>
      <p:sp>
        <p:nvSpPr>
          <p:cNvPr id="22" name="Shape 20"/>
          <p:cNvSpPr/>
          <p:nvPr/>
        </p:nvSpPr>
        <p:spPr>
          <a:xfrm>
            <a:off x="256032" y="1664208"/>
            <a:ext cx="274320" cy="512064"/>
          </a:xfrm>
          <a:prstGeom prst="rect">
            <a:avLst/>
          </a:prstGeom>
          <a:solidFill>
            <a:srgbClr val="CCFBF1"/>
          </a:solidFill>
          <a:ln w="12700">
            <a:solidFill>
              <a:srgbClr val="0D9488"/>
            </a:solidFill>
            <a:prstDash val="solid"/>
          </a:ln>
        </p:spPr>
        <p:txBody>
          <a:bodyPr/>
          <a:lstStyle/>
          <a:p>
            <a:endParaRPr lang="en-IN"/>
          </a:p>
        </p:txBody>
      </p:sp>
      <p:sp>
        <p:nvSpPr>
          <p:cNvPr id="23" name="Text 21"/>
          <p:cNvSpPr/>
          <p:nvPr/>
        </p:nvSpPr>
        <p:spPr>
          <a:xfrm>
            <a:off x="256032" y="1664208"/>
            <a:ext cx="274320" cy="512064"/>
          </a:xfrm>
          <a:prstGeom prst="rect">
            <a:avLst/>
          </a:prstGeom>
          <a:noFill/>
          <a:ln/>
        </p:spPr>
        <p:txBody>
          <a:bodyPr wrap="square" lIns="0" tIns="0" rIns="0" bIns="0" rtlCol="0" anchor="ctr"/>
          <a:lstStyle/>
          <a:p>
            <a:pPr marL="0" indent="0" algn="ctr">
              <a:buNone/>
            </a:pPr>
            <a:r>
              <a:rPr lang="en-US" sz="1000" b="1" dirty="0">
                <a:solidFill>
                  <a:srgbClr val="0D9488"/>
                </a:solidFill>
                <a:latin typeface="Calibri" pitchFamily="34" charset="0"/>
                <a:ea typeface="Calibri" pitchFamily="34" charset="-122"/>
                <a:cs typeface="Calibri" pitchFamily="34" charset="-120"/>
              </a:rPr>
              <a:t>9</a:t>
            </a:r>
            <a:endParaRPr lang="en-US" sz="1000" dirty="0"/>
          </a:p>
        </p:txBody>
      </p:sp>
      <p:sp>
        <p:nvSpPr>
          <p:cNvPr id="24" name="Text 22"/>
          <p:cNvSpPr/>
          <p:nvPr/>
        </p:nvSpPr>
        <p:spPr>
          <a:xfrm>
            <a:off x="1572768" y="1700784"/>
            <a:ext cx="2267712" cy="237744"/>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Exercise-Induced Angina</a:t>
            </a:r>
            <a:endParaRPr lang="en-US" sz="1100" dirty="0"/>
          </a:p>
        </p:txBody>
      </p:sp>
      <p:sp>
        <p:nvSpPr>
          <p:cNvPr id="25" name="Text 23"/>
          <p:cNvSpPr/>
          <p:nvPr/>
        </p:nvSpPr>
        <p:spPr>
          <a:xfrm>
            <a:off x="1572768" y="1938528"/>
            <a:ext cx="2267712" cy="201168"/>
          </a:xfrm>
          <a:prstGeom prst="rect">
            <a:avLst/>
          </a:prstGeom>
          <a:noFill/>
          <a:ln/>
        </p:spPr>
        <p:txBody>
          <a:bodyPr wrap="square" lIns="0" tIns="0" rIns="0" bIns="0" rtlCol="0" anchor="ctr"/>
          <a:lstStyle/>
          <a:p>
            <a:pPr marL="0" indent="0">
              <a:buNone/>
            </a:pPr>
            <a:r>
              <a:rPr lang="en-US" sz="900" i="1" dirty="0">
                <a:solidFill>
                  <a:srgbClr val="0D9488"/>
                </a:solidFill>
                <a:latin typeface="Calibri" pitchFamily="34" charset="0"/>
                <a:ea typeface="Calibri" pitchFamily="34" charset="-122"/>
                <a:cs typeface="Calibri" pitchFamily="34" charset="-120"/>
              </a:rPr>
              <a:t>Dropdown</a:t>
            </a:r>
            <a:endParaRPr lang="en-US" sz="900" dirty="0"/>
          </a:p>
        </p:txBody>
      </p:sp>
      <p:sp>
        <p:nvSpPr>
          <p:cNvPr id="26" name="Text 24"/>
          <p:cNvSpPr/>
          <p:nvPr/>
        </p:nvSpPr>
        <p:spPr>
          <a:xfrm>
            <a:off x="4041648" y="1709928"/>
            <a:ext cx="2331720" cy="420624"/>
          </a:xfrm>
          <a:prstGeom prst="rect">
            <a:avLst/>
          </a:prstGeom>
          <a:noFill/>
          <a:ln/>
        </p:spPr>
        <p:txBody>
          <a:bodyPr wrap="square" lIns="0" tIns="0" rIns="0" bIns="0" rtlCol="0" anchor="t"/>
          <a:lstStyle/>
          <a:p>
            <a:pPr marL="0" indent="0">
              <a:buNone/>
            </a:pPr>
            <a:r>
              <a:rPr lang="en-US" sz="1000" dirty="0">
                <a:solidFill>
                  <a:srgbClr val="475569"/>
                </a:solidFill>
                <a:latin typeface="Calibri" pitchFamily="34" charset="0"/>
                <a:ea typeface="Calibri" pitchFamily="34" charset="-122"/>
                <a:cs typeface="Calibri" pitchFamily="34" charset="-120"/>
              </a:rPr>
              <a:t>No</a:t>
            </a:r>
            <a:endParaRPr lang="en-US" sz="1000" dirty="0"/>
          </a:p>
          <a:p>
            <a:pPr marL="0" indent="0">
              <a:buNone/>
            </a:pPr>
            <a:r>
              <a:rPr lang="en-US" sz="1000" dirty="0">
                <a:solidFill>
                  <a:srgbClr val="475569"/>
                </a:solidFill>
                <a:latin typeface="Calibri" pitchFamily="34" charset="0"/>
                <a:ea typeface="Calibri" pitchFamily="34" charset="-122"/>
                <a:cs typeface="Calibri" pitchFamily="34" charset="-120"/>
              </a:rPr>
              <a:t>Yes</a:t>
            </a:r>
            <a:endParaRPr lang="en-US" sz="1000" dirty="0"/>
          </a:p>
        </p:txBody>
      </p:sp>
      <p:sp>
        <p:nvSpPr>
          <p:cNvPr id="27" name="Text 25"/>
          <p:cNvSpPr/>
          <p:nvPr/>
        </p:nvSpPr>
        <p:spPr>
          <a:xfrm>
            <a:off x="6565392" y="1709928"/>
            <a:ext cx="2423160" cy="420624"/>
          </a:xfrm>
          <a:prstGeom prst="rect">
            <a:avLst/>
          </a:prstGeom>
          <a:noFill/>
          <a:ln/>
        </p:spPr>
        <p:txBody>
          <a:bodyPr wrap="square" lIns="0" tIns="0" rIns="0" bIns="0" rtlCol="0" anchor="t"/>
          <a:lstStyle/>
          <a:p>
            <a:pPr marL="0" indent="0">
              <a:buNone/>
            </a:pPr>
            <a:r>
              <a:rPr lang="en-US" sz="1000" dirty="0">
                <a:solidFill>
                  <a:srgbClr val="1E293B"/>
                </a:solidFill>
                <a:latin typeface="Calibri" pitchFamily="34" charset="0"/>
                <a:ea typeface="Calibri" pitchFamily="34" charset="-122"/>
                <a:cs typeface="Calibri" pitchFamily="34" charset="-120"/>
              </a:rPr>
              <a:t>Indicates chest pain triggered by exercise. Strongly suggests coronary artery blockage</a:t>
            </a:r>
            <a:endParaRPr lang="en-US" sz="1000" dirty="0"/>
          </a:p>
        </p:txBody>
      </p:sp>
      <p:sp>
        <p:nvSpPr>
          <p:cNvPr id="28" name="Shape 26"/>
          <p:cNvSpPr/>
          <p:nvPr/>
        </p:nvSpPr>
        <p:spPr>
          <a:xfrm>
            <a:off x="256032" y="2176272"/>
            <a:ext cx="8732520" cy="566928"/>
          </a:xfrm>
          <a:prstGeom prst="rect">
            <a:avLst/>
          </a:prstGeom>
          <a:solidFill>
            <a:srgbClr val="FFFFFF"/>
          </a:solidFill>
          <a:ln w="12700">
            <a:solidFill>
              <a:srgbClr val="E2E8F0"/>
            </a:solidFill>
            <a:prstDash val="solid"/>
          </a:ln>
        </p:spPr>
        <p:txBody>
          <a:bodyPr/>
          <a:lstStyle/>
          <a:p>
            <a:endParaRPr lang="en-IN"/>
          </a:p>
        </p:txBody>
      </p:sp>
      <p:sp>
        <p:nvSpPr>
          <p:cNvPr id="29" name="Shape 27"/>
          <p:cNvSpPr/>
          <p:nvPr/>
        </p:nvSpPr>
        <p:spPr>
          <a:xfrm>
            <a:off x="256032" y="2176272"/>
            <a:ext cx="274320" cy="566928"/>
          </a:xfrm>
          <a:prstGeom prst="rect">
            <a:avLst/>
          </a:prstGeom>
          <a:solidFill>
            <a:srgbClr val="CCFBF1"/>
          </a:solidFill>
          <a:ln w="12700">
            <a:solidFill>
              <a:srgbClr val="0D9488"/>
            </a:solidFill>
            <a:prstDash val="solid"/>
          </a:ln>
        </p:spPr>
        <p:txBody>
          <a:bodyPr/>
          <a:lstStyle/>
          <a:p>
            <a:endParaRPr lang="en-IN"/>
          </a:p>
        </p:txBody>
      </p:sp>
      <p:sp>
        <p:nvSpPr>
          <p:cNvPr id="30" name="Text 28"/>
          <p:cNvSpPr/>
          <p:nvPr/>
        </p:nvSpPr>
        <p:spPr>
          <a:xfrm>
            <a:off x="256032" y="2176272"/>
            <a:ext cx="274320" cy="566928"/>
          </a:xfrm>
          <a:prstGeom prst="rect">
            <a:avLst/>
          </a:prstGeom>
          <a:noFill/>
          <a:ln/>
        </p:spPr>
        <p:txBody>
          <a:bodyPr wrap="square" lIns="0" tIns="0" rIns="0" bIns="0" rtlCol="0" anchor="ctr"/>
          <a:lstStyle/>
          <a:p>
            <a:pPr marL="0" indent="0" algn="ctr">
              <a:buNone/>
            </a:pPr>
            <a:r>
              <a:rPr lang="en-US" sz="1000" b="1" dirty="0">
                <a:solidFill>
                  <a:srgbClr val="0D9488"/>
                </a:solidFill>
                <a:latin typeface="Calibri" pitchFamily="34" charset="0"/>
                <a:ea typeface="Calibri" pitchFamily="34" charset="-122"/>
                <a:cs typeface="Calibri" pitchFamily="34" charset="-120"/>
              </a:rPr>
              <a:t>10</a:t>
            </a:r>
            <a:endParaRPr lang="en-US" sz="1000" dirty="0"/>
          </a:p>
        </p:txBody>
      </p:sp>
      <p:sp>
        <p:nvSpPr>
          <p:cNvPr id="31" name="Text 29"/>
          <p:cNvSpPr/>
          <p:nvPr/>
        </p:nvSpPr>
        <p:spPr>
          <a:xfrm>
            <a:off x="1572768" y="2212848"/>
            <a:ext cx="2267712" cy="237744"/>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ST Depression (oldpeak)</a:t>
            </a:r>
            <a:endParaRPr lang="en-US" sz="1100" dirty="0"/>
          </a:p>
        </p:txBody>
      </p:sp>
      <p:sp>
        <p:nvSpPr>
          <p:cNvPr id="32" name="Text 30"/>
          <p:cNvSpPr/>
          <p:nvPr/>
        </p:nvSpPr>
        <p:spPr>
          <a:xfrm>
            <a:off x="1572768" y="2450592"/>
            <a:ext cx="2267712" cy="201168"/>
          </a:xfrm>
          <a:prstGeom prst="rect">
            <a:avLst/>
          </a:prstGeom>
          <a:noFill/>
          <a:ln/>
        </p:spPr>
        <p:txBody>
          <a:bodyPr wrap="square" lIns="0" tIns="0" rIns="0" bIns="0" rtlCol="0" anchor="ctr"/>
          <a:lstStyle/>
          <a:p>
            <a:pPr marL="0" indent="0">
              <a:buNone/>
            </a:pPr>
            <a:r>
              <a:rPr lang="en-US" sz="900" i="1" dirty="0">
                <a:solidFill>
                  <a:srgbClr val="0D9488"/>
                </a:solidFill>
                <a:latin typeface="Calibri" pitchFamily="34" charset="0"/>
                <a:ea typeface="Calibri" pitchFamily="34" charset="-122"/>
                <a:cs typeface="Calibri" pitchFamily="34" charset="-120"/>
              </a:rPr>
              <a:t>Decimal Number</a:t>
            </a:r>
            <a:endParaRPr lang="en-US" sz="900" dirty="0"/>
          </a:p>
        </p:txBody>
      </p:sp>
      <p:sp>
        <p:nvSpPr>
          <p:cNvPr id="33" name="Text 31"/>
          <p:cNvSpPr/>
          <p:nvPr/>
        </p:nvSpPr>
        <p:spPr>
          <a:xfrm>
            <a:off x="4041648" y="2221992"/>
            <a:ext cx="2331720" cy="475488"/>
          </a:xfrm>
          <a:prstGeom prst="rect">
            <a:avLst/>
          </a:prstGeom>
          <a:noFill/>
          <a:ln/>
        </p:spPr>
        <p:txBody>
          <a:bodyPr wrap="square" lIns="0" tIns="0" rIns="0" bIns="0" rtlCol="0" anchor="t"/>
          <a:lstStyle/>
          <a:p>
            <a:pPr marL="0" indent="0">
              <a:buNone/>
            </a:pPr>
            <a:r>
              <a:rPr lang="en-US" sz="1000" dirty="0">
                <a:solidFill>
                  <a:srgbClr val="475569"/>
                </a:solidFill>
                <a:latin typeface="Calibri" pitchFamily="34" charset="0"/>
                <a:ea typeface="Calibri" pitchFamily="34" charset="-122"/>
                <a:cs typeface="Calibri" pitchFamily="34" charset="-120"/>
              </a:rPr>
              <a:t>Decimal value 0.0 – 6.2</a:t>
            </a:r>
            <a:endParaRPr lang="en-US" sz="1000" dirty="0"/>
          </a:p>
          <a:p>
            <a:pPr marL="0" indent="0">
              <a:buNone/>
            </a:pPr>
            <a:r>
              <a:rPr lang="en-US" sz="1000" dirty="0">
                <a:solidFill>
                  <a:srgbClr val="475569"/>
                </a:solidFill>
                <a:latin typeface="Calibri" pitchFamily="34" charset="0"/>
                <a:ea typeface="Calibri" pitchFamily="34" charset="-122"/>
                <a:cs typeface="Calibri" pitchFamily="34" charset="-120"/>
              </a:rPr>
              <a:t>(e.g. 0.0, 1.5, 3.2)</a:t>
            </a:r>
            <a:endParaRPr lang="en-US" sz="1000" dirty="0"/>
          </a:p>
        </p:txBody>
      </p:sp>
      <p:sp>
        <p:nvSpPr>
          <p:cNvPr id="34" name="Text 32"/>
          <p:cNvSpPr/>
          <p:nvPr/>
        </p:nvSpPr>
        <p:spPr>
          <a:xfrm>
            <a:off x="6565392" y="2221992"/>
            <a:ext cx="2423160" cy="475488"/>
          </a:xfrm>
          <a:prstGeom prst="rect">
            <a:avLst/>
          </a:prstGeom>
          <a:noFill/>
          <a:ln/>
        </p:spPr>
        <p:txBody>
          <a:bodyPr wrap="square" lIns="0" tIns="0" rIns="0" bIns="0" rtlCol="0" anchor="t"/>
          <a:lstStyle/>
          <a:p>
            <a:pPr marL="0" indent="0">
              <a:buNone/>
            </a:pPr>
            <a:r>
              <a:rPr lang="en-US" sz="1000" dirty="0">
                <a:solidFill>
                  <a:srgbClr val="1E293B"/>
                </a:solidFill>
                <a:latin typeface="Calibri" pitchFamily="34" charset="0"/>
                <a:ea typeface="Calibri" pitchFamily="34" charset="-122"/>
                <a:cs typeface="Calibri" pitchFamily="34" charset="-120"/>
              </a:rPr>
              <a:t>ST depression induced by exercise relative to rest. Higher values indicate reduced blood supply to heart muscle</a:t>
            </a:r>
            <a:endParaRPr lang="en-US" sz="1000" dirty="0"/>
          </a:p>
        </p:txBody>
      </p:sp>
      <p:sp>
        <p:nvSpPr>
          <p:cNvPr id="35" name="Shape 33"/>
          <p:cNvSpPr/>
          <p:nvPr/>
        </p:nvSpPr>
        <p:spPr>
          <a:xfrm>
            <a:off x="256032" y="2743200"/>
            <a:ext cx="8732520" cy="566928"/>
          </a:xfrm>
          <a:prstGeom prst="rect">
            <a:avLst/>
          </a:prstGeom>
          <a:solidFill>
            <a:srgbClr val="F0FAF9"/>
          </a:solidFill>
          <a:ln w="12700">
            <a:solidFill>
              <a:srgbClr val="E2E8F0"/>
            </a:solidFill>
            <a:prstDash val="solid"/>
          </a:ln>
        </p:spPr>
        <p:txBody>
          <a:bodyPr/>
          <a:lstStyle/>
          <a:p>
            <a:endParaRPr lang="en-IN"/>
          </a:p>
        </p:txBody>
      </p:sp>
      <p:sp>
        <p:nvSpPr>
          <p:cNvPr id="36" name="Shape 34"/>
          <p:cNvSpPr/>
          <p:nvPr/>
        </p:nvSpPr>
        <p:spPr>
          <a:xfrm>
            <a:off x="256032" y="2743200"/>
            <a:ext cx="274320" cy="566928"/>
          </a:xfrm>
          <a:prstGeom prst="rect">
            <a:avLst/>
          </a:prstGeom>
          <a:solidFill>
            <a:srgbClr val="CCFBF1"/>
          </a:solidFill>
          <a:ln w="12700">
            <a:solidFill>
              <a:srgbClr val="0D9488"/>
            </a:solidFill>
            <a:prstDash val="solid"/>
          </a:ln>
        </p:spPr>
        <p:txBody>
          <a:bodyPr/>
          <a:lstStyle/>
          <a:p>
            <a:endParaRPr lang="en-IN"/>
          </a:p>
        </p:txBody>
      </p:sp>
      <p:sp>
        <p:nvSpPr>
          <p:cNvPr id="37" name="Text 35"/>
          <p:cNvSpPr/>
          <p:nvPr/>
        </p:nvSpPr>
        <p:spPr>
          <a:xfrm>
            <a:off x="256032" y="2743200"/>
            <a:ext cx="274320" cy="566928"/>
          </a:xfrm>
          <a:prstGeom prst="rect">
            <a:avLst/>
          </a:prstGeom>
          <a:noFill/>
          <a:ln/>
        </p:spPr>
        <p:txBody>
          <a:bodyPr wrap="square" lIns="0" tIns="0" rIns="0" bIns="0" rtlCol="0" anchor="ctr"/>
          <a:lstStyle/>
          <a:p>
            <a:pPr marL="0" indent="0" algn="ctr">
              <a:buNone/>
            </a:pPr>
            <a:r>
              <a:rPr lang="en-US" sz="1000" b="1" dirty="0">
                <a:solidFill>
                  <a:srgbClr val="0D9488"/>
                </a:solidFill>
                <a:latin typeface="Calibri" pitchFamily="34" charset="0"/>
                <a:ea typeface="Calibri" pitchFamily="34" charset="-122"/>
                <a:cs typeface="Calibri" pitchFamily="34" charset="-120"/>
              </a:rPr>
              <a:t>11</a:t>
            </a:r>
            <a:endParaRPr lang="en-US" sz="1000" dirty="0"/>
          </a:p>
        </p:txBody>
      </p:sp>
      <p:sp>
        <p:nvSpPr>
          <p:cNvPr id="38" name="Text 36"/>
          <p:cNvSpPr/>
          <p:nvPr/>
        </p:nvSpPr>
        <p:spPr>
          <a:xfrm>
            <a:off x="1572768" y="2779776"/>
            <a:ext cx="2267712" cy="237744"/>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ST Segment Slope</a:t>
            </a:r>
            <a:endParaRPr lang="en-US" sz="1100" dirty="0"/>
          </a:p>
        </p:txBody>
      </p:sp>
      <p:sp>
        <p:nvSpPr>
          <p:cNvPr id="39" name="Text 37"/>
          <p:cNvSpPr/>
          <p:nvPr/>
        </p:nvSpPr>
        <p:spPr>
          <a:xfrm>
            <a:off x="1572768" y="3017520"/>
            <a:ext cx="2267712" cy="201168"/>
          </a:xfrm>
          <a:prstGeom prst="rect">
            <a:avLst/>
          </a:prstGeom>
          <a:noFill/>
          <a:ln/>
        </p:spPr>
        <p:txBody>
          <a:bodyPr wrap="square" lIns="0" tIns="0" rIns="0" bIns="0" rtlCol="0" anchor="ctr"/>
          <a:lstStyle/>
          <a:p>
            <a:pPr marL="0" indent="0">
              <a:buNone/>
            </a:pPr>
            <a:r>
              <a:rPr lang="en-US" sz="900" i="1" dirty="0">
                <a:solidFill>
                  <a:srgbClr val="0D9488"/>
                </a:solidFill>
                <a:latin typeface="Calibri" pitchFamily="34" charset="0"/>
                <a:ea typeface="Calibri" pitchFamily="34" charset="-122"/>
                <a:cs typeface="Calibri" pitchFamily="34" charset="-120"/>
              </a:rPr>
              <a:t>Dropdown</a:t>
            </a:r>
            <a:endParaRPr lang="en-US" sz="900" dirty="0"/>
          </a:p>
        </p:txBody>
      </p:sp>
      <p:sp>
        <p:nvSpPr>
          <p:cNvPr id="40" name="Text 38"/>
          <p:cNvSpPr/>
          <p:nvPr/>
        </p:nvSpPr>
        <p:spPr>
          <a:xfrm>
            <a:off x="4041648" y="2788920"/>
            <a:ext cx="2331720" cy="475488"/>
          </a:xfrm>
          <a:prstGeom prst="rect">
            <a:avLst/>
          </a:prstGeom>
          <a:noFill/>
          <a:ln/>
        </p:spPr>
        <p:txBody>
          <a:bodyPr wrap="square" lIns="0" tIns="0" rIns="0" bIns="0" rtlCol="0" anchor="t"/>
          <a:lstStyle/>
          <a:p>
            <a:pPr marL="0" indent="0">
              <a:buNone/>
            </a:pPr>
            <a:r>
              <a:rPr lang="en-US" sz="1000" dirty="0">
                <a:solidFill>
                  <a:srgbClr val="475569"/>
                </a:solidFill>
                <a:latin typeface="Calibri" pitchFamily="34" charset="0"/>
                <a:ea typeface="Calibri" pitchFamily="34" charset="-122"/>
                <a:cs typeface="Calibri" pitchFamily="34" charset="-120"/>
              </a:rPr>
              <a:t>Upsloping</a:t>
            </a:r>
            <a:endParaRPr lang="en-US" sz="1000" dirty="0"/>
          </a:p>
          <a:p>
            <a:pPr marL="0" indent="0">
              <a:buNone/>
            </a:pPr>
            <a:r>
              <a:rPr lang="en-US" sz="1000" dirty="0">
                <a:solidFill>
                  <a:srgbClr val="475569"/>
                </a:solidFill>
                <a:latin typeface="Calibri" pitchFamily="34" charset="0"/>
                <a:ea typeface="Calibri" pitchFamily="34" charset="-122"/>
                <a:cs typeface="Calibri" pitchFamily="34" charset="-120"/>
              </a:rPr>
              <a:t>Flat</a:t>
            </a:r>
            <a:endParaRPr lang="en-US" sz="1000" dirty="0"/>
          </a:p>
          <a:p>
            <a:pPr marL="0" indent="0">
              <a:buNone/>
            </a:pPr>
            <a:r>
              <a:rPr lang="en-US" sz="1000" dirty="0">
                <a:solidFill>
                  <a:srgbClr val="475569"/>
                </a:solidFill>
                <a:latin typeface="Calibri" pitchFamily="34" charset="0"/>
                <a:ea typeface="Calibri" pitchFamily="34" charset="-122"/>
                <a:cs typeface="Calibri" pitchFamily="34" charset="-120"/>
              </a:rPr>
              <a:t>Downsloping</a:t>
            </a:r>
            <a:endParaRPr lang="en-US" sz="1000" dirty="0"/>
          </a:p>
        </p:txBody>
      </p:sp>
      <p:sp>
        <p:nvSpPr>
          <p:cNvPr id="41" name="Text 39"/>
          <p:cNvSpPr/>
          <p:nvPr/>
        </p:nvSpPr>
        <p:spPr>
          <a:xfrm>
            <a:off x="6565392" y="2788920"/>
            <a:ext cx="2423160" cy="475488"/>
          </a:xfrm>
          <a:prstGeom prst="rect">
            <a:avLst/>
          </a:prstGeom>
          <a:noFill/>
          <a:ln/>
        </p:spPr>
        <p:txBody>
          <a:bodyPr wrap="square" lIns="0" tIns="0" rIns="0" bIns="0" rtlCol="0" anchor="t"/>
          <a:lstStyle/>
          <a:p>
            <a:pPr marL="0" indent="0">
              <a:buNone/>
            </a:pPr>
            <a:r>
              <a:rPr lang="en-US" sz="1000" dirty="0">
                <a:solidFill>
                  <a:srgbClr val="1E293B"/>
                </a:solidFill>
                <a:latin typeface="Calibri" pitchFamily="34" charset="0"/>
                <a:ea typeface="Calibri" pitchFamily="34" charset="-122"/>
                <a:cs typeface="Calibri" pitchFamily="34" charset="-120"/>
              </a:rPr>
              <a:t>Slope of the peak exercise ST segment. Flat or downsloping is a strong indicator of ischemia</a:t>
            </a:r>
            <a:endParaRPr lang="en-US" sz="1000" dirty="0"/>
          </a:p>
        </p:txBody>
      </p:sp>
      <p:sp>
        <p:nvSpPr>
          <p:cNvPr id="42" name="Shape 40"/>
          <p:cNvSpPr/>
          <p:nvPr/>
        </p:nvSpPr>
        <p:spPr>
          <a:xfrm>
            <a:off x="256032" y="3310128"/>
            <a:ext cx="8732520" cy="640080"/>
          </a:xfrm>
          <a:prstGeom prst="rect">
            <a:avLst/>
          </a:prstGeom>
          <a:solidFill>
            <a:srgbClr val="FFFFFF"/>
          </a:solidFill>
          <a:ln w="12700">
            <a:solidFill>
              <a:srgbClr val="E2E8F0"/>
            </a:solidFill>
            <a:prstDash val="solid"/>
          </a:ln>
        </p:spPr>
        <p:txBody>
          <a:bodyPr/>
          <a:lstStyle/>
          <a:p>
            <a:endParaRPr lang="en-IN"/>
          </a:p>
        </p:txBody>
      </p:sp>
      <p:sp>
        <p:nvSpPr>
          <p:cNvPr id="43" name="Shape 41"/>
          <p:cNvSpPr/>
          <p:nvPr/>
        </p:nvSpPr>
        <p:spPr>
          <a:xfrm>
            <a:off x="256032" y="3310128"/>
            <a:ext cx="274320" cy="640080"/>
          </a:xfrm>
          <a:prstGeom prst="rect">
            <a:avLst/>
          </a:prstGeom>
          <a:solidFill>
            <a:srgbClr val="CCFBF1"/>
          </a:solidFill>
          <a:ln w="12700">
            <a:solidFill>
              <a:srgbClr val="0D9488"/>
            </a:solidFill>
            <a:prstDash val="solid"/>
          </a:ln>
        </p:spPr>
        <p:txBody>
          <a:bodyPr/>
          <a:lstStyle/>
          <a:p>
            <a:endParaRPr lang="en-IN"/>
          </a:p>
        </p:txBody>
      </p:sp>
      <p:sp>
        <p:nvSpPr>
          <p:cNvPr id="44" name="Text 42"/>
          <p:cNvSpPr/>
          <p:nvPr/>
        </p:nvSpPr>
        <p:spPr>
          <a:xfrm>
            <a:off x="256032" y="3310128"/>
            <a:ext cx="274320" cy="640080"/>
          </a:xfrm>
          <a:prstGeom prst="rect">
            <a:avLst/>
          </a:prstGeom>
          <a:noFill/>
          <a:ln/>
        </p:spPr>
        <p:txBody>
          <a:bodyPr wrap="square" lIns="0" tIns="0" rIns="0" bIns="0" rtlCol="0" anchor="ctr"/>
          <a:lstStyle/>
          <a:p>
            <a:pPr marL="0" indent="0" algn="ctr">
              <a:buNone/>
            </a:pPr>
            <a:r>
              <a:rPr lang="en-US" sz="1000" b="1" dirty="0">
                <a:solidFill>
                  <a:srgbClr val="0D9488"/>
                </a:solidFill>
                <a:latin typeface="Calibri" pitchFamily="34" charset="0"/>
                <a:ea typeface="Calibri" pitchFamily="34" charset="-122"/>
                <a:cs typeface="Calibri" pitchFamily="34" charset="-120"/>
              </a:rPr>
              <a:t>12</a:t>
            </a:r>
            <a:endParaRPr lang="en-US" sz="1000" dirty="0"/>
          </a:p>
        </p:txBody>
      </p:sp>
      <p:sp>
        <p:nvSpPr>
          <p:cNvPr id="45" name="Text 43"/>
          <p:cNvSpPr/>
          <p:nvPr/>
        </p:nvSpPr>
        <p:spPr>
          <a:xfrm>
            <a:off x="1572768" y="3346704"/>
            <a:ext cx="2267712" cy="237744"/>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Major Vessels Count (ca)</a:t>
            </a:r>
            <a:endParaRPr lang="en-US" sz="1100" dirty="0"/>
          </a:p>
        </p:txBody>
      </p:sp>
      <p:sp>
        <p:nvSpPr>
          <p:cNvPr id="46" name="Text 44"/>
          <p:cNvSpPr/>
          <p:nvPr/>
        </p:nvSpPr>
        <p:spPr>
          <a:xfrm>
            <a:off x="1572768" y="3584448"/>
            <a:ext cx="2267712" cy="201168"/>
          </a:xfrm>
          <a:prstGeom prst="rect">
            <a:avLst/>
          </a:prstGeom>
          <a:noFill/>
          <a:ln/>
        </p:spPr>
        <p:txBody>
          <a:bodyPr wrap="square" lIns="0" tIns="0" rIns="0" bIns="0" rtlCol="0" anchor="ctr"/>
          <a:lstStyle/>
          <a:p>
            <a:pPr marL="0" indent="0">
              <a:buNone/>
            </a:pPr>
            <a:r>
              <a:rPr lang="en-US" sz="900" i="1" dirty="0">
                <a:solidFill>
                  <a:srgbClr val="0D9488"/>
                </a:solidFill>
                <a:latin typeface="Calibri" pitchFamily="34" charset="0"/>
                <a:ea typeface="Calibri" pitchFamily="34" charset="-122"/>
                <a:cs typeface="Calibri" pitchFamily="34" charset="-120"/>
              </a:rPr>
              <a:t>Dropdown</a:t>
            </a:r>
            <a:endParaRPr lang="en-US" sz="900" dirty="0"/>
          </a:p>
        </p:txBody>
      </p:sp>
      <p:sp>
        <p:nvSpPr>
          <p:cNvPr id="47" name="Text 45"/>
          <p:cNvSpPr/>
          <p:nvPr/>
        </p:nvSpPr>
        <p:spPr>
          <a:xfrm>
            <a:off x="4041648" y="3355848"/>
            <a:ext cx="2331720" cy="548640"/>
          </a:xfrm>
          <a:prstGeom prst="rect">
            <a:avLst/>
          </a:prstGeom>
          <a:noFill/>
          <a:ln/>
        </p:spPr>
        <p:txBody>
          <a:bodyPr wrap="square" lIns="0" tIns="0" rIns="0" bIns="0" rtlCol="0" anchor="t"/>
          <a:lstStyle/>
          <a:p>
            <a:pPr marL="0" indent="0">
              <a:buNone/>
            </a:pPr>
            <a:r>
              <a:rPr lang="en-US" sz="1000" dirty="0">
                <a:solidFill>
                  <a:srgbClr val="475569"/>
                </a:solidFill>
                <a:latin typeface="Calibri" pitchFamily="34" charset="0"/>
                <a:ea typeface="Calibri" pitchFamily="34" charset="-122"/>
                <a:cs typeface="Calibri" pitchFamily="34" charset="-120"/>
              </a:rPr>
              <a:t>0</a:t>
            </a:r>
            <a:endParaRPr lang="en-US" sz="1000" dirty="0"/>
          </a:p>
          <a:p>
            <a:pPr marL="0" indent="0">
              <a:buNone/>
            </a:pPr>
            <a:r>
              <a:rPr lang="en-US" sz="1000" dirty="0">
                <a:solidFill>
                  <a:srgbClr val="475569"/>
                </a:solidFill>
                <a:latin typeface="Calibri" pitchFamily="34" charset="0"/>
                <a:ea typeface="Calibri" pitchFamily="34" charset="-122"/>
                <a:cs typeface="Calibri" pitchFamily="34" charset="-120"/>
              </a:rPr>
              <a:t>1</a:t>
            </a:r>
            <a:endParaRPr lang="en-US" sz="1000" dirty="0"/>
          </a:p>
          <a:p>
            <a:pPr marL="0" indent="0">
              <a:buNone/>
            </a:pPr>
            <a:r>
              <a:rPr lang="en-US" sz="1000" dirty="0">
                <a:solidFill>
                  <a:srgbClr val="475569"/>
                </a:solidFill>
                <a:latin typeface="Calibri" pitchFamily="34" charset="0"/>
                <a:ea typeface="Calibri" pitchFamily="34" charset="-122"/>
                <a:cs typeface="Calibri" pitchFamily="34" charset="-120"/>
              </a:rPr>
              <a:t>2</a:t>
            </a:r>
            <a:endParaRPr lang="en-US" sz="1000" dirty="0"/>
          </a:p>
          <a:p>
            <a:pPr marL="0" indent="0">
              <a:buNone/>
            </a:pPr>
            <a:r>
              <a:rPr lang="en-US" sz="1000" dirty="0">
                <a:solidFill>
                  <a:srgbClr val="475569"/>
                </a:solidFill>
                <a:latin typeface="Calibri" pitchFamily="34" charset="0"/>
                <a:ea typeface="Calibri" pitchFamily="34" charset="-122"/>
                <a:cs typeface="Calibri" pitchFamily="34" charset="-120"/>
              </a:rPr>
              <a:t>3</a:t>
            </a:r>
            <a:endParaRPr lang="en-US" sz="1000" dirty="0"/>
          </a:p>
        </p:txBody>
      </p:sp>
      <p:sp>
        <p:nvSpPr>
          <p:cNvPr id="48" name="Text 46"/>
          <p:cNvSpPr/>
          <p:nvPr/>
        </p:nvSpPr>
        <p:spPr>
          <a:xfrm>
            <a:off x="6565392" y="3355848"/>
            <a:ext cx="2423160" cy="548640"/>
          </a:xfrm>
          <a:prstGeom prst="rect">
            <a:avLst/>
          </a:prstGeom>
          <a:noFill/>
          <a:ln/>
        </p:spPr>
        <p:txBody>
          <a:bodyPr wrap="square" lIns="0" tIns="0" rIns="0" bIns="0" rtlCol="0" anchor="t"/>
          <a:lstStyle/>
          <a:p>
            <a:pPr marL="0" indent="0">
              <a:buNone/>
            </a:pPr>
            <a:r>
              <a:rPr lang="en-US" sz="1000" dirty="0">
                <a:solidFill>
                  <a:srgbClr val="1E293B"/>
                </a:solidFill>
                <a:latin typeface="Calibri" pitchFamily="34" charset="0"/>
                <a:ea typeface="Calibri" pitchFamily="34" charset="-122"/>
                <a:cs typeface="Calibri" pitchFamily="34" charset="-120"/>
              </a:rPr>
              <a:t>Number of major vessels colored by fluoroscopy. More blocked vessels = higher disease severity</a:t>
            </a:r>
            <a:endParaRPr lang="en-US" sz="1000" dirty="0"/>
          </a:p>
        </p:txBody>
      </p:sp>
      <p:sp>
        <p:nvSpPr>
          <p:cNvPr id="49" name="Shape 47"/>
          <p:cNvSpPr/>
          <p:nvPr/>
        </p:nvSpPr>
        <p:spPr>
          <a:xfrm>
            <a:off x="256032" y="3950208"/>
            <a:ext cx="8732520" cy="694944"/>
          </a:xfrm>
          <a:prstGeom prst="rect">
            <a:avLst/>
          </a:prstGeom>
          <a:solidFill>
            <a:srgbClr val="F0FAF9"/>
          </a:solidFill>
          <a:ln w="12700">
            <a:solidFill>
              <a:srgbClr val="E2E8F0"/>
            </a:solidFill>
            <a:prstDash val="solid"/>
          </a:ln>
        </p:spPr>
        <p:txBody>
          <a:bodyPr/>
          <a:lstStyle/>
          <a:p>
            <a:endParaRPr lang="en-IN"/>
          </a:p>
        </p:txBody>
      </p:sp>
      <p:sp>
        <p:nvSpPr>
          <p:cNvPr id="50" name="Shape 48"/>
          <p:cNvSpPr/>
          <p:nvPr/>
        </p:nvSpPr>
        <p:spPr>
          <a:xfrm>
            <a:off x="256032" y="3950208"/>
            <a:ext cx="274320" cy="694944"/>
          </a:xfrm>
          <a:prstGeom prst="rect">
            <a:avLst/>
          </a:prstGeom>
          <a:solidFill>
            <a:srgbClr val="CCFBF1"/>
          </a:solidFill>
          <a:ln w="12700">
            <a:solidFill>
              <a:srgbClr val="0D9488"/>
            </a:solidFill>
            <a:prstDash val="solid"/>
          </a:ln>
        </p:spPr>
        <p:txBody>
          <a:bodyPr/>
          <a:lstStyle/>
          <a:p>
            <a:endParaRPr lang="en-IN"/>
          </a:p>
        </p:txBody>
      </p:sp>
      <p:sp>
        <p:nvSpPr>
          <p:cNvPr id="51" name="Text 49"/>
          <p:cNvSpPr/>
          <p:nvPr/>
        </p:nvSpPr>
        <p:spPr>
          <a:xfrm>
            <a:off x="256032" y="3950208"/>
            <a:ext cx="274320" cy="694944"/>
          </a:xfrm>
          <a:prstGeom prst="rect">
            <a:avLst/>
          </a:prstGeom>
          <a:noFill/>
          <a:ln/>
        </p:spPr>
        <p:txBody>
          <a:bodyPr wrap="square" lIns="0" tIns="0" rIns="0" bIns="0" rtlCol="0" anchor="ctr"/>
          <a:lstStyle/>
          <a:p>
            <a:pPr marL="0" indent="0" algn="ctr">
              <a:buNone/>
            </a:pPr>
            <a:r>
              <a:rPr lang="en-US" sz="1000" b="1" dirty="0">
                <a:solidFill>
                  <a:srgbClr val="0D9488"/>
                </a:solidFill>
                <a:latin typeface="Calibri" pitchFamily="34" charset="0"/>
                <a:ea typeface="Calibri" pitchFamily="34" charset="-122"/>
                <a:cs typeface="Calibri" pitchFamily="34" charset="-120"/>
              </a:rPr>
              <a:t>13</a:t>
            </a:r>
            <a:endParaRPr lang="en-US" sz="1000" dirty="0"/>
          </a:p>
        </p:txBody>
      </p:sp>
      <p:sp>
        <p:nvSpPr>
          <p:cNvPr id="52" name="Text 50"/>
          <p:cNvSpPr/>
          <p:nvPr/>
        </p:nvSpPr>
        <p:spPr>
          <a:xfrm>
            <a:off x="1572768" y="3986784"/>
            <a:ext cx="2267712" cy="237744"/>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Thallium Test Result (thal)</a:t>
            </a:r>
            <a:endParaRPr lang="en-US" sz="1100" dirty="0"/>
          </a:p>
        </p:txBody>
      </p:sp>
      <p:sp>
        <p:nvSpPr>
          <p:cNvPr id="53" name="Text 51"/>
          <p:cNvSpPr/>
          <p:nvPr/>
        </p:nvSpPr>
        <p:spPr>
          <a:xfrm>
            <a:off x="1572768" y="4224528"/>
            <a:ext cx="2267712" cy="201168"/>
          </a:xfrm>
          <a:prstGeom prst="rect">
            <a:avLst/>
          </a:prstGeom>
          <a:noFill/>
          <a:ln/>
        </p:spPr>
        <p:txBody>
          <a:bodyPr wrap="square" lIns="0" tIns="0" rIns="0" bIns="0" rtlCol="0" anchor="ctr"/>
          <a:lstStyle/>
          <a:p>
            <a:pPr marL="0" indent="0">
              <a:buNone/>
            </a:pPr>
            <a:r>
              <a:rPr lang="en-US" sz="900" i="1" dirty="0">
                <a:solidFill>
                  <a:srgbClr val="0D9488"/>
                </a:solidFill>
                <a:latin typeface="Calibri" pitchFamily="34" charset="0"/>
                <a:ea typeface="Calibri" pitchFamily="34" charset="-122"/>
                <a:cs typeface="Calibri" pitchFamily="34" charset="-120"/>
              </a:rPr>
              <a:t>Dropdown</a:t>
            </a:r>
            <a:endParaRPr lang="en-US" sz="900" dirty="0"/>
          </a:p>
        </p:txBody>
      </p:sp>
      <p:sp>
        <p:nvSpPr>
          <p:cNvPr id="54" name="Text 52"/>
          <p:cNvSpPr/>
          <p:nvPr/>
        </p:nvSpPr>
        <p:spPr>
          <a:xfrm>
            <a:off x="4041648" y="3995928"/>
            <a:ext cx="2331720" cy="603504"/>
          </a:xfrm>
          <a:prstGeom prst="rect">
            <a:avLst/>
          </a:prstGeom>
          <a:noFill/>
          <a:ln/>
        </p:spPr>
        <p:txBody>
          <a:bodyPr wrap="square" lIns="0" tIns="0" rIns="0" bIns="0" rtlCol="0" anchor="t"/>
          <a:lstStyle/>
          <a:p>
            <a:pPr marL="0" indent="0">
              <a:buNone/>
            </a:pPr>
            <a:r>
              <a:rPr lang="en-US" sz="1000" dirty="0">
                <a:solidFill>
                  <a:srgbClr val="475569"/>
                </a:solidFill>
                <a:latin typeface="Calibri" pitchFamily="34" charset="0"/>
                <a:ea typeface="Calibri" pitchFamily="34" charset="-122"/>
                <a:cs typeface="Calibri" pitchFamily="34" charset="-120"/>
              </a:rPr>
              <a:t>Normal</a:t>
            </a:r>
            <a:endParaRPr lang="en-US" sz="1000" dirty="0"/>
          </a:p>
          <a:p>
            <a:pPr marL="0" indent="0">
              <a:buNone/>
            </a:pPr>
            <a:r>
              <a:rPr lang="en-US" sz="1000" dirty="0">
                <a:solidFill>
                  <a:srgbClr val="475569"/>
                </a:solidFill>
                <a:latin typeface="Calibri" pitchFamily="34" charset="0"/>
                <a:ea typeface="Calibri" pitchFamily="34" charset="-122"/>
                <a:cs typeface="Calibri" pitchFamily="34" charset="-120"/>
              </a:rPr>
              <a:t>Fixed Defect</a:t>
            </a:r>
            <a:endParaRPr lang="en-US" sz="1000" dirty="0"/>
          </a:p>
          <a:p>
            <a:pPr marL="0" indent="0">
              <a:buNone/>
            </a:pPr>
            <a:r>
              <a:rPr lang="en-US" sz="1000" dirty="0">
                <a:solidFill>
                  <a:srgbClr val="475569"/>
                </a:solidFill>
                <a:latin typeface="Calibri" pitchFamily="34" charset="0"/>
                <a:ea typeface="Calibri" pitchFamily="34" charset="-122"/>
                <a:cs typeface="Calibri" pitchFamily="34" charset="-120"/>
              </a:rPr>
              <a:t>Reversible Defect</a:t>
            </a:r>
            <a:endParaRPr lang="en-US" sz="1000" dirty="0"/>
          </a:p>
        </p:txBody>
      </p:sp>
      <p:sp>
        <p:nvSpPr>
          <p:cNvPr id="55" name="Text 53"/>
          <p:cNvSpPr/>
          <p:nvPr/>
        </p:nvSpPr>
        <p:spPr>
          <a:xfrm>
            <a:off x="6565392" y="3995928"/>
            <a:ext cx="2423160" cy="603504"/>
          </a:xfrm>
          <a:prstGeom prst="rect">
            <a:avLst/>
          </a:prstGeom>
          <a:noFill/>
          <a:ln/>
        </p:spPr>
        <p:txBody>
          <a:bodyPr wrap="square" lIns="0" tIns="0" rIns="0" bIns="0" rtlCol="0" anchor="t"/>
          <a:lstStyle/>
          <a:p>
            <a:pPr marL="0" indent="0">
              <a:buNone/>
            </a:pPr>
            <a:r>
              <a:rPr lang="en-US" sz="1000" dirty="0">
                <a:solidFill>
                  <a:srgbClr val="1E293B"/>
                </a:solidFill>
                <a:latin typeface="Calibri" pitchFamily="34" charset="0"/>
                <a:ea typeface="Calibri" pitchFamily="34" charset="-122"/>
                <a:cs typeface="Calibri" pitchFamily="34" charset="-120"/>
              </a:rPr>
              <a:t>Thallium stress test result. Reversible defect = blood flow issue only during exercise; Fixed = permanent damage</a:t>
            </a:r>
            <a:endParaRPr lang="en-US" sz="1000" dirty="0"/>
          </a:p>
        </p:txBody>
      </p:sp>
      <p:sp>
        <p:nvSpPr>
          <p:cNvPr id="56" name="Shape 54"/>
          <p:cNvSpPr/>
          <p:nvPr/>
        </p:nvSpPr>
        <p:spPr>
          <a:xfrm>
            <a:off x="256032" y="4828032"/>
            <a:ext cx="8732520" cy="347472"/>
          </a:xfrm>
          <a:prstGeom prst="rect">
            <a:avLst/>
          </a:prstGeom>
          <a:solidFill>
            <a:srgbClr val="FEF3C7"/>
          </a:solidFill>
          <a:ln w="12700">
            <a:solidFill>
              <a:srgbClr val="D97706"/>
            </a:solidFill>
            <a:prstDash val="solid"/>
          </a:ln>
        </p:spPr>
        <p:txBody>
          <a:bodyPr/>
          <a:lstStyle/>
          <a:p>
            <a:endParaRPr lang="en-IN"/>
          </a:p>
        </p:txBody>
      </p:sp>
      <p:sp>
        <p:nvSpPr>
          <p:cNvPr id="57" name="Text 55"/>
          <p:cNvSpPr/>
          <p:nvPr/>
        </p:nvSpPr>
        <p:spPr>
          <a:xfrm>
            <a:off x="384048" y="4846320"/>
            <a:ext cx="8467344" cy="292608"/>
          </a:xfrm>
          <a:prstGeom prst="rect">
            <a:avLst/>
          </a:prstGeom>
          <a:noFill/>
          <a:ln/>
        </p:spPr>
        <p:txBody>
          <a:bodyPr wrap="square" rtlCol="0" anchor="ctr"/>
          <a:lstStyle/>
          <a:p>
            <a:pPr marL="0" indent="0">
              <a:buNone/>
            </a:pPr>
            <a:r>
              <a:rPr lang="en-US" sz="1000" b="1" dirty="0">
                <a:solidFill>
                  <a:srgbClr val="D97706"/>
                </a:solidFill>
                <a:latin typeface="Calibri" pitchFamily="34" charset="0"/>
                <a:ea typeface="Calibri" pitchFamily="34" charset="-122"/>
                <a:cs typeface="Calibri" pitchFamily="34" charset="-120"/>
              </a:rPr>
              <a:t>Note: Features 12 (ca) and 13 (thal) had missing values in the original UCI dataset. We used 11 features (1–11) for model training after cleaning. Ca and thal are shown here for completeness.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9488"/>
          </a:solidFill>
          <a:ln w="12700">
            <a:solidFill>
              <a:srgbClr val="0D9488"/>
            </a:solidFill>
            <a:prstDash val="solid"/>
          </a:ln>
        </p:spPr>
        <p:txBody>
          <a:bodyPr/>
          <a:lstStyle/>
          <a:p>
            <a:endParaRPr lang="en-IN"/>
          </a:p>
        </p:txBody>
      </p:sp>
      <p:sp>
        <p:nvSpPr>
          <p:cNvPr id="3" name="Text 1"/>
          <p:cNvSpPr/>
          <p:nvPr/>
        </p:nvSpPr>
        <p:spPr>
          <a:xfrm>
            <a:off x="320040" y="0"/>
            <a:ext cx="850392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System Architecture — End-to-End Flow</a:t>
            </a:r>
            <a:endParaRPr lang="en-US" sz="2200" dirty="0"/>
          </a:p>
        </p:txBody>
      </p:sp>
      <p:sp>
        <p:nvSpPr>
          <p:cNvPr id="4" name="Shape 2"/>
          <p:cNvSpPr/>
          <p:nvPr/>
        </p:nvSpPr>
        <p:spPr>
          <a:xfrm>
            <a:off x="0" y="5184648"/>
            <a:ext cx="9144000" cy="73152"/>
          </a:xfrm>
          <a:prstGeom prst="rect">
            <a:avLst/>
          </a:prstGeom>
          <a:solidFill>
            <a:srgbClr val="CCFBF1"/>
          </a:solidFill>
          <a:ln w="12700">
            <a:solidFill>
              <a:srgbClr val="CCFBF1"/>
            </a:solidFill>
            <a:prstDash val="solid"/>
          </a:ln>
        </p:spPr>
        <p:txBody>
          <a:bodyPr/>
          <a:lstStyle/>
          <a:p>
            <a:endParaRPr lang="en-IN"/>
          </a:p>
        </p:txBody>
      </p:sp>
      <p:sp>
        <p:nvSpPr>
          <p:cNvPr id="5" name="Shape 3"/>
          <p:cNvSpPr/>
          <p:nvPr/>
        </p:nvSpPr>
        <p:spPr>
          <a:xfrm>
            <a:off x="1645920" y="804672"/>
            <a:ext cx="5852160" cy="658368"/>
          </a:xfrm>
          <a:prstGeom prst="rect">
            <a:avLst/>
          </a:prstGeom>
          <a:solidFill>
            <a:srgbClr val="DBEAFE"/>
          </a:solidFill>
          <a:ln w="19050">
            <a:solidFill>
              <a:srgbClr val="2563EB"/>
            </a:solidFill>
            <a:prstDash val="solid"/>
          </a:ln>
        </p:spPr>
        <p:txBody>
          <a:bodyPr/>
          <a:lstStyle/>
          <a:p>
            <a:endParaRPr lang="en-IN"/>
          </a:p>
        </p:txBody>
      </p:sp>
      <p:sp>
        <p:nvSpPr>
          <p:cNvPr id="6" name="Shape 4"/>
          <p:cNvSpPr/>
          <p:nvPr/>
        </p:nvSpPr>
        <p:spPr>
          <a:xfrm>
            <a:off x="1645920" y="804672"/>
            <a:ext cx="91440" cy="658368"/>
          </a:xfrm>
          <a:prstGeom prst="rect">
            <a:avLst/>
          </a:prstGeom>
          <a:solidFill>
            <a:srgbClr val="2563EB"/>
          </a:solidFill>
          <a:ln w="12700">
            <a:solidFill>
              <a:srgbClr val="2563EB"/>
            </a:solidFill>
            <a:prstDash val="solid"/>
          </a:ln>
        </p:spPr>
        <p:txBody>
          <a:bodyPr/>
          <a:lstStyle/>
          <a:p>
            <a:endParaRPr lang="en-IN"/>
          </a:p>
        </p:txBody>
      </p:sp>
      <p:sp>
        <p:nvSpPr>
          <p:cNvPr id="7" name="Text 5"/>
          <p:cNvSpPr/>
          <p:nvPr/>
        </p:nvSpPr>
        <p:spPr>
          <a:xfrm>
            <a:off x="1883664" y="841248"/>
            <a:ext cx="2194560" cy="274320"/>
          </a:xfrm>
          <a:prstGeom prst="rect">
            <a:avLst/>
          </a:prstGeom>
          <a:noFill/>
          <a:ln/>
        </p:spPr>
        <p:txBody>
          <a:bodyPr wrap="square" lIns="0" tIns="0" rIns="0" bIns="0" rtlCol="0" anchor="ctr"/>
          <a:lstStyle/>
          <a:p>
            <a:pPr marL="0" indent="0">
              <a:buNone/>
            </a:pPr>
            <a:r>
              <a:rPr lang="en-US" sz="1300" b="1" dirty="0">
                <a:solidFill>
                  <a:srgbClr val="2563EB"/>
                </a:solidFill>
                <a:latin typeface="Calibri" pitchFamily="34" charset="0"/>
                <a:ea typeface="Calibri" pitchFamily="34" charset="-122"/>
                <a:cs typeface="Calibri" pitchFamily="34" charset="-120"/>
              </a:rPr>
              <a:t>User</a:t>
            </a:r>
            <a:endParaRPr lang="en-US" sz="1300" dirty="0"/>
          </a:p>
        </p:txBody>
      </p:sp>
      <p:sp>
        <p:nvSpPr>
          <p:cNvPr id="8" name="Text 6"/>
          <p:cNvSpPr/>
          <p:nvPr/>
        </p:nvSpPr>
        <p:spPr>
          <a:xfrm>
            <a:off x="1883664" y="1152144"/>
            <a:ext cx="5394960" cy="256032"/>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Enters 11 clinical inputs in the browser form</a:t>
            </a:r>
            <a:endParaRPr lang="en-US" sz="1100" dirty="0"/>
          </a:p>
        </p:txBody>
      </p:sp>
      <p:sp>
        <p:nvSpPr>
          <p:cNvPr id="9" name="Shape 7"/>
          <p:cNvSpPr/>
          <p:nvPr/>
        </p:nvSpPr>
        <p:spPr>
          <a:xfrm>
            <a:off x="4535424" y="1463040"/>
            <a:ext cx="73152" cy="164592"/>
          </a:xfrm>
          <a:prstGeom prst="rect">
            <a:avLst/>
          </a:prstGeom>
          <a:solidFill>
            <a:srgbClr val="94A3B8"/>
          </a:solidFill>
          <a:ln w="12700">
            <a:solidFill>
              <a:srgbClr val="94A3B8"/>
            </a:solidFill>
            <a:prstDash val="solid"/>
          </a:ln>
        </p:spPr>
        <p:txBody>
          <a:bodyPr/>
          <a:lstStyle/>
          <a:p>
            <a:endParaRPr lang="en-IN"/>
          </a:p>
        </p:txBody>
      </p:sp>
      <p:sp>
        <p:nvSpPr>
          <p:cNvPr id="10" name="Shape 8"/>
          <p:cNvSpPr/>
          <p:nvPr/>
        </p:nvSpPr>
        <p:spPr>
          <a:xfrm>
            <a:off x="4407408" y="1572768"/>
            <a:ext cx="329184" cy="73152"/>
          </a:xfrm>
          <a:prstGeom prst="rect">
            <a:avLst/>
          </a:prstGeom>
          <a:solidFill>
            <a:srgbClr val="94A3B8"/>
          </a:solidFill>
          <a:ln w="12700">
            <a:solidFill>
              <a:srgbClr val="94A3B8"/>
            </a:solidFill>
            <a:prstDash val="solid"/>
          </a:ln>
        </p:spPr>
        <p:txBody>
          <a:bodyPr/>
          <a:lstStyle/>
          <a:p>
            <a:endParaRPr lang="en-IN"/>
          </a:p>
        </p:txBody>
      </p:sp>
      <p:sp>
        <p:nvSpPr>
          <p:cNvPr id="11" name="Shape 9"/>
          <p:cNvSpPr/>
          <p:nvPr/>
        </p:nvSpPr>
        <p:spPr>
          <a:xfrm>
            <a:off x="4517136" y="1591056"/>
            <a:ext cx="109728" cy="54864"/>
          </a:xfrm>
          <a:prstGeom prst="rect">
            <a:avLst/>
          </a:prstGeom>
          <a:solidFill>
            <a:srgbClr val="94A3B8"/>
          </a:solidFill>
          <a:ln w="12700">
            <a:solidFill>
              <a:srgbClr val="94A3B8"/>
            </a:solidFill>
            <a:prstDash val="solid"/>
          </a:ln>
        </p:spPr>
        <p:txBody>
          <a:bodyPr/>
          <a:lstStyle/>
          <a:p>
            <a:endParaRPr lang="en-IN"/>
          </a:p>
        </p:txBody>
      </p:sp>
      <p:sp>
        <p:nvSpPr>
          <p:cNvPr id="12" name="Shape 10"/>
          <p:cNvSpPr/>
          <p:nvPr/>
        </p:nvSpPr>
        <p:spPr>
          <a:xfrm>
            <a:off x="1645920" y="1664208"/>
            <a:ext cx="5852160" cy="658368"/>
          </a:xfrm>
          <a:prstGeom prst="rect">
            <a:avLst/>
          </a:prstGeom>
          <a:solidFill>
            <a:srgbClr val="CCFBF1"/>
          </a:solidFill>
          <a:ln w="19050">
            <a:solidFill>
              <a:srgbClr val="0D9488"/>
            </a:solidFill>
            <a:prstDash val="solid"/>
          </a:ln>
        </p:spPr>
        <p:txBody>
          <a:bodyPr/>
          <a:lstStyle/>
          <a:p>
            <a:endParaRPr lang="en-IN"/>
          </a:p>
        </p:txBody>
      </p:sp>
      <p:sp>
        <p:nvSpPr>
          <p:cNvPr id="13" name="Shape 11"/>
          <p:cNvSpPr/>
          <p:nvPr/>
        </p:nvSpPr>
        <p:spPr>
          <a:xfrm>
            <a:off x="1645920" y="1664208"/>
            <a:ext cx="91440" cy="658368"/>
          </a:xfrm>
          <a:prstGeom prst="rect">
            <a:avLst/>
          </a:prstGeom>
          <a:solidFill>
            <a:srgbClr val="0D9488"/>
          </a:solidFill>
          <a:ln w="12700">
            <a:solidFill>
              <a:srgbClr val="0D9488"/>
            </a:solidFill>
            <a:prstDash val="solid"/>
          </a:ln>
        </p:spPr>
        <p:txBody>
          <a:bodyPr/>
          <a:lstStyle/>
          <a:p>
            <a:endParaRPr lang="en-IN"/>
          </a:p>
        </p:txBody>
      </p:sp>
      <p:sp>
        <p:nvSpPr>
          <p:cNvPr id="14" name="Text 12"/>
          <p:cNvSpPr/>
          <p:nvPr/>
        </p:nvSpPr>
        <p:spPr>
          <a:xfrm>
            <a:off x="1883664" y="1700784"/>
            <a:ext cx="2194560" cy="274320"/>
          </a:xfrm>
          <a:prstGeom prst="rect">
            <a:avLst/>
          </a:prstGeom>
          <a:noFill/>
          <a:ln/>
        </p:spPr>
        <p:txBody>
          <a:bodyPr wrap="square" lIns="0" tIns="0" rIns="0" bIns="0"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Frontend (HTML/JS)</a:t>
            </a:r>
            <a:endParaRPr lang="en-US" sz="1300" dirty="0"/>
          </a:p>
        </p:txBody>
      </p:sp>
      <p:sp>
        <p:nvSpPr>
          <p:cNvPr id="15" name="Text 13"/>
          <p:cNvSpPr/>
          <p:nvPr/>
        </p:nvSpPr>
        <p:spPr>
          <a:xfrm>
            <a:off x="1883664" y="2011680"/>
            <a:ext cx="5394960" cy="256032"/>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Validates fields, converts types, calls POST /assess</a:t>
            </a:r>
            <a:endParaRPr lang="en-US" sz="1100" dirty="0"/>
          </a:p>
        </p:txBody>
      </p:sp>
      <p:sp>
        <p:nvSpPr>
          <p:cNvPr id="16" name="Shape 14"/>
          <p:cNvSpPr/>
          <p:nvPr/>
        </p:nvSpPr>
        <p:spPr>
          <a:xfrm>
            <a:off x="4535424" y="2322576"/>
            <a:ext cx="73152" cy="164592"/>
          </a:xfrm>
          <a:prstGeom prst="rect">
            <a:avLst/>
          </a:prstGeom>
          <a:solidFill>
            <a:srgbClr val="94A3B8"/>
          </a:solidFill>
          <a:ln w="12700">
            <a:solidFill>
              <a:srgbClr val="94A3B8"/>
            </a:solidFill>
            <a:prstDash val="solid"/>
          </a:ln>
        </p:spPr>
        <p:txBody>
          <a:bodyPr/>
          <a:lstStyle/>
          <a:p>
            <a:endParaRPr lang="en-IN"/>
          </a:p>
        </p:txBody>
      </p:sp>
      <p:sp>
        <p:nvSpPr>
          <p:cNvPr id="17" name="Shape 15"/>
          <p:cNvSpPr/>
          <p:nvPr/>
        </p:nvSpPr>
        <p:spPr>
          <a:xfrm>
            <a:off x="4407408" y="2432304"/>
            <a:ext cx="329184" cy="73152"/>
          </a:xfrm>
          <a:prstGeom prst="rect">
            <a:avLst/>
          </a:prstGeom>
          <a:solidFill>
            <a:srgbClr val="94A3B8"/>
          </a:solidFill>
          <a:ln w="12700">
            <a:solidFill>
              <a:srgbClr val="94A3B8"/>
            </a:solidFill>
            <a:prstDash val="solid"/>
          </a:ln>
        </p:spPr>
        <p:txBody>
          <a:bodyPr/>
          <a:lstStyle/>
          <a:p>
            <a:endParaRPr lang="en-IN"/>
          </a:p>
        </p:txBody>
      </p:sp>
      <p:sp>
        <p:nvSpPr>
          <p:cNvPr id="18" name="Shape 16"/>
          <p:cNvSpPr/>
          <p:nvPr/>
        </p:nvSpPr>
        <p:spPr>
          <a:xfrm>
            <a:off x="4517136" y="2450592"/>
            <a:ext cx="109728" cy="54864"/>
          </a:xfrm>
          <a:prstGeom prst="rect">
            <a:avLst/>
          </a:prstGeom>
          <a:solidFill>
            <a:srgbClr val="94A3B8"/>
          </a:solidFill>
          <a:ln w="12700">
            <a:solidFill>
              <a:srgbClr val="94A3B8"/>
            </a:solidFill>
            <a:prstDash val="solid"/>
          </a:ln>
        </p:spPr>
        <p:txBody>
          <a:bodyPr/>
          <a:lstStyle/>
          <a:p>
            <a:endParaRPr lang="en-IN"/>
          </a:p>
        </p:txBody>
      </p:sp>
      <p:sp>
        <p:nvSpPr>
          <p:cNvPr id="19" name="Shape 17"/>
          <p:cNvSpPr/>
          <p:nvPr/>
        </p:nvSpPr>
        <p:spPr>
          <a:xfrm>
            <a:off x="1645920" y="2523744"/>
            <a:ext cx="5852160" cy="658368"/>
          </a:xfrm>
          <a:prstGeom prst="rect">
            <a:avLst/>
          </a:prstGeom>
          <a:solidFill>
            <a:srgbClr val="EDE9FE"/>
          </a:solidFill>
          <a:ln w="19050">
            <a:solidFill>
              <a:srgbClr val="7C3AED"/>
            </a:solidFill>
            <a:prstDash val="solid"/>
          </a:ln>
        </p:spPr>
        <p:txBody>
          <a:bodyPr/>
          <a:lstStyle/>
          <a:p>
            <a:endParaRPr lang="en-IN"/>
          </a:p>
        </p:txBody>
      </p:sp>
      <p:sp>
        <p:nvSpPr>
          <p:cNvPr id="20" name="Shape 18"/>
          <p:cNvSpPr/>
          <p:nvPr/>
        </p:nvSpPr>
        <p:spPr>
          <a:xfrm>
            <a:off x="1645920" y="2523744"/>
            <a:ext cx="91440" cy="658368"/>
          </a:xfrm>
          <a:prstGeom prst="rect">
            <a:avLst/>
          </a:prstGeom>
          <a:solidFill>
            <a:srgbClr val="7C3AED"/>
          </a:solidFill>
          <a:ln w="12700">
            <a:solidFill>
              <a:srgbClr val="7C3AED"/>
            </a:solidFill>
            <a:prstDash val="solid"/>
          </a:ln>
        </p:spPr>
        <p:txBody>
          <a:bodyPr/>
          <a:lstStyle/>
          <a:p>
            <a:endParaRPr lang="en-IN"/>
          </a:p>
        </p:txBody>
      </p:sp>
      <p:sp>
        <p:nvSpPr>
          <p:cNvPr id="21" name="Text 19"/>
          <p:cNvSpPr/>
          <p:nvPr/>
        </p:nvSpPr>
        <p:spPr>
          <a:xfrm>
            <a:off x="1883664" y="2560320"/>
            <a:ext cx="2194560" cy="274320"/>
          </a:xfrm>
          <a:prstGeom prst="rect">
            <a:avLst/>
          </a:prstGeom>
          <a:noFill/>
          <a:ln/>
        </p:spPr>
        <p:txBody>
          <a:bodyPr wrap="square" lIns="0" tIns="0" rIns="0" bIns="0" rtlCol="0" anchor="ctr"/>
          <a:lstStyle/>
          <a:p>
            <a:pPr marL="0" indent="0">
              <a:buNone/>
            </a:pPr>
            <a:r>
              <a:rPr lang="en-US" sz="1300" b="1" dirty="0">
                <a:solidFill>
                  <a:srgbClr val="7C3AED"/>
                </a:solidFill>
                <a:latin typeface="Calibri" pitchFamily="34" charset="0"/>
                <a:ea typeface="Calibri" pitchFamily="34" charset="-122"/>
                <a:cs typeface="Calibri" pitchFamily="34" charset="-120"/>
              </a:rPr>
              <a:t>FastAPI Backend</a:t>
            </a:r>
            <a:endParaRPr lang="en-US" sz="1300" dirty="0"/>
          </a:p>
        </p:txBody>
      </p:sp>
      <p:sp>
        <p:nvSpPr>
          <p:cNvPr id="22" name="Text 20"/>
          <p:cNvSpPr/>
          <p:nvPr/>
        </p:nvSpPr>
        <p:spPr>
          <a:xfrm>
            <a:off x="1883664" y="2871216"/>
            <a:ext cx="5394960" cy="256032"/>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Pydantic validation, calls ML model, maps risk tier</a:t>
            </a:r>
            <a:endParaRPr lang="en-US" sz="1100" dirty="0"/>
          </a:p>
        </p:txBody>
      </p:sp>
      <p:sp>
        <p:nvSpPr>
          <p:cNvPr id="23" name="Shape 21"/>
          <p:cNvSpPr/>
          <p:nvPr/>
        </p:nvSpPr>
        <p:spPr>
          <a:xfrm>
            <a:off x="4535424" y="3182112"/>
            <a:ext cx="73152" cy="164592"/>
          </a:xfrm>
          <a:prstGeom prst="rect">
            <a:avLst/>
          </a:prstGeom>
          <a:solidFill>
            <a:srgbClr val="94A3B8"/>
          </a:solidFill>
          <a:ln w="12700">
            <a:solidFill>
              <a:srgbClr val="94A3B8"/>
            </a:solidFill>
            <a:prstDash val="solid"/>
          </a:ln>
        </p:spPr>
        <p:txBody>
          <a:bodyPr/>
          <a:lstStyle/>
          <a:p>
            <a:endParaRPr lang="en-IN"/>
          </a:p>
        </p:txBody>
      </p:sp>
      <p:sp>
        <p:nvSpPr>
          <p:cNvPr id="24" name="Shape 22"/>
          <p:cNvSpPr/>
          <p:nvPr/>
        </p:nvSpPr>
        <p:spPr>
          <a:xfrm>
            <a:off x="4407408" y="3291840"/>
            <a:ext cx="329184" cy="73152"/>
          </a:xfrm>
          <a:prstGeom prst="rect">
            <a:avLst/>
          </a:prstGeom>
          <a:solidFill>
            <a:srgbClr val="94A3B8"/>
          </a:solidFill>
          <a:ln w="12700">
            <a:solidFill>
              <a:srgbClr val="94A3B8"/>
            </a:solidFill>
            <a:prstDash val="solid"/>
          </a:ln>
        </p:spPr>
        <p:txBody>
          <a:bodyPr/>
          <a:lstStyle/>
          <a:p>
            <a:endParaRPr lang="en-IN"/>
          </a:p>
        </p:txBody>
      </p:sp>
      <p:sp>
        <p:nvSpPr>
          <p:cNvPr id="25" name="Shape 23"/>
          <p:cNvSpPr/>
          <p:nvPr/>
        </p:nvSpPr>
        <p:spPr>
          <a:xfrm>
            <a:off x="4517136" y="3310128"/>
            <a:ext cx="109728" cy="54864"/>
          </a:xfrm>
          <a:prstGeom prst="rect">
            <a:avLst/>
          </a:prstGeom>
          <a:solidFill>
            <a:srgbClr val="94A3B8"/>
          </a:solidFill>
          <a:ln w="12700">
            <a:solidFill>
              <a:srgbClr val="94A3B8"/>
            </a:solidFill>
            <a:prstDash val="solid"/>
          </a:ln>
        </p:spPr>
        <p:txBody>
          <a:bodyPr/>
          <a:lstStyle/>
          <a:p>
            <a:endParaRPr lang="en-IN"/>
          </a:p>
        </p:txBody>
      </p:sp>
      <p:sp>
        <p:nvSpPr>
          <p:cNvPr id="26" name="Shape 24"/>
          <p:cNvSpPr/>
          <p:nvPr/>
        </p:nvSpPr>
        <p:spPr>
          <a:xfrm>
            <a:off x="1645920" y="3383280"/>
            <a:ext cx="5852160" cy="658368"/>
          </a:xfrm>
          <a:prstGeom prst="rect">
            <a:avLst/>
          </a:prstGeom>
          <a:solidFill>
            <a:srgbClr val="DCFCE7"/>
          </a:solidFill>
          <a:ln w="19050">
            <a:solidFill>
              <a:srgbClr val="16A34A"/>
            </a:solidFill>
            <a:prstDash val="solid"/>
          </a:ln>
        </p:spPr>
        <p:txBody>
          <a:bodyPr/>
          <a:lstStyle/>
          <a:p>
            <a:endParaRPr lang="en-IN"/>
          </a:p>
        </p:txBody>
      </p:sp>
      <p:sp>
        <p:nvSpPr>
          <p:cNvPr id="27" name="Shape 25"/>
          <p:cNvSpPr/>
          <p:nvPr/>
        </p:nvSpPr>
        <p:spPr>
          <a:xfrm>
            <a:off x="1645920" y="3383280"/>
            <a:ext cx="91440" cy="658368"/>
          </a:xfrm>
          <a:prstGeom prst="rect">
            <a:avLst/>
          </a:prstGeom>
          <a:solidFill>
            <a:srgbClr val="16A34A"/>
          </a:solidFill>
          <a:ln w="12700">
            <a:solidFill>
              <a:srgbClr val="16A34A"/>
            </a:solidFill>
            <a:prstDash val="solid"/>
          </a:ln>
        </p:spPr>
        <p:txBody>
          <a:bodyPr/>
          <a:lstStyle/>
          <a:p>
            <a:endParaRPr lang="en-IN"/>
          </a:p>
        </p:txBody>
      </p:sp>
      <p:sp>
        <p:nvSpPr>
          <p:cNvPr id="28" name="Text 26"/>
          <p:cNvSpPr/>
          <p:nvPr/>
        </p:nvSpPr>
        <p:spPr>
          <a:xfrm>
            <a:off x="1883664" y="3419856"/>
            <a:ext cx="2194560" cy="274320"/>
          </a:xfrm>
          <a:prstGeom prst="rect">
            <a:avLst/>
          </a:prstGeom>
          <a:noFill/>
          <a:ln/>
        </p:spPr>
        <p:txBody>
          <a:bodyPr wrap="square" lIns="0" tIns="0" rIns="0" bIns="0" rtlCol="0" anchor="ctr"/>
          <a:lstStyle/>
          <a:p>
            <a:pPr marL="0" indent="0">
              <a:buNone/>
            </a:pPr>
            <a:r>
              <a:rPr lang="en-US" sz="1300" b="1" dirty="0">
                <a:solidFill>
                  <a:srgbClr val="16A34A"/>
                </a:solidFill>
                <a:latin typeface="Calibri" pitchFamily="34" charset="0"/>
                <a:ea typeface="Calibri" pitchFamily="34" charset="-122"/>
                <a:cs typeface="Calibri" pitchFamily="34" charset="-120"/>
              </a:rPr>
              <a:t>ML Pipeline (scikit-learn)</a:t>
            </a:r>
            <a:endParaRPr lang="en-US" sz="1300" dirty="0"/>
          </a:p>
        </p:txBody>
      </p:sp>
      <p:sp>
        <p:nvSpPr>
          <p:cNvPr id="29" name="Text 27"/>
          <p:cNvSpPr/>
          <p:nvPr/>
        </p:nvSpPr>
        <p:spPr>
          <a:xfrm>
            <a:off x="1883664" y="3730752"/>
            <a:ext cx="5394960" cy="256032"/>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StandardScaler → RandomForest → predict_proba()</a:t>
            </a:r>
            <a:endParaRPr lang="en-US" sz="1100" dirty="0"/>
          </a:p>
        </p:txBody>
      </p:sp>
      <p:sp>
        <p:nvSpPr>
          <p:cNvPr id="30" name="Shape 28"/>
          <p:cNvSpPr/>
          <p:nvPr/>
        </p:nvSpPr>
        <p:spPr>
          <a:xfrm>
            <a:off x="4535424" y="4041648"/>
            <a:ext cx="73152" cy="164592"/>
          </a:xfrm>
          <a:prstGeom prst="rect">
            <a:avLst/>
          </a:prstGeom>
          <a:solidFill>
            <a:srgbClr val="94A3B8"/>
          </a:solidFill>
          <a:ln w="12700">
            <a:solidFill>
              <a:srgbClr val="94A3B8"/>
            </a:solidFill>
            <a:prstDash val="solid"/>
          </a:ln>
        </p:spPr>
        <p:txBody>
          <a:bodyPr/>
          <a:lstStyle/>
          <a:p>
            <a:endParaRPr lang="en-IN"/>
          </a:p>
        </p:txBody>
      </p:sp>
      <p:sp>
        <p:nvSpPr>
          <p:cNvPr id="31" name="Shape 29"/>
          <p:cNvSpPr/>
          <p:nvPr/>
        </p:nvSpPr>
        <p:spPr>
          <a:xfrm>
            <a:off x="4407408" y="4151376"/>
            <a:ext cx="329184" cy="73152"/>
          </a:xfrm>
          <a:prstGeom prst="rect">
            <a:avLst/>
          </a:prstGeom>
          <a:solidFill>
            <a:srgbClr val="94A3B8"/>
          </a:solidFill>
          <a:ln w="12700">
            <a:solidFill>
              <a:srgbClr val="94A3B8"/>
            </a:solidFill>
            <a:prstDash val="solid"/>
          </a:ln>
        </p:spPr>
        <p:txBody>
          <a:bodyPr/>
          <a:lstStyle/>
          <a:p>
            <a:endParaRPr lang="en-IN"/>
          </a:p>
        </p:txBody>
      </p:sp>
      <p:sp>
        <p:nvSpPr>
          <p:cNvPr id="32" name="Shape 30"/>
          <p:cNvSpPr/>
          <p:nvPr/>
        </p:nvSpPr>
        <p:spPr>
          <a:xfrm>
            <a:off x="4517136" y="4169664"/>
            <a:ext cx="109728" cy="54864"/>
          </a:xfrm>
          <a:prstGeom prst="rect">
            <a:avLst/>
          </a:prstGeom>
          <a:solidFill>
            <a:srgbClr val="94A3B8"/>
          </a:solidFill>
          <a:ln w="12700">
            <a:solidFill>
              <a:srgbClr val="94A3B8"/>
            </a:solidFill>
            <a:prstDash val="solid"/>
          </a:ln>
        </p:spPr>
        <p:txBody>
          <a:bodyPr/>
          <a:lstStyle/>
          <a:p>
            <a:endParaRPr lang="en-IN"/>
          </a:p>
        </p:txBody>
      </p:sp>
      <p:sp>
        <p:nvSpPr>
          <p:cNvPr id="33" name="Shape 31"/>
          <p:cNvSpPr/>
          <p:nvPr/>
        </p:nvSpPr>
        <p:spPr>
          <a:xfrm>
            <a:off x="1645920" y="4242816"/>
            <a:ext cx="5852160" cy="658368"/>
          </a:xfrm>
          <a:prstGeom prst="rect">
            <a:avLst/>
          </a:prstGeom>
          <a:solidFill>
            <a:srgbClr val="FEF3C7"/>
          </a:solidFill>
          <a:ln w="19050">
            <a:solidFill>
              <a:srgbClr val="D97706"/>
            </a:solidFill>
            <a:prstDash val="solid"/>
          </a:ln>
        </p:spPr>
        <p:txBody>
          <a:bodyPr/>
          <a:lstStyle/>
          <a:p>
            <a:endParaRPr lang="en-IN"/>
          </a:p>
        </p:txBody>
      </p:sp>
      <p:sp>
        <p:nvSpPr>
          <p:cNvPr id="34" name="Shape 32"/>
          <p:cNvSpPr/>
          <p:nvPr/>
        </p:nvSpPr>
        <p:spPr>
          <a:xfrm>
            <a:off x="1645920" y="4242816"/>
            <a:ext cx="91440" cy="658368"/>
          </a:xfrm>
          <a:prstGeom prst="rect">
            <a:avLst/>
          </a:prstGeom>
          <a:solidFill>
            <a:srgbClr val="D97706"/>
          </a:solidFill>
          <a:ln w="12700">
            <a:solidFill>
              <a:srgbClr val="D97706"/>
            </a:solidFill>
            <a:prstDash val="solid"/>
          </a:ln>
        </p:spPr>
        <p:txBody>
          <a:bodyPr/>
          <a:lstStyle/>
          <a:p>
            <a:endParaRPr lang="en-IN"/>
          </a:p>
        </p:txBody>
      </p:sp>
      <p:sp>
        <p:nvSpPr>
          <p:cNvPr id="35" name="Text 33"/>
          <p:cNvSpPr/>
          <p:nvPr/>
        </p:nvSpPr>
        <p:spPr>
          <a:xfrm>
            <a:off x="1883664" y="4279392"/>
            <a:ext cx="2194560" cy="274320"/>
          </a:xfrm>
          <a:prstGeom prst="rect">
            <a:avLst/>
          </a:prstGeom>
          <a:noFill/>
          <a:ln/>
        </p:spPr>
        <p:txBody>
          <a:bodyPr wrap="square" lIns="0" tIns="0" rIns="0" bIns="0" rtlCol="0" anchor="ctr"/>
          <a:lstStyle/>
          <a:p>
            <a:pPr marL="0" indent="0">
              <a:buNone/>
            </a:pPr>
            <a:r>
              <a:rPr lang="en-US" sz="1300" b="1" dirty="0">
                <a:solidFill>
                  <a:srgbClr val="D97706"/>
                </a:solidFill>
                <a:latin typeface="Calibri" pitchFamily="34" charset="0"/>
                <a:ea typeface="Calibri" pitchFamily="34" charset="-122"/>
                <a:cs typeface="Calibri" pitchFamily="34" charset="-120"/>
              </a:rPr>
              <a:t>PostgreSQL (Docker)</a:t>
            </a:r>
            <a:endParaRPr lang="en-US" sz="1300" dirty="0"/>
          </a:p>
        </p:txBody>
      </p:sp>
      <p:sp>
        <p:nvSpPr>
          <p:cNvPr id="36" name="Text 34"/>
          <p:cNvSpPr/>
          <p:nvPr/>
        </p:nvSpPr>
        <p:spPr>
          <a:xfrm>
            <a:off x="1883664" y="4590288"/>
            <a:ext cx="5394960" cy="256032"/>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Stores all 11 inputs + risk_score + risk_level</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9488"/>
          </a:solidFill>
          <a:ln w="12700">
            <a:solidFill>
              <a:srgbClr val="0D9488"/>
            </a:solidFill>
            <a:prstDash val="solid"/>
          </a:ln>
        </p:spPr>
        <p:txBody>
          <a:bodyPr/>
          <a:lstStyle/>
          <a:p>
            <a:endParaRPr lang="en-IN"/>
          </a:p>
        </p:txBody>
      </p:sp>
      <p:sp>
        <p:nvSpPr>
          <p:cNvPr id="3" name="Text 1"/>
          <p:cNvSpPr/>
          <p:nvPr/>
        </p:nvSpPr>
        <p:spPr>
          <a:xfrm>
            <a:off x="320040" y="0"/>
            <a:ext cx="850392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How We Trained the Model — Step by Step</a:t>
            </a:r>
            <a:endParaRPr lang="en-US" sz="2200" dirty="0"/>
          </a:p>
        </p:txBody>
      </p:sp>
      <p:sp>
        <p:nvSpPr>
          <p:cNvPr id="4" name="Shape 2"/>
          <p:cNvSpPr/>
          <p:nvPr/>
        </p:nvSpPr>
        <p:spPr>
          <a:xfrm>
            <a:off x="0" y="5184648"/>
            <a:ext cx="9144000" cy="73152"/>
          </a:xfrm>
          <a:prstGeom prst="rect">
            <a:avLst/>
          </a:prstGeom>
          <a:solidFill>
            <a:srgbClr val="CCFBF1"/>
          </a:solidFill>
          <a:ln w="12700">
            <a:solidFill>
              <a:srgbClr val="CCFBF1"/>
            </a:solidFill>
            <a:prstDash val="solid"/>
          </a:ln>
        </p:spPr>
        <p:txBody>
          <a:bodyPr/>
          <a:lstStyle/>
          <a:p>
            <a:endParaRPr lang="en-IN"/>
          </a:p>
        </p:txBody>
      </p:sp>
      <p:sp>
        <p:nvSpPr>
          <p:cNvPr id="5" name="Shape 3"/>
          <p:cNvSpPr/>
          <p:nvPr/>
        </p:nvSpPr>
        <p:spPr>
          <a:xfrm>
            <a:off x="201168" y="768096"/>
            <a:ext cx="1353312" cy="4005072"/>
          </a:xfrm>
          <a:prstGeom prst="rect">
            <a:avLst/>
          </a:prstGeom>
          <a:solidFill>
            <a:srgbClr val="FFFFFF"/>
          </a:solidFill>
          <a:ln w="19050">
            <a:solidFill>
              <a:srgbClr val="0D9488"/>
            </a:solidFill>
            <a:prstDash val="solid"/>
          </a:ln>
        </p:spPr>
        <p:txBody>
          <a:bodyPr/>
          <a:lstStyle/>
          <a:p>
            <a:endParaRPr lang="en-IN"/>
          </a:p>
        </p:txBody>
      </p:sp>
      <p:sp>
        <p:nvSpPr>
          <p:cNvPr id="6" name="Shape 4"/>
          <p:cNvSpPr/>
          <p:nvPr/>
        </p:nvSpPr>
        <p:spPr>
          <a:xfrm>
            <a:off x="201168" y="768096"/>
            <a:ext cx="1353312" cy="512064"/>
          </a:xfrm>
          <a:prstGeom prst="rect">
            <a:avLst/>
          </a:prstGeom>
          <a:solidFill>
            <a:srgbClr val="0D9488"/>
          </a:solidFill>
          <a:ln w="12700">
            <a:solidFill>
              <a:srgbClr val="0D9488"/>
            </a:solidFill>
            <a:prstDash val="solid"/>
          </a:ln>
        </p:spPr>
        <p:txBody>
          <a:bodyPr/>
          <a:lstStyle/>
          <a:p>
            <a:endParaRPr lang="en-IN"/>
          </a:p>
        </p:txBody>
      </p:sp>
      <p:sp>
        <p:nvSpPr>
          <p:cNvPr id="7" name="Text 5"/>
          <p:cNvSpPr/>
          <p:nvPr/>
        </p:nvSpPr>
        <p:spPr>
          <a:xfrm>
            <a:off x="201168" y="768096"/>
            <a:ext cx="1353312" cy="512064"/>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6"/>
          <p:cNvSpPr/>
          <p:nvPr/>
        </p:nvSpPr>
        <p:spPr>
          <a:xfrm>
            <a:off x="274320" y="1371600"/>
            <a:ext cx="1207008" cy="384048"/>
          </a:xfrm>
          <a:prstGeom prst="rect">
            <a:avLst/>
          </a:prstGeom>
          <a:noFill/>
          <a:ln/>
        </p:spPr>
        <p:txBody>
          <a:bodyPr wrap="square" rtlCol="0" anchor="ctr"/>
          <a:lstStyle/>
          <a:p>
            <a:pPr marL="0" indent="0" algn="ctr">
              <a:buNone/>
            </a:pPr>
            <a:r>
              <a:rPr lang="en-US" sz="1150" b="1" dirty="0">
                <a:solidFill>
                  <a:srgbClr val="0D9488"/>
                </a:solidFill>
                <a:latin typeface="Calibri" pitchFamily="34" charset="0"/>
                <a:ea typeface="Calibri" pitchFamily="34" charset="-122"/>
                <a:cs typeface="Calibri" pitchFamily="34" charset="-120"/>
              </a:rPr>
              <a:t>Load Data</a:t>
            </a:r>
            <a:endParaRPr lang="en-US" sz="1150" dirty="0"/>
          </a:p>
        </p:txBody>
      </p:sp>
      <p:sp>
        <p:nvSpPr>
          <p:cNvPr id="9" name="Text 7"/>
          <p:cNvSpPr/>
          <p:nvPr/>
        </p:nvSpPr>
        <p:spPr>
          <a:xfrm>
            <a:off x="274320" y="1828800"/>
            <a:ext cx="1207008" cy="2651760"/>
          </a:xfrm>
          <a:prstGeom prst="rect">
            <a:avLst/>
          </a:prstGeom>
          <a:noFill/>
          <a:ln/>
        </p:spPr>
        <p:txBody>
          <a:bodyPr wrap="square" rtlCol="0" anchor="ctr"/>
          <a:lstStyle/>
          <a:p>
            <a:pPr marL="0" indent="0" algn="ctr">
              <a:buNone/>
            </a:pPr>
            <a:r>
              <a:rPr lang="en-US" sz="1050" dirty="0">
                <a:solidFill>
                  <a:srgbClr val="475569"/>
                </a:solidFill>
                <a:latin typeface="Calibri" pitchFamily="34" charset="0"/>
                <a:ea typeface="Calibri" pitchFamily="34" charset="-122"/>
                <a:cs typeface="Calibri" pitchFamily="34" charset="-120"/>
              </a:rPr>
              <a:t>UCI Cleveland CSV</a:t>
            </a:r>
            <a:endParaRPr lang="en-US" sz="1050" dirty="0"/>
          </a:p>
          <a:p>
            <a:pPr marL="0" indent="0" algn="ctr">
              <a:buNone/>
            </a:pPr>
            <a:r>
              <a:rPr lang="en-US" sz="1050" dirty="0">
                <a:solidFill>
                  <a:srgbClr val="475569"/>
                </a:solidFill>
                <a:latin typeface="Calibri" pitchFamily="34" charset="0"/>
                <a:ea typeface="Calibri" pitchFamily="34" charset="-122"/>
                <a:cs typeface="Calibri" pitchFamily="34" charset="-120"/>
              </a:rPr>
              <a:t>297 rows after dropna()</a:t>
            </a:r>
            <a:endParaRPr lang="en-US" sz="1050" dirty="0"/>
          </a:p>
        </p:txBody>
      </p:sp>
      <p:sp>
        <p:nvSpPr>
          <p:cNvPr id="10" name="Shape 8"/>
          <p:cNvSpPr/>
          <p:nvPr/>
        </p:nvSpPr>
        <p:spPr>
          <a:xfrm>
            <a:off x="1554480" y="2560320"/>
            <a:ext cx="128016" cy="36576"/>
          </a:xfrm>
          <a:prstGeom prst="rect">
            <a:avLst/>
          </a:prstGeom>
          <a:solidFill>
            <a:srgbClr val="94A3B8"/>
          </a:solidFill>
          <a:ln w="12700">
            <a:solidFill>
              <a:srgbClr val="94A3B8"/>
            </a:solidFill>
            <a:prstDash val="solid"/>
          </a:ln>
        </p:spPr>
        <p:txBody>
          <a:bodyPr/>
          <a:lstStyle/>
          <a:p>
            <a:endParaRPr lang="en-IN"/>
          </a:p>
        </p:txBody>
      </p:sp>
      <p:sp>
        <p:nvSpPr>
          <p:cNvPr id="11" name="Shape 9"/>
          <p:cNvSpPr/>
          <p:nvPr/>
        </p:nvSpPr>
        <p:spPr>
          <a:xfrm>
            <a:off x="1682496" y="768096"/>
            <a:ext cx="1353312" cy="4005072"/>
          </a:xfrm>
          <a:prstGeom prst="rect">
            <a:avLst/>
          </a:prstGeom>
          <a:solidFill>
            <a:srgbClr val="FFFFFF"/>
          </a:solidFill>
          <a:ln w="19050">
            <a:solidFill>
              <a:srgbClr val="2563EB"/>
            </a:solidFill>
            <a:prstDash val="solid"/>
          </a:ln>
        </p:spPr>
        <p:txBody>
          <a:bodyPr/>
          <a:lstStyle/>
          <a:p>
            <a:endParaRPr lang="en-IN"/>
          </a:p>
        </p:txBody>
      </p:sp>
      <p:sp>
        <p:nvSpPr>
          <p:cNvPr id="12" name="Shape 10"/>
          <p:cNvSpPr/>
          <p:nvPr/>
        </p:nvSpPr>
        <p:spPr>
          <a:xfrm>
            <a:off x="1682496" y="768096"/>
            <a:ext cx="1353312" cy="512064"/>
          </a:xfrm>
          <a:prstGeom prst="rect">
            <a:avLst/>
          </a:prstGeom>
          <a:solidFill>
            <a:srgbClr val="2563EB"/>
          </a:solidFill>
          <a:ln w="12700">
            <a:solidFill>
              <a:srgbClr val="2563EB"/>
            </a:solidFill>
            <a:prstDash val="solid"/>
          </a:ln>
        </p:spPr>
        <p:txBody>
          <a:bodyPr/>
          <a:lstStyle/>
          <a:p>
            <a:endParaRPr lang="en-IN"/>
          </a:p>
        </p:txBody>
      </p:sp>
      <p:sp>
        <p:nvSpPr>
          <p:cNvPr id="13" name="Text 11"/>
          <p:cNvSpPr/>
          <p:nvPr/>
        </p:nvSpPr>
        <p:spPr>
          <a:xfrm>
            <a:off x="1682496" y="768096"/>
            <a:ext cx="1353312" cy="512064"/>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4" name="Text 12"/>
          <p:cNvSpPr/>
          <p:nvPr/>
        </p:nvSpPr>
        <p:spPr>
          <a:xfrm>
            <a:off x="1755648" y="1371600"/>
            <a:ext cx="1207008" cy="384048"/>
          </a:xfrm>
          <a:prstGeom prst="rect">
            <a:avLst/>
          </a:prstGeom>
          <a:noFill/>
          <a:ln/>
        </p:spPr>
        <p:txBody>
          <a:bodyPr wrap="square" rtlCol="0" anchor="ctr"/>
          <a:lstStyle/>
          <a:p>
            <a:pPr marL="0" indent="0" algn="ctr">
              <a:buNone/>
            </a:pPr>
            <a:r>
              <a:rPr lang="en-US" sz="1150" b="1" dirty="0">
                <a:solidFill>
                  <a:srgbClr val="2563EB"/>
                </a:solidFill>
                <a:latin typeface="Calibri" pitchFamily="34" charset="0"/>
                <a:ea typeface="Calibri" pitchFamily="34" charset="-122"/>
                <a:cs typeface="Calibri" pitchFamily="34" charset="-120"/>
              </a:rPr>
              <a:t>Binarize Target</a:t>
            </a:r>
            <a:endParaRPr lang="en-US" sz="1150" dirty="0"/>
          </a:p>
        </p:txBody>
      </p:sp>
      <p:sp>
        <p:nvSpPr>
          <p:cNvPr id="15" name="Text 13"/>
          <p:cNvSpPr/>
          <p:nvPr/>
        </p:nvSpPr>
        <p:spPr>
          <a:xfrm>
            <a:off x="1755648" y="1828800"/>
            <a:ext cx="1207008" cy="2651760"/>
          </a:xfrm>
          <a:prstGeom prst="rect">
            <a:avLst/>
          </a:prstGeom>
          <a:noFill/>
          <a:ln/>
        </p:spPr>
        <p:txBody>
          <a:bodyPr wrap="square" rtlCol="0" anchor="ctr"/>
          <a:lstStyle/>
          <a:p>
            <a:pPr marL="0" indent="0" algn="ctr">
              <a:buNone/>
            </a:pPr>
            <a:r>
              <a:rPr lang="en-US" sz="1050" dirty="0">
                <a:solidFill>
                  <a:srgbClr val="475569"/>
                </a:solidFill>
                <a:latin typeface="Calibri" pitchFamily="34" charset="0"/>
                <a:ea typeface="Calibri" pitchFamily="34" charset="-122"/>
                <a:cs typeface="Calibri" pitchFamily="34" charset="-120"/>
              </a:rPr>
              <a:t>Original 0–4 scale</a:t>
            </a:r>
            <a:endParaRPr lang="en-US" sz="1050" dirty="0"/>
          </a:p>
          <a:p>
            <a:pPr marL="0" indent="0" algn="ctr">
              <a:buNone/>
            </a:pPr>
            <a:r>
              <a:rPr lang="en-US" sz="1050" dirty="0">
                <a:solidFill>
                  <a:srgbClr val="475569"/>
                </a:solidFill>
                <a:latin typeface="Calibri" pitchFamily="34" charset="0"/>
                <a:ea typeface="Calibri" pitchFamily="34" charset="-122"/>
                <a:cs typeface="Calibri" pitchFamily="34" charset="-120"/>
              </a:rPr>
              <a:t>→ 0=No disease, 1=Disease</a:t>
            </a:r>
            <a:endParaRPr lang="en-US" sz="1050" dirty="0"/>
          </a:p>
        </p:txBody>
      </p:sp>
      <p:sp>
        <p:nvSpPr>
          <p:cNvPr id="16" name="Shape 14"/>
          <p:cNvSpPr/>
          <p:nvPr/>
        </p:nvSpPr>
        <p:spPr>
          <a:xfrm>
            <a:off x="3035808" y="2560320"/>
            <a:ext cx="128016" cy="36576"/>
          </a:xfrm>
          <a:prstGeom prst="rect">
            <a:avLst/>
          </a:prstGeom>
          <a:solidFill>
            <a:srgbClr val="94A3B8"/>
          </a:solidFill>
          <a:ln w="12700">
            <a:solidFill>
              <a:srgbClr val="94A3B8"/>
            </a:solidFill>
            <a:prstDash val="solid"/>
          </a:ln>
        </p:spPr>
        <p:txBody>
          <a:bodyPr/>
          <a:lstStyle/>
          <a:p>
            <a:endParaRPr lang="en-IN"/>
          </a:p>
        </p:txBody>
      </p:sp>
      <p:sp>
        <p:nvSpPr>
          <p:cNvPr id="17" name="Shape 15"/>
          <p:cNvSpPr/>
          <p:nvPr/>
        </p:nvSpPr>
        <p:spPr>
          <a:xfrm>
            <a:off x="3163824" y="768096"/>
            <a:ext cx="1353312" cy="4005072"/>
          </a:xfrm>
          <a:prstGeom prst="rect">
            <a:avLst/>
          </a:prstGeom>
          <a:solidFill>
            <a:srgbClr val="FFFFFF"/>
          </a:solidFill>
          <a:ln w="19050">
            <a:solidFill>
              <a:srgbClr val="7C3AED"/>
            </a:solidFill>
            <a:prstDash val="solid"/>
          </a:ln>
        </p:spPr>
        <p:txBody>
          <a:bodyPr/>
          <a:lstStyle/>
          <a:p>
            <a:endParaRPr lang="en-IN"/>
          </a:p>
        </p:txBody>
      </p:sp>
      <p:sp>
        <p:nvSpPr>
          <p:cNvPr id="18" name="Shape 16"/>
          <p:cNvSpPr/>
          <p:nvPr/>
        </p:nvSpPr>
        <p:spPr>
          <a:xfrm>
            <a:off x="3163824" y="768096"/>
            <a:ext cx="1353312" cy="512064"/>
          </a:xfrm>
          <a:prstGeom prst="rect">
            <a:avLst/>
          </a:prstGeom>
          <a:solidFill>
            <a:srgbClr val="7C3AED"/>
          </a:solidFill>
          <a:ln w="12700">
            <a:solidFill>
              <a:srgbClr val="7C3AED"/>
            </a:solidFill>
            <a:prstDash val="solid"/>
          </a:ln>
        </p:spPr>
        <p:txBody>
          <a:bodyPr/>
          <a:lstStyle/>
          <a:p>
            <a:endParaRPr lang="en-IN"/>
          </a:p>
        </p:txBody>
      </p:sp>
      <p:sp>
        <p:nvSpPr>
          <p:cNvPr id="19" name="Text 17"/>
          <p:cNvSpPr/>
          <p:nvPr/>
        </p:nvSpPr>
        <p:spPr>
          <a:xfrm>
            <a:off x="3163824" y="768096"/>
            <a:ext cx="1353312" cy="512064"/>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0" name="Text 18"/>
          <p:cNvSpPr/>
          <p:nvPr/>
        </p:nvSpPr>
        <p:spPr>
          <a:xfrm>
            <a:off x="3236976" y="1371600"/>
            <a:ext cx="1207008" cy="384048"/>
          </a:xfrm>
          <a:prstGeom prst="rect">
            <a:avLst/>
          </a:prstGeom>
          <a:noFill/>
          <a:ln/>
        </p:spPr>
        <p:txBody>
          <a:bodyPr wrap="square" rtlCol="0" anchor="ctr"/>
          <a:lstStyle/>
          <a:p>
            <a:pPr marL="0" indent="0" algn="ctr">
              <a:buNone/>
            </a:pPr>
            <a:r>
              <a:rPr lang="en-US" sz="1150" b="1" dirty="0">
                <a:solidFill>
                  <a:srgbClr val="7C3AED"/>
                </a:solidFill>
                <a:latin typeface="Calibri" pitchFamily="34" charset="0"/>
                <a:ea typeface="Calibri" pitchFamily="34" charset="-122"/>
                <a:cs typeface="Calibri" pitchFamily="34" charset="-120"/>
              </a:rPr>
              <a:t>Split 80 / 20</a:t>
            </a:r>
            <a:endParaRPr lang="en-US" sz="1150" dirty="0"/>
          </a:p>
        </p:txBody>
      </p:sp>
      <p:sp>
        <p:nvSpPr>
          <p:cNvPr id="21" name="Text 19"/>
          <p:cNvSpPr/>
          <p:nvPr/>
        </p:nvSpPr>
        <p:spPr>
          <a:xfrm>
            <a:off x="3236976" y="1828800"/>
            <a:ext cx="1207008" cy="2651760"/>
          </a:xfrm>
          <a:prstGeom prst="rect">
            <a:avLst/>
          </a:prstGeom>
          <a:noFill/>
          <a:ln/>
        </p:spPr>
        <p:txBody>
          <a:bodyPr wrap="square" rtlCol="0" anchor="ctr"/>
          <a:lstStyle/>
          <a:p>
            <a:pPr marL="0" indent="0" algn="ctr">
              <a:buNone/>
            </a:pPr>
            <a:r>
              <a:rPr lang="en-US" sz="1050" dirty="0">
                <a:solidFill>
                  <a:srgbClr val="475569"/>
                </a:solidFill>
                <a:latin typeface="Calibri" pitchFamily="34" charset="0"/>
                <a:ea typeface="Calibri" pitchFamily="34" charset="-122"/>
                <a:cs typeface="Calibri" pitchFamily="34" charset="-120"/>
              </a:rPr>
              <a:t>238 train rows</a:t>
            </a:r>
            <a:endParaRPr lang="en-US" sz="1050" dirty="0"/>
          </a:p>
          <a:p>
            <a:pPr marL="0" indent="0" algn="ctr">
              <a:buNone/>
            </a:pPr>
            <a:r>
              <a:rPr lang="en-US" sz="1050" dirty="0">
                <a:solidFill>
                  <a:srgbClr val="475569"/>
                </a:solidFill>
                <a:latin typeface="Calibri" pitchFamily="34" charset="0"/>
                <a:ea typeface="Calibri" pitchFamily="34" charset="-122"/>
                <a:cs typeface="Calibri" pitchFamily="34" charset="-120"/>
              </a:rPr>
              <a:t>59 test rows</a:t>
            </a:r>
            <a:endParaRPr lang="en-US" sz="1050" dirty="0"/>
          </a:p>
          <a:p>
            <a:pPr marL="0" indent="0" algn="ctr">
              <a:buNone/>
            </a:pPr>
            <a:r>
              <a:rPr lang="en-US" sz="1050" dirty="0">
                <a:solidFill>
                  <a:srgbClr val="475569"/>
                </a:solidFill>
                <a:latin typeface="Calibri" pitchFamily="34" charset="0"/>
                <a:ea typeface="Calibri" pitchFamily="34" charset="-122"/>
                <a:cs typeface="Calibri" pitchFamily="34" charset="-120"/>
              </a:rPr>
              <a:t>stratified, seed=42</a:t>
            </a:r>
            <a:endParaRPr lang="en-US" sz="1050" dirty="0"/>
          </a:p>
        </p:txBody>
      </p:sp>
      <p:sp>
        <p:nvSpPr>
          <p:cNvPr id="22" name="Shape 20"/>
          <p:cNvSpPr/>
          <p:nvPr/>
        </p:nvSpPr>
        <p:spPr>
          <a:xfrm>
            <a:off x="4517136" y="2560320"/>
            <a:ext cx="128016" cy="36576"/>
          </a:xfrm>
          <a:prstGeom prst="rect">
            <a:avLst/>
          </a:prstGeom>
          <a:solidFill>
            <a:srgbClr val="94A3B8"/>
          </a:solidFill>
          <a:ln w="12700">
            <a:solidFill>
              <a:srgbClr val="94A3B8"/>
            </a:solidFill>
            <a:prstDash val="solid"/>
          </a:ln>
        </p:spPr>
        <p:txBody>
          <a:bodyPr/>
          <a:lstStyle/>
          <a:p>
            <a:endParaRPr lang="en-IN"/>
          </a:p>
        </p:txBody>
      </p:sp>
      <p:sp>
        <p:nvSpPr>
          <p:cNvPr id="23" name="Shape 21"/>
          <p:cNvSpPr/>
          <p:nvPr/>
        </p:nvSpPr>
        <p:spPr>
          <a:xfrm>
            <a:off x="4645152" y="768096"/>
            <a:ext cx="1353312" cy="4005072"/>
          </a:xfrm>
          <a:prstGeom prst="rect">
            <a:avLst/>
          </a:prstGeom>
          <a:solidFill>
            <a:srgbClr val="FFFFFF"/>
          </a:solidFill>
          <a:ln w="19050">
            <a:solidFill>
              <a:srgbClr val="16A34A"/>
            </a:solidFill>
            <a:prstDash val="solid"/>
          </a:ln>
        </p:spPr>
        <p:txBody>
          <a:bodyPr/>
          <a:lstStyle/>
          <a:p>
            <a:endParaRPr lang="en-IN"/>
          </a:p>
        </p:txBody>
      </p:sp>
      <p:sp>
        <p:nvSpPr>
          <p:cNvPr id="24" name="Shape 22"/>
          <p:cNvSpPr/>
          <p:nvPr/>
        </p:nvSpPr>
        <p:spPr>
          <a:xfrm>
            <a:off x="4645152" y="768096"/>
            <a:ext cx="1353312" cy="512064"/>
          </a:xfrm>
          <a:prstGeom prst="rect">
            <a:avLst/>
          </a:prstGeom>
          <a:solidFill>
            <a:srgbClr val="16A34A"/>
          </a:solidFill>
          <a:ln w="12700">
            <a:solidFill>
              <a:srgbClr val="16A34A"/>
            </a:solidFill>
            <a:prstDash val="solid"/>
          </a:ln>
        </p:spPr>
        <p:txBody>
          <a:bodyPr/>
          <a:lstStyle/>
          <a:p>
            <a:endParaRPr lang="en-IN"/>
          </a:p>
        </p:txBody>
      </p:sp>
      <p:sp>
        <p:nvSpPr>
          <p:cNvPr id="25" name="Text 23"/>
          <p:cNvSpPr/>
          <p:nvPr/>
        </p:nvSpPr>
        <p:spPr>
          <a:xfrm>
            <a:off x="4645152" y="768096"/>
            <a:ext cx="1353312" cy="512064"/>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6" name="Text 24"/>
          <p:cNvSpPr/>
          <p:nvPr/>
        </p:nvSpPr>
        <p:spPr>
          <a:xfrm>
            <a:off x="4718304" y="1371600"/>
            <a:ext cx="1207008" cy="384048"/>
          </a:xfrm>
          <a:prstGeom prst="rect">
            <a:avLst/>
          </a:prstGeom>
          <a:noFill/>
          <a:ln/>
        </p:spPr>
        <p:txBody>
          <a:bodyPr wrap="square" rtlCol="0" anchor="ctr"/>
          <a:lstStyle/>
          <a:p>
            <a:pPr marL="0" indent="0" algn="ctr">
              <a:buNone/>
            </a:pPr>
            <a:r>
              <a:rPr lang="en-US" sz="1150" b="1" dirty="0">
                <a:solidFill>
                  <a:srgbClr val="16A34A"/>
                </a:solidFill>
                <a:latin typeface="Calibri" pitchFamily="34" charset="0"/>
                <a:ea typeface="Calibri" pitchFamily="34" charset="-122"/>
                <a:cs typeface="Calibri" pitchFamily="34" charset="-120"/>
              </a:rPr>
              <a:t>Build Pipeline</a:t>
            </a:r>
            <a:endParaRPr lang="en-US" sz="1150" dirty="0"/>
          </a:p>
        </p:txBody>
      </p:sp>
      <p:sp>
        <p:nvSpPr>
          <p:cNvPr id="27" name="Text 25"/>
          <p:cNvSpPr/>
          <p:nvPr/>
        </p:nvSpPr>
        <p:spPr>
          <a:xfrm>
            <a:off x="4718304" y="1828800"/>
            <a:ext cx="1207008" cy="2651760"/>
          </a:xfrm>
          <a:prstGeom prst="rect">
            <a:avLst/>
          </a:prstGeom>
          <a:noFill/>
          <a:ln/>
        </p:spPr>
        <p:txBody>
          <a:bodyPr wrap="square" rtlCol="0" anchor="ctr"/>
          <a:lstStyle/>
          <a:p>
            <a:pPr marL="0" indent="0" algn="ctr">
              <a:buNone/>
            </a:pPr>
            <a:r>
              <a:rPr lang="en-US" sz="1050" dirty="0">
                <a:solidFill>
                  <a:srgbClr val="475569"/>
                </a:solidFill>
                <a:latin typeface="Calibri" pitchFamily="34" charset="0"/>
                <a:ea typeface="Calibri" pitchFamily="34" charset="-122"/>
                <a:cs typeface="Calibri" pitchFamily="34" charset="-120"/>
              </a:rPr>
              <a:t>StandardScaler</a:t>
            </a:r>
            <a:endParaRPr lang="en-US" sz="1050" dirty="0"/>
          </a:p>
          <a:p>
            <a:pPr marL="0" indent="0" algn="ctr">
              <a:buNone/>
            </a:pPr>
            <a:r>
              <a:rPr lang="en-US" sz="1050" dirty="0">
                <a:solidFill>
                  <a:srgbClr val="475569"/>
                </a:solidFill>
                <a:latin typeface="Calibri" pitchFamily="34" charset="0"/>
                <a:ea typeface="Calibri" pitchFamily="34" charset="-122"/>
                <a:cs typeface="Calibri" pitchFamily="34" charset="-120"/>
              </a:rPr>
              <a:t>+ RandomForestClassifier</a:t>
            </a:r>
            <a:endParaRPr lang="en-US" sz="1050" dirty="0"/>
          </a:p>
          <a:p>
            <a:pPr marL="0" indent="0" algn="ctr">
              <a:buNone/>
            </a:pPr>
            <a:r>
              <a:rPr lang="en-US" sz="1050" dirty="0">
                <a:solidFill>
                  <a:srgbClr val="475569"/>
                </a:solidFill>
                <a:latin typeface="Calibri" pitchFamily="34" charset="0"/>
                <a:ea typeface="Calibri" pitchFamily="34" charset="-122"/>
                <a:cs typeface="Calibri" pitchFamily="34" charset="-120"/>
              </a:rPr>
              <a:t>(100 trees, depth=6)</a:t>
            </a:r>
            <a:endParaRPr lang="en-US" sz="1050" dirty="0"/>
          </a:p>
        </p:txBody>
      </p:sp>
      <p:sp>
        <p:nvSpPr>
          <p:cNvPr id="28" name="Shape 26"/>
          <p:cNvSpPr/>
          <p:nvPr/>
        </p:nvSpPr>
        <p:spPr>
          <a:xfrm>
            <a:off x="5998464" y="2560320"/>
            <a:ext cx="128016" cy="36576"/>
          </a:xfrm>
          <a:prstGeom prst="rect">
            <a:avLst/>
          </a:prstGeom>
          <a:solidFill>
            <a:srgbClr val="94A3B8"/>
          </a:solidFill>
          <a:ln w="12700">
            <a:solidFill>
              <a:srgbClr val="94A3B8"/>
            </a:solidFill>
            <a:prstDash val="solid"/>
          </a:ln>
        </p:spPr>
        <p:txBody>
          <a:bodyPr/>
          <a:lstStyle/>
          <a:p>
            <a:endParaRPr lang="en-IN"/>
          </a:p>
        </p:txBody>
      </p:sp>
      <p:sp>
        <p:nvSpPr>
          <p:cNvPr id="29" name="Shape 27"/>
          <p:cNvSpPr/>
          <p:nvPr/>
        </p:nvSpPr>
        <p:spPr>
          <a:xfrm>
            <a:off x="6126480" y="768096"/>
            <a:ext cx="1353312" cy="4005072"/>
          </a:xfrm>
          <a:prstGeom prst="rect">
            <a:avLst/>
          </a:prstGeom>
          <a:solidFill>
            <a:srgbClr val="FFFFFF"/>
          </a:solidFill>
          <a:ln w="19050">
            <a:solidFill>
              <a:srgbClr val="D97706"/>
            </a:solidFill>
            <a:prstDash val="solid"/>
          </a:ln>
        </p:spPr>
        <p:txBody>
          <a:bodyPr/>
          <a:lstStyle/>
          <a:p>
            <a:endParaRPr lang="en-IN"/>
          </a:p>
        </p:txBody>
      </p:sp>
      <p:sp>
        <p:nvSpPr>
          <p:cNvPr id="30" name="Shape 28"/>
          <p:cNvSpPr/>
          <p:nvPr/>
        </p:nvSpPr>
        <p:spPr>
          <a:xfrm>
            <a:off x="6126480" y="768096"/>
            <a:ext cx="1353312" cy="512064"/>
          </a:xfrm>
          <a:prstGeom prst="rect">
            <a:avLst/>
          </a:prstGeom>
          <a:solidFill>
            <a:srgbClr val="D97706"/>
          </a:solidFill>
          <a:ln w="12700">
            <a:solidFill>
              <a:srgbClr val="D97706"/>
            </a:solidFill>
            <a:prstDash val="solid"/>
          </a:ln>
        </p:spPr>
        <p:txBody>
          <a:bodyPr/>
          <a:lstStyle/>
          <a:p>
            <a:endParaRPr lang="en-IN"/>
          </a:p>
        </p:txBody>
      </p:sp>
      <p:sp>
        <p:nvSpPr>
          <p:cNvPr id="31" name="Text 29"/>
          <p:cNvSpPr/>
          <p:nvPr/>
        </p:nvSpPr>
        <p:spPr>
          <a:xfrm>
            <a:off x="6126480" y="768096"/>
            <a:ext cx="1353312" cy="512064"/>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32" name="Text 30"/>
          <p:cNvSpPr/>
          <p:nvPr/>
        </p:nvSpPr>
        <p:spPr>
          <a:xfrm>
            <a:off x="6199632" y="1371600"/>
            <a:ext cx="1207008" cy="384048"/>
          </a:xfrm>
          <a:prstGeom prst="rect">
            <a:avLst/>
          </a:prstGeom>
          <a:noFill/>
          <a:ln/>
        </p:spPr>
        <p:txBody>
          <a:bodyPr wrap="square" rtlCol="0" anchor="ctr"/>
          <a:lstStyle/>
          <a:p>
            <a:pPr marL="0" indent="0" algn="ctr">
              <a:buNone/>
            </a:pPr>
            <a:r>
              <a:rPr lang="en-US" sz="1150" b="1" dirty="0">
                <a:solidFill>
                  <a:srgbClr val="D97706"/>
                </a:solidFill>
                <a:latin typeface="Calibri" pitchFamily="34" charset="0"/>
                <a:ea typeface="Calibri" pitchFamily="34" charset="-122"/>
                <a:cs typeface="Calibri" pitchFamily="34" charset="-120"/>
              </a:rPr>
              <a:t>Evaluate</a:t>
            </a:r>
            <a:endParaRPr lang="en-US" sz="1150" dirty="0"/>
          </a:p>
        </p:txBody>
      </p:sp>
      <p:sp>
        <p:nvSpPr>
          <p:cNvPr id="33" name="Text 31"/>
          <p:cNvSpPr/>
          <p:nvPr/>
        </p:nvSpPr>
        <p:spPr>
          <a:xfrm>
            <a:off x="6199632" y="1828800"/>
            <a:ext cx="1207008" cy="2651760"/>
          </a:xfrm>
          <a:prstGeom prst="rect">
            <a:avLst/>
          </a:prstGeom>
          <a:noFill/>
          <a:ln/>
        </p:spPr>
        <p:txBody>
          <a:bodyPr wrap="square" rtlCol="0" anchor="ctr"/>
          <a:lstStyle/>
          <a:p>
            <a:pPr marL="0" indent="0" algn="ctr">
              <a:buNone/>
            </a:pPr>
            <a:r>
              <a:rPr lang="en-US" sz="1050" dirty="0">
                <a:solidFill>
                  <a:srgbClr val="475569"/>
                </a:solidFill>
                <a:latin typeface="Calibri" pitchFamily="34" charset="0"/>
                <a:ea typeface="Calibri" pitchFamily="34" charset="-122"/>
                <a:cs typeface="Calibri" pitchFamily="34" charset="-120"/>
              </a:rPr>
              <a:t>Accuracy  ~83%</a:t>
            </a:r>
            <a:endParaRPr lang="en-US" sz="1050" dirty="0"/>
          </a:p>
          <a:p>
            <a:pPr marL="0" indent="0" algn="ctr">
              <a:buNone/>
            </a:pPr>
            <a:r>
              <a:rPr lang="en-US" sz="1050" dirty="0">
                <a:solidFill>
                  <a:srgbClr val="475569"/>
                </a:solidFill>
                <a:latin typeface="Calibri" pitchFamily="34" charset="0"/>
                <a:ea typeface="Calibri" pitchFamily="34" charset="-122"/>
                <a:cs typeface="Calibri" pitchFamily="34" charset="-120"/>
              </a:rPr>
              <a:t>ROC-AUC  ~0.90</a:t>
            </a:r>
            <a:endParaRPr lang="en-US" sz="1050" dirty="0"/>
          </a:p>
          <a:p>
            <a:pPr marL="0" indent="0" algn="ctr">
              <a:buNone/>
            </a:pPr>
            <a:r>
              <a:rPr lang="en-US" sz="1050" dirty="0">
                <a:solidFill>
                  <a:srgbClr val="475569"/>
                </a:solidFill>
                <a:latin typeface="Calibri" pitchFamily="34" charset="0"/>
                <a:ea typeface="Calibri" pitchFamily="34" charset="-122"/>
                <a:cs typeface="Calibri" pitchFamily="34" charset="-120"/>
              </a:rPr>
              <a:t>Precision / Recall</a:t>
            </a:r>
            <a:endParaRPr lang="en-US" sz="1050" dirty="0"/>
          </a:p>
        </p:txBody>
      </p:sp>
      <p:sp>
        <p:nvSpPr>
          <p:cNvPr id="34" name="Shape 32"/>
          <p:cNvSpPr/>
          <p:nvPr/>
        </p:nvSpPr>
        <p:spPr>
          <a:xfrm>
            <a:off x="7479792" y="2560320"/>
            <a:ext cx="128016" cy="36576"/>
          </a:xfrm>
          <a:prstGeom prst="rect">
            <a:avLst/>
          </a:prstGeom>
          <a:solidFill>
            <a:srgbClr val="94A3B8"/>
          </a:solidFill>
          <a:ln w="12700">
            <a:solidFill>
              <a:srgbClr val="94A3B8"/>
            </a:solidFill>
            <a:prstDash val="solid"/>
          </a:ln>
        </p:spPr>
        <p:txBody>
          <a:bodyPr/>
          <a:lstStyle/>
          <a:p>
            <a:endParaRPr lang="en-IN"/>
          </a:p>
        </p:txBody>
      </p:sp>
      <p:sp>
        <p:nvSpPr>
          <p:cNvPr id="35" name="Shape 33"/>
          <p:cNvSpPr/>
          <p:nvPr/>
        </p:nvSpPr>
        <p:spPr>
          <a:xfrm>
            <a:off x="7607808" y="768096"/>
            <a:ext cx="1353312" cy="4005072"/>
          </a:xfrm>
          <a:prstGeom prst="rect">
            <a:avLst/>
          </a:prstGeom>
          <a:solidFill>
            <a:srgbClr val="FFFFFF"/>
          </a:solidFill>
          <a:ln w="19050">
            <a:solidFill>
              <a:srgbClr val="DC2626"/>
            </a:solidFill>
            <a:prstDash val="solid"/>
          </a:ln>
        </p:spPr>
        <p:txBody>
          <a:bodyPr/>
          <a:lstStyle/>
          <a:p>
            <a:endParaRPr lang="en-IN"/>
          </a:p>
        </p:txBody>
      </p:sp>
      <p:sp>
        <p:nvSpPr>
          <p:cNvPr id="36" name="Shape 34"/>
          <p:cNvSpPr/>
          <p:nvPr/>
        </p:nvSpPr>
        <p:spPr>
          <a:xfrm>
            <a:off x="7607808" y="768096"/>
            <a:ext cx="1353312" cy="512064"/>
          </a:xfrm>
          <a:prstGeom prst="rect">
            <a:avLst/>
          </a:prstGeom>
          <a:solidFill>
            <a:srgbClr val="DC2626"/>
          </a:solidFill>
          <a:ln w="12700">
            <a:solidFill>
              <a:srgbClr val="DC2626"/>
            </a:solidFill>
            <a:prstDash val="solid"/>
          </a:ln>
        </p:spPr>
        <p:txBody>
          <a:bodyPr/>
          <a:lstStyle/>
          <a:p>
            <a:endParaRPr lang="en-IN"/>
          </a:p>
        </p:txBody>
      </p:sp>
      <p:sp>
        <p:nvSpPr>
          <p:cNvPr id="37" name="Text 35"/>
          <p:cNvSpPr/>
          <p:nvPr/>
        </p:nvSpPr>
        <p:spPr>
          <a:xfrm>
            <a:off x="7607808" y="768096"/>
            <a:ext cx="1353312" cy="512064"/>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38" name="Text 36"/>
          <p:cNvSpPr/>
          <p:nvPr/>
        </p:nvSpPr>
        <p:spPr>
          <a:xfrm>
            <a:off x="7680960" y="1371600"/>
            <a:ext cx="1207008" cy="384048"/>
          </a:xfrm>
          <a:prstGeom prst="rect">
            <a:avLst/>
          </a:prstGeom>
          <a:noFill/>
          <a:ln/>
        </p:spPr>
        <p:txBody>
          <a:bodyPr wrap="square" rtlCol="0" anchor="ctr"/>
          <a:lstStyle/>
          <a:p>
            <a:pPr marL="0" indent="0" algn="ctr">
              <a:buNone/>
            </a:pPr>
            <a:r>
              <a:rPr lang="en-US" sz="1150" b="1" dirty="0">
                <a:solidFill>
                  <a:srgbClr val="DC2626"/>
                </a:solidFill>
                <a:latin typeface="Calibri" pitchFamily="34" charset="0"/>
                <a:ea typeface="Calibri" pitchFamily="34" charset="-122"/>
                <a:cs typeface="Calibri" pitchFamily="34" charset="-120"/>
              </a:rPr>
              <a:t>Save &amp; Load</a:t>
            </a:r>
            <a:endParaRPr lang="en-US" sz="1150" dirty="0"/>
          </a:p>
        </p:txBody>
      </p:sp>
      <p:sp>
        <p:nvSpPr>
          <p:cNvPr id="39" name="Text 37"/>
          <p:cNvSpPr/>
          <p:nvPr/>
        </p:nvSpPr>
        <p:spPr>
          <a:xfrm>
            <a:off x="7680960" y="1828800"/>
            <a:ext cx="1207008" cy="2651760"/>
          </a:xfrm>
          <a:prstGeom prst="rect">
            <a:avLst/>
          </a:prstGeom>
          <a:noFill/>
          <a:ln/>
        </p:spPr>
        <p:txBody>
          <a:bodyPr wrap="square" rtlCol="0" anchor="ctr"/>
          <a:lstStyle/>
          <a:p>
            <a:pPr marL="0" indent="0" algn="ctr">
              <a:buNone/>
            </a:pPr>
            <a:r>
              <a:rPr lang="en-US" sz="1050" dirty="0">
                <a:solidFill>
                  <a:srgbClr val="475569"/>
                </a:solidFill>
                <a:latin typeface="Calibri" pitchFamily="34" charset="0"/>
                <a:ea typeface="Calibri" pitchFamily="34" charset="-122"/>
                <a:cs typeface="Calibri" pitchFamily="34" charset="-120"/>
              </a:rPr>
              <a:t>model_pipeline.joblib</a:t>
            </a:r>
            <a:endParaRPr lang="en-US" sz="1050" dirty="0"/>
          </a:p>
          <a:p>
            <a:pPr marL="0" indent="0" algn="ctr">
              <a:buNone/>
            </a:pPr>
            <a:r>
              <a:rPr lang="en-US" sz="1050" dirty="0">
                <a:solidFill>
                  <a:srgbClr val="475569"/>
                </a:solidFill>
                <a:latin typeface="Calibri" pitchFamily="34" charset="0"/>
                <a:ea typeface="Calibri" pitchFamily="34" charset="-122"/>
                <a:cs typeface="Calibri" pitchFamily="34" charset="-120"/>
              </a:rPr>
              <a:t>Loaded once at</a:t>
            </a:r>
            <a:endParaRPr lang="en-US" sz="1050" dirty="0"/>
          </a:p>
          <a:p>
            <a:pPr marL="0" indent="0" algn="ctr">
              <a:buNone/>
            </a:pPr>
            <a:r>
              <a:rPr lang="en-US" sz="1050" dirty="0">
                <a:solidFill>
                  <a:srgbClr val="475569"/>
                </a:solidFill>
                <a:latin typeface="Calibri" pitchFamily="34" charset="0"/>
                <a:ea typeface="Calibri" pitchFamily="34" charset="-122"/>
                <a:cs typeface="Calibri" pitchFamily="34" charset="-120"/>
              </a:rPr>
              <a:t>FastAPI startup</a:t>
            </a:r>
            <a:endParaRPr lang="en-US" sz="1050" dirty="0"/>
          </a:p>
        </p:txBody>
      </p:sp>
      <p:sp>
        <p:nvSpPr>
          <p:cNvPr id="40" name="Shape 38"/>
          <p:cNvSpPr/>
          <p:nvPr/>
        </p:nvSpPr>
        <p:spPr>
          <a:xfrm>
            <a:off x="201168" y="4846320"/>
            <a:ext cx="8741664" cy="292608"/>
          </a:xfrm>
          <a:prstGeom prst="rect">
            <a:avLst/>
          </a:prstGeom>
          <a:solidFill>
            <a:srgbClr val="CCFBF1"/>
          </a:solidFill>
          <a:ln w="12700">
            <a:solidFill>
              <a:srgbClr val="0D9488"/>
            </a:solidFill>
            <a:prstDash val="solid"/>
          </a:ln>
        </p:spPr>
        <p:txBody>
          <a:bodyPr/>
          <a:lstStyle/>
          <a:p>
            <a:endParaRPr lang="en-IN"/>
          </a:p>
        </p:txBody>
      </p:sp>
      <p:sp>
        <p:nvSpPr>
          <p:cNvPr id="41" name="Text 39"/>
          <p:cNvSpPr/>
          <p:nvPr/>
        </p:nvSpPr>
        <p:spPr>
          <a:xfrm>
            <a:off x="347472" y="4864608"/>
            <a:ext cx="8412480" cy="237744"/>
          </a:xfrm>
          <a:prstGeom prst="rect">
            <a:avLst/>
          </a:prstGeom>
          <a:noFill/>
          <a:ln/>
        </p:spPr>
        <p:txBody>
          <a:bodyPr wrap="square" rtlCol="0" anchor="ctr"/>
          <a:lstStyle/>
          <a:p>
            <a:pPr marL="0" indent="0">
              <a:buNone/>
            </a:pPr>
            <a:r>
              <a:rPr lang="en-US" sz="1050" b="1" dirty="0">
                <a:solidFill>
                  <a:srgbClr val="0D9488"/>
                </a:solidFill>
                <a:latin typeface="Calibri" pitchFamily="34" charset="0"/>
                <a:ea typeface="Calibri" pitchFamily="34" charset="-122"/>
                <a:cs typeface="Calibri" pitchFamily="34" charset="-120"/>
              </a:rPr>
              <a:t>The scaler and model are wrapped in one Pipeline — FastAPI calls pipeline.predict_proba(X) and scaling is automatic.</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9488"/>
          </a:solidFill>
          <a:ln w="12700">
            <a:solidFill>
              <a:srgbClr val="0D9488"/>
            </a:solidFill>
            <a:prstDash val="solid"/>
          </a:ln>
        </p:spPr>
        <p:txBody>
          <a:bodyPr/>
          <a:lstStyle/>
          <a:p>
            <a:endParaRPr lang="en-IN"/>
          </a:p>
        </p:txBody>
      </p:sp>
      <p:sp>
        <p:nvSpPr>
          <p:cNvPr id="3" name="Text 1"/>
          <p:cNvSpPr/>
          <p:nvPr/>
        </p:nvSpPr>
        <p:spPr>
          <a:xfrm>
            <a:off x="320040" y="0"/>
            <a:ext cx="850392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Model Performance — Why Random Forest?</a:t>
            </a:r>
            <a:endParaRPr lang="en-US" sz="2200" dirty="0"/>
          </a:p>
        </p:txBody>
      </p:sp>
      <p:sp>
        <p:nvSpPr>
          <p:cNvPr id="4" name="Shape 2"/>
          <p:cNvSpPr/>
          <p:nvPr/>
        </p:nvSpPr>
        <p:spPr>
          <a:xfrm>
            <a:off x="0" y="5184648"/>
            <a:ext cx="9144000" cy="73152"/>
          </a:xfrm>
          <a:prstGeom prst="rect">
            <a:avLst/>
          </a:prstGeom>
          <a:solidFill>
            <a:srgbClr val="CCFBF1"/>
          </a:solidFill>
          <a:ln w="12700">
            <a:solidFill>
              <a:srgbClr val="CCFBF1"/>
            </a:solidFill>
            <a:prstDash val="solid"/>
          </a:ln>
        </p:spPr>
        <p:txBody>
          <a:bodyPr/>
          <a:lstStyle/>
          <a:p>
            <a:endParaRPr lang="en-IN"/>
          </a:p>
        </p:txBody>
      </p:sp>
      <p:graphicFrame>
        <p:nvGraphicFramePr>
          <p:cNvPr id="5" name="Chart 0"/>
          <p:cNvGraphicFramePr/>
          <p:nvPr/>
        </p:nvGraphicFramePr>
        <p:xfrm>
          <a:off x="256032" y="749808"/>
          <a:ext cx="502920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256032" y="4480560"/>
            <a:ext cx="5029200" cy="457200"/>
          </a:xfrm>
          <a:prstGeom prst="rect">
            <a:avLst/>
          </a:prstGeom>
          <a:solidFill>
            <a:srgbClr val="DCFCE7"/>
          </a:solidFill>
          <a:ln w="19050">
            <a:solidFill>
              <a:srgbClr val="16A34A"/>
            </a:solidFill>
            <a:prstDash val="solid"/>
          </a:ln>
        </p:spPr>
        <p:txBody>
          <a:bodyPr/>
          <a:lstStyle/>
          <a:p>
            <a:endParaRPr lang="en-IN"/>
          </a:p>
        </p:txBody>
      </p:sp>
      <p:sp>
        <p:nvSpPr>
          <p:cNvPr id="7" name="Text 4"/>
          <p:cNvSpPr/>
          <p:nvPr/>
        </p:nvSpPr>
        <p:spPr>
          <a:xfrm>
            <a:off x="384048" y="4498848"/>
            <a:ext cx="4773168" cy="402336"/>
          </a:xfrm>
          <a:prstGeom prst="rect">
            <a:avLst/>
          </a:prstGeom>
          <a:noFill/>
          <a:ln/>
        </p:spPr>
        <p:txBody>
          <a:bodyPr wrap="square" rtlCol="0" anchor="ctr"/>
          <a:lstStyle/>
          <a:p>
            <a:pPr marL="0" indent="0">
              <a:buNone/>
            </a:pPr>
            <a:r>
              <a:rPr lang="en-US" sz="1100" b="1" dirty="0">
                <a:solidFill>
                  <a:srgbClr val="16A34A"/>
                </a:solidFill>
                <a:latin typeface="Calibri" pitchFamily="34" charset="0"/>
                <a:ea typeface="Calibri" pitchFamily="34" charset="-122"/>
                <a:cs typeface="Calibri" pitchFamily="34" charset="-120"/>
              </a:rPr>
              <a:t>RandomForest ROC-AUC 0.90 vs Logistic Regression 0.84 — the 6-point gap made the choice clear.</a:t>
            </a:r>
            <a:endParaRPr lang="en-US" sz="1100" dirty="0"/>
          </a:p>
        </p:txBody>
      </p:sp>
      <p:sp>
        <p:nvSpPr>
          <p:cNvPr id="8" name="Shape 5"/>
          <p:cNvSpPr/>
          <p:nvPr/>
        </p:nvSpPr>
        <p:spPr>
          <a:xfrm>
            <a:off x="5532120" y="749808"/>
            <a:ext cx="3364992" cy="896112"/>
          </a:xfrm>
          <a:prstGeom prst="rect">
            <a:avLst/>
          </a:prstGeom>
          <a:solidFill>
            <a:srgbClr val="FFFFFF"/>
          </a:solidFill>
          <a:ln w="19050">
            <a:solidFill>
              <a:srgbClr val="0D9488"/>
            </a:solidFill>
            <a:prstDash val="solid"/>
          </a:ln>
        </p:spPr>
        <p:txBody>
          <a:bodyPr/>
          <a:lstStyle/>
          <a:p>
            <a:endParaRPr lang="en-IN"/>
          </a:p>
        </p:txBody>
      </p:sp>
      <p:sp>
        <p:nvSpPr>
          <p:cNvPr id="9" name="Shape 6"/>
          <p:cNvSpPr/>
          <p:nvPr/>
        </p:nvSpPr>
        <p:spPr>
          <a:xfrm>
            <a:off x="5532120" y="749808"/>
            <a:ext cx="91440" cy="896112"/>
          </a:xfrm>
          <a:prstGeom prst="rect">
            <a:avLst/>
          </a:prstGeom>
          <a:solidFill>
            <a:srgbClr val="0D9488"/>
          </a:solidFill>
          <a:ln w="12700">
            <a:solidFill>
              <a:srgbClr val="0D9488"/>
            </a:solidFill>
            <a:prstDash val="solid"/>
          </a:ln>
        </p:spPr>
        <p:txBody>
          <a:bodyPr/>
          <a:lstStyle/>
          <a:p>
            <a:endParaRPr lang="en-IN"/>
          </a:p>
        </p:txBody>
      </p:sp>
      <p:sp>
        <p:nvSpPr>
          <p:cNvPr id="10" name="Text 7"/>
          <p:cNvSpPr/>
          <p:nvPr/>
        </p:nvSpPr>
        <p:spPr>
          <a:xfrm>
            <a:off x="5705856" y="841248"/>
            <a:ext cx="3072384" cy="274320"/>
          </a:xfrm>
          <a:prstGeom prst="rect">
            <a:avLst/>
          </a:prstGeom>
          <a:noFill/>
          <a:ln/>
        </p:spPr>
        <p:txBody>
          <a:bodyPr wrap="square"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ROC-AUC gap was decisive</a:t>
            </a:r>
            <a:endParaRPr lang="en-US" sz="1200" dirty="0"/>
          </a:p>
        </p:txBody>
      </p:sp>
      <p:sp>
        <p:nvSpPr>
          <p:cNvPr id="11" name="Text 8"/>
          <p:cNvSpPr/>
          <p:nvPr/>
        </p:nvSpPr>
        <p:spPr>
          <a:xfrm>
            <a:off x="5705856" y="1170432"/>
            <a:ext cx="3072384" cy="402336"/>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0.90 vs 0.84 on 303-row dataset is meaningful</a:t>
            </a:r>
            <a:endParaRPr lang="en-US" sz="1100" dirty="0"/>
          </a:p>
        </p:txBody>
      </p:sp>
      <p:sp>
        <p:nvSpPr>
          <p:cNvPr id="12" name="Shape 9"/>
          <p:cNvSpPr/>
          <p:nvPr/>
        </p:nvSpPr>
        <p:spPr>
          <a:xfrm>
            <a:off x="5532120" y="1801368"/>
            <a:ext cx="3364992" cy="896112"/>
          </a:xfrm>
          <a:prstGeom prst="rect">
            <a:avLst/>
          </a:prstGeom>
          <a:solidFill>
            <a:srgbClr val="FFFFFF"/>
          </a:solidFill>
          <a:ln w="19050">
            <a:solidFill>
              <a:srgbClr val="16A34A"/>
            </a:solidFill>
            <a:prstDash val="solid"/>
          </a:ln>
        </p:spPr>
        <p:txBody>
          <a:bodyPr/>
          <a:lstStyle/>
          <a:p>
            <a:endParaRPr lang="en-IN"/>
          </a:p>
        </p:txBody>
      </p:sp>
      <p:sp>
        <p:nvSpPr>
          <p:cNvPr id="13" name="Shape 10"/>
          <p:cNvSpPr/>
          <p:nvPr/>
        </p:nvSpPr>
        <p:spPr>
          <a:xfrm>
            <a:off x="5532120" y="1801368"/>
            <a:ext cx="91440" cy="896112"/>
          </a:xfrm>
          <a:prstGeom prst="rect">
            <a:avLst/>
          </a:prstGeom>
          <a:solidFill>
            <a:srgbClr val="16A34A"/>
          </a:solidFill>
          <a:ln w="12700">
            <a:solidFill>
              <a:srgbClr val="16A34A"/>
            </a:solidFill>
            <a:prstDash val="solid"/>
          </a:ln>
        </p:spPr>
        <p:txBody>
          <a:bodyPr/>
          <a:lstStyle/>
          <a:p>
            <a:endParaRPr lang="en-IN"/>
          </a:p>
        </p:txBody>
      </p:sp>
      <p:sp>
        <p:nvSpPr>
          <p:cNvPr id="14" name="Text 11"/>
          <p:cNvSpPr/>
          <p:nvPr/>
        </p:nvSpPr>
        <p:spPr>
          <a:xfrm>
            <a:off x="5705856" y="1892808"/>
            <a:ext cx="3072384" cy="274320"/>
          </a:xfrm>
          <a:prstGeom prst="rect">
            <a:avLst/>
          </a:prstGeom>
          <a:noFill/>
          <a:ln/>
        </p:spPr>
        <p:txBody>
          <a:bodyPr wrap="square" rtlCol="0" anchor="ctr"/>
          <a:lstStyle/>
          <a:p>
            <a:pPr marL="0" indent="0">
              <a:buNone/>
            </a:pPr>
            <a:r>
              <a:rPr lang="en-US" sz="1200" b="1" dirty="0">
                <a:solidFill>
                  <a:srgbClr val="16A34A"/>
                </a:solidFill>
                <a:latin typeface="Calibri" pitchFamily="34" charset="0"/>
                <a:ea typeface="Calibri" pitchFamily="34" charset="-122"/>
                <a:cs typeface="Calibri" pitchFamily="34" charset="-120"/>
              </a:rPr>
              <a:t>Handles mixed feature types</a:t>
            </a:r>
            <a:endParaRPr lang="en-US" sz="1200" dirty="0"/>
          </a:p>
        </p:txBody>
      </p:sp>
      <p:sp>
        <p:nvSpPr>
          <p:cNvPr id="15" name="Text 12"/>
          <p:cNvSpPr/>
          <p:nvPr/>
        </p:nvSpPr>
        <p:spPr>
          <a:xfrm>
            <a:off x="5705856" y="2221992"/>
            <a:ext cx="3072384" cy="402336"/>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Categorical + continuous — no extra setup</a:t>
            </a:r>
            <a:endParaRPr lang="en-US" sz="1100" dirty="0"/>
          </a:p>
        </p:txBody>
      </p:sp>
      <p:sp>
        <p:nvSpPr>
          <p:cNvPr id="16" name="Shape 13"/>
          <p:cNvSpPr/>
          <p:nvPr/>
        </p:nvSpPr>
        <p:spPr>
          <a:xfrm>
            <a:off x="5532120" y="2852928"/>
            <a:ext cx="3364992" cy="896112"/>
          </a:xfrm>
          <a:prstGeom prst="rect">
            <a:avLst/>
          </a:prstGeom>
          <a:solidFill>
            <a:srgbClr val="FFFFFF"/>
          </a:solidFill>
          <a:ln w="19050">
            <a:solidFill>
              <a:srgbClr val="2563EB"/>
            </a:solidFill>
            <a:prstDash val="solid"/>
          </a:ln>
        </p:spPr>
        <p:txBody>
          <a:bodyPr/>
          <a:lstStyle/>
          <a:p>
            <a:endParaRPr lang="en-IN"/>
          </a:p>
        </p:txBody>
      </p:sp>
      <p:sp>
        <p:nvSpPr>
          <p:cNvPr id="17" name="Shape 14"/>
          <p:cNvSpPr/>
          <p:nvPr/>
        </p:nvSpPr>
        <p:spPr>
          <a:xfrm>
            <a:off x="5532120" y="2852928"/>
            <a:ext cx="91440" cy="896112"/>
          </a:xfrm>
          <a:prstGeom prst="rect">
            <a:avLst/>
          </a:prstGeom>
          <a:solidFill>
            <a:srgbClr val="2563EB"/>
          </a:solidFill>
          <a:ln w="12700">
            <a:solidFill>
              <a:srgbClr val="2563EB"/>
            </a:solidFill>
            <a:prstDash val="solid"/>
          </a:ln>
        </p:spPr>
        <p:txBody>
          <a:bodyPr/>
          <a:lstStyle/>
          <a:p>
            <a:endParaRPr lang="en-IN"/>
          </a:p>
        </p:txBody>
      </p:sp>
      <p:sp>
        <p:nvSpPr>
          <p:cNvPr id="18" name="Text 15"/>
          <p:cNvSpPr/>
          <p:nvPr/>
        </p:nvSpPr>
        <p:spPr>
          <a:xfrm>
            <a:off x="5705856" y="2944368"/>
            <a:ext cx="3072384" cy="274320"/>
          </a:xfrm>
          <a:prstGeom prst="rect">
            <a:avLst/>
          </a:prstGeom>
          <a:noFill/>
          <a:ln/>
        </p:spPr>
        <p:txBody>
          <a:bodyPr wrap="square" rtlCol="0" anchor="ctr"/>
          <a:lstStyle/>
          <a:p>
            <a:pPr marL="0" indent="0">
              <a:buNone/>
            </a:pPr>
            <a:r>
              <a:rPr lang="en-US" sz="1200" b="1" dirty="0">
                <a:solidFill>
                  <a:srgbClr val="2563EB"/>
                </a:solidFill>
                <a:latin typeface="Calibri" pitchFamily="34" charset="0"/>
                <a:ea typeface="Calibri" pitchFamily="34" charset="-122"/>
                <a:cs typeface="Calibri" pitchFamily="34" charset="-120"/>
              </a:rPr>
              <a:t>Free feature importance</a:t>
            </a:r>
            <a:endParaRPr lang="en-US" sz="1200" dirty="0"/>
          </a:p>
        </p:txBody>
      </p:sp>
      <p:sp>
        <p:nvSpPr>
          <p:cNvPr id="19" name="Text 16"/>
          <p:cNvSpPr/>
          <p:nvPr/>
        </p:nvSpPr>
        <p:spPr>
          <a:xfrm>
            <a:off x="5705856" y="3273552"/>
            <a:ext cx="3072384" cy="402336"/>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Sets up SHAP explanations for Sprint 3</a:t>
            </a:r>
            <a:endParaRPr lang="en-US" sz="1100" dirty="0"/>
          </a:p>
        </p:txBody>
      </p:sp>
      <p:sp>
        <p:nvSpPr>
          <p:cNvPr id="20" name="Shape 17"/>
          <p:cNvSpPr/>
          <p:nvPr/>
        </p:nvSpPr>
        <p:spPr>
          <a:xfrm>
            <a:off x="5532120" y="3904488"/>
            <a:ext cx="3364992" cy="896112"/>
          </a:xfrm>
          <a:prstGeom prst="rect">
            <a:avLst/>
          </a:prstGeom>
          <a:solidFill>
            <a:srgbClr val="FFFFFF"/>
          </a:solidFill>
          <a:ln w="19050">
            <a:solidFill>
              <a:srgbClr val="7C3AED"/>
            </a:solidFill>
            <a:prstDash val="solid"/>
          </a:ln>
        </p:spPr>
        <p:txBody>
          <a:bodyPr/>
          <a:lstStyle/>
          <a:p>
            <a:endParaRPr lang="en-IN"/>
          </a:p>
        </p:txBody>
      </p:sp>
      <p:sp>
        <p:nvSpPr>
          <p:cNvPr id="21" name="Shape 18"/>
          <p:cNvSpPr/>
          <p:nvPr/>
        </p:nvSpPr>
        <p:spPr>
          <a:xfrm>
            <a:off x="5532120" y="3904488"/>
            <a:ext cx="91440" cy="896112"/>
          </a:xfrm>
          <a:prstGeom prst="rect">
            <a:avLst/>
          </a:prstGeom>
          <a:solidFill>
            <a:srgbClr val="7C3AED"/>
          </a:solidFill>
          <a:ln w="12700">
            <a:solidFill>
              <a:srgbClr val="7C3AED"/>
            </a:solidFill>
            <a:prstDash val="solid"/>
          </a:ln>
        </p:spPr>
        <p:txBody>
          <a:bodyPr/>
          <a:lstStyle/>
          <a:p>
            <a:endParaRPr lang="en-IN"/>
          </a:p>
        </p:txBody>
      </p:sp>
      <p:sp>
        <p:nvSpPr>
          <p:cNvPr id="22" name="Text 19"/>
          <p:cNvSpPr/>
          <p:nvPr/>
        </p:nvSpPr>
        <p:spPr>
          <a:xfrm>
            <a:off x="5705856" y="3995928"/>
            <a:ext cx="3072384" cy="274320"/>
          </a:xfrm>
          <a:prstGeom prst="rect">
            <a:avLst/>
          </a:prstGeom>
          <a:noFill/>
          <a:ln/>
        </p:spPr>
        <p:txBody>
          <a:bodyPr wrap="square" rtlCol="0" anchor="ctr"/>
          <a:lstStyle/>
          <a:p>
            <a:pPr marL="0" indent="0">
              <a:buNone/>
            </a:pPr>
            <a:r>
              <a:rPr lang="en-US" sz="1200" b="1" dirty="0">
                <a:solidFill>
                  <a:srgbClr val="7C3AED"/>
                </a:solidFill>
                <a:latin typeface="Calibri" pitchFamily="34" charset="0"/>
                <a:ea typeface="Calibri" pitchFamily="34" charset="-122"/>
                <a:cs typeface="Calibri" pitchFamily="34" charset="-120"/>
              </a:rPr>
              <a:t>Robust on small data</a:t>
            </a:r>
            <a:endParaRPr lang="en-US" sz="1200" dirty="0"/>
          </a:p>
        </p:txBody>
      </p:sp>
      <p:sp>
        <p:nvSpPr>
          <p:cNvPr id="23" name="Text 20"/>
          <p:cNvSpPr/>
          <p:nvPr/>
        </p:nvSpPr>
        <p:spPr>
          <a:xfrm>
            <a:off x="5705856" y="4325112"/>
            <a:ext cx="3072384" cy="402336"/>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100 trees, max_depth=6 avoids overfitting</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9488"/>
          </a:solidFill>
          <a:ln w="12700">
            <a:solidFill>
              <a:srgbClr val="0D9488"/>
            </a:solidFill>
            <a:prstDash val="solid"/>
          </a:ln>
        </p:spPr>
        <p:txBody>
          <a:bodyPr/>
          <a:lstStyle/>
          <a:p>
            <a:endParaRPr lang="en-IN"/>
          </a:p>
        </p:txBody>
      </p:sp>
      <p:sp>
        <p:nvSpPr>
          <p:cNvPr id="3" name="Text 1"/>
          <p:cNvSpPr/>
          <p:nvPr/>
        </p:nvSpPr>
        <p:spPr>
          <a:xfrm>
            <a:off x="320040" y="0"/>
            <a:ext cx="850392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Backend — Rewriting the /assess Endpoint</a:t>
            </a:r>
            <a:endParaRPr lang="en-US" sz="2200" dirty="0"/>
          </a:p>
        </p:txBody>
      </p:sp>
      <p:sp>
        <p:nvSpPr>
          <p:cNvPr id="4" name="Shape 2"/>
          <p:cNvSpPr/>
          <p:nvPr/>
        </p:nvSpPr>
        <p:spPr>
          <a:xfrm>
            <a:off x="0" y="5184648"/>
            <a:ext cx="9144000" cy="73152"/>
          </a:xfrm>
          <a:prstGeom prst="rect">
            <a:avLst/>
          </a:prstGeom>
          <a:solidFill>
            <a:srgbClr val="CCFBF1"/>
          </a:solidFill>
          <a:ln w="12700">
            <a:solidFill>
              <a:srgbClr val="CCFBF1"/>
            </a:solidFill>
            <a:prstDash val="solid"/>
          </a:ln>
        </p:spPr>
        <p:txBody>
          <a:bodyPr/>
          <a:lstStyle/>
          <a:p>
            <a:endParaRPr lang="en-IN"/>
          </a:p>
        </p:txBody>
      </p:sp>
      <p:sp>
        <p:nvSpPr>
          <p:cNvPr id="5" name="Shape 3"/>
          <p:cNvSpPr/>
          <p:nvPr/>
        </p:nvSpPr>
        <p:spPr>
          <a:xfrm>
            <a:off x="256032" y="749808"/>
            <a:ext cx="4114800" cy="2148840"/>
          </a:xfrm>
          <a:prstGeom prst="rect">
            <a:avLst/>
          </a:prstGeom>
          <a:solidFill>
            <a:srgbClr val="FEE2E2"/>
          </a:solidFill>
          <a:ln w="19050">
            <a:solidFill>
              <a:srgbClr val="DC2626"/>
            </a:solidFill>
            <a:prstDash val="solid"/>
          </a:ln>
        </p:spPr>
        <p:txBody>
          <a:bodyPr/>
          <a:lstStyle/>
          <a:p>
            <a:endParaRPr lang="en-IN"/>
          </a:p>
        </p:txBody>
      </p:sp>
      <p:sp>
        <p:nvSpPr>
          <p:cNvPr id="6" name="Shape 4"/>
          <p:cNvSpPr/>
          <p:nvPr/>
        </p:nvSpPr>
        <p:spPr>
          <a:xfrm>
            <a:off x="256032" y="749808"/>
            <a:ext cx="4114800" cy="438912"/>
          </a:xfrm>
          <a:prstGeom prst="rect">
            <a:avLst/>
          </a:prstGeom>
          <a:solidFill>
            <a:srgbClr val="DC2626"/>
          </a:solidFill>
          <a:ln w="12700">
            <a:solidFill>
              <a:srgbClr val="DC2626"/>
            </a:solidFill>
            <a:prstDash val="solid"/>
          </a:ln>
        </p:spPr>
        <p:txBody>
          <a:bodyPr/>
          <a:lstStyle/>
          <a:p>
            <a:endParaRPr lang="en-IN"/>
          </a:p>
        </p:txBody>
      </p:sp>
      <p:sp>
        <p:nvSpPr>
          <p:cNvPr id="7" name="Text 5"/>
          <p:cNvSpPr/>
          <p:nvPr/>
        </p:nvSpPr>
        <p:spPr>
          <a:xfrm>
            <a:off x="365760" y="768096"/>
            <a:ext cx="3895344" cy="38404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Sprint 1 — Dummy Logic</a:t>
            </a:r>
            <a:endParaRPr lang="en-US" sz="1300" dirty="0"/>
          </a:p>
        </p:txBody>
      </p:sp>
      <p:sp>
        <p:nvSpPr>
          <p:cNvPr id="8" name="Text 6"/>
          <p:cNvSpPr/>
          <p:nvPr/>
        </p:nvSpPr>
        <p:spPr>
          <a:xfrm>
            <a:off x="365760" y="1261872"/>
            <a:ext cx="3895344" cy="1508760"/>
          </a:xfrm>
          <a:prstGeom prst="rect">
            <a:avLst/>
          </a:prstGeom>
          <a:noFill/>
          <a:ln/>
        </p:spPr>
        <p:txBody>
          <a:bodyPr wrap="square" rtlCol="0" anchor="ctr"/>
          <a:lstStyle/>
          <a:p>
            <a:pPr marL="0" indent="0">
              <a:buNone/>
            </a:pPr>
            <a:r>
              <a:rPr lang="en-US" sz="1050" dirty="0">
                <a:solidFill>
                  <a:srgbClr val="DC2626"/>
                </a:solidFill>
                <a:latin typeface="Consolas" pitchFamily="34" charset="0"/>
                <a:ea typeface="Consolas" pitchFamily="34" charset="-122"/>
                <a:cs typeface="Consolas" pitchFamily="34" charset="-120"/>
              </a:rPr>
              <a:t>Inputs: full_name, age</a:t>
            </a:r>
            <a:endParaRPr lang="en-US" sz="1050" dirty="0"/>
          </a:p>
          <a:p>
            <a:pPr marL="0" indent="0">
              <a:buNone/>
            </a:pPr>
            <a:endParaRPr lang="en-US" sz="1050" dirty="0"/>
          </a:p>
          <a:p>
            <a:pPr marL="0" indent="0">
              <a:buNone/>
            </a:pPr>
            <a:r>
              <a:rPr lang="en-US" sz="1050" dirty="0">
                <a:solidFill>
                  <a:srgbClr val="DC2626"/>
                </a:solidFill>
                <a:latin typeface="Consolas" pitchFamily="34" charset="0"/>
                <a:ea typeface="Consolas" pitchFamily="34" charset="-122"/>
                <a:cs typeface="Consolas" pitchFamily="34" charset="-120"/>
              </a:rPr>
              <a:t>if age &gt;= 50:</a:t>
            </a:r>
            <a:endParaRPr lang="en-US" sz="1050" dirty="0"/>
          </a:p>
          <a:p>
            <a:pPr marL="0" indent="0">
              <a:buNone/>
            </a:pPr>
            <a:r>
              <a:rPr lang="en-US" sz="1050" dirty="0">
                <a:solidFill>
                  <a:srgbClr val="DC2626"/>
                </a:solidFill>
                <a:latin typeface="Consolas" pitchFamily="34" charset="0"/>
                <a:ea typeface="Consolas" pitchFamily="34" charset="-122"/>
                <a:cs typeface="Consolas" pitchFamily="34" charset="-120"/>
              </a:rPr>
              <a:t>    return risk_score = 0.8</a:t>
            </a:r>
            <a:endParaRPr lang="en-US" sz="1050" dirty="0"/>
          </a:p>
          <a:p>
            <a:pPr marL="0" indent="0">
              <a:buNone/>
            </a:pPr>
            <a:r>
              <a:rPr lang="en-US" sz="1050" dirty="0">
                <a:solidFill>
                  <a:srgbClr val="DC2626"/>
                </a:solidFill>
                <a:latin typeface="Consolas" pitchFamily="34" charset="0"/>
                <a:ea typeface="Consolas" pitchFamily="34" charset="-122"/>
                <a:cs typeface="Consolas" pitchFamily="34" charset="-120"/>
              </a:rPr>
              <a:t>else:</a:t>
            </a:r>
            <a:endParaRPr lang="en-US" sz="1050" dirty="0"/>
          </a:p>
          <a:p>
            <a:pPr marL="0" indent="0">
              <a:buNone/>
            </a:pPr>
            <a:r>
              <a:rPr lang="en-US" sz="1050" dirty="0">
                <a:solidFill>
                  <a:srgbClr val="DC2626"/>
                </a:solidFill>
                <a:latin typeface="Consolas" pitchFamily="34" charset="0"/>
                <a:ea typeface="Consolas" pitchFamily="34" charset="-122"/>
                <a:cs typeface="Consolas" pitchFamily="34" charset="-120"/>
              </a:rPr>
              <a:t>    return risk_score = 0.3</a:t>
            </a:r>
            <a:endParaRPr lang="en-US" sz="1050" dirty="0"/>
          </a:p>
          <a:p>
            <a:pPr marL="0" indent="0">
              <a:buNone/>
            </a:pPr>
            <a:endParaRPr lang="en-US" sz="1050" dirty="0"/>
          </a:p>
          <a:p>
            <a:pPr marL="0" indent="0">
              <a:buNone/>
            </a:pPr>
            <a:r>
              <a:rPr lang="en-US" sz="1050" dirty="0">
                <a:solidFill>
                  <a:srgbClr val="DC2626"/>
                </a:solidFill>
                <a:latin typeface="Consolas" pitchFamily="34" charset="0"/>
                <a:ea typeface="Consolas" pitchFamily="34" charset="-122"/>
                <a:cs typeface="Consolas" pitchFamily="34" charset="-120"/>
              </a:rPr>
              <a:t>Result: always 80% or 30%</a:t>
            </a:r>
            <a:endParaRPr lang="en-US" sz="1050" dirty="0"/>
          </a:p>
        </p:txBody>
      </p:sp>
      <p:sp>
        <p:nvSpPr>
          <p:cNvPr id="9" name="Text 7"/>
          <p:cNvSpPr/>
          <p:nvPr/>
        </p:nvSpPr>
        <p:spPr>
          <a:xfrm>
            <a:off x="4443984" y="1463040"/>
            <a:ext cx="402336" cy="402336"/>
          </a:xfrm>
          <a:prstGeom prst="rect">
            <a:avLst/>
          </a:prstGeom>
          <a:noFill/>
          <a:ln/>
        </p:spPr>
        <p:txBody>
          <a:bodyPr wrap="square" rtlCol="0" anchor="ctr"/>
          <a:lstStyle/>
          <a:p>
            <a:pPr marL="0" indent="0" algn="ctr">
              <a:buNone/>
            </a:pPr>
            <a:r>
              <a:rPr lang="en-US" sz="2200" b="1" dirty="0">
                <a:solidFill>
                  <a:srgbClr val="94A3B8"/>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4773168" y="749808"/>
            <a:ext cx="4114800" cy="2148840"/>
          </a:xfrm>
          <a:prstGeom prst="rect">
            <a:avLst/>
          </a:prstGeom>
          <a:solidFill>
            <a:srgbClr val="DCFCE7"/>
          </a:solidFill>
          <a:ln w="19050">
            <a:solidFill>
              <a:srgbClr val="16A34A"/>
            </a:solidFill>
            <a:prstDash val="solid"/>
          </a:ln>
        </p:spPr>
        <p:txBody>
          <a:bodyPr/>
          <a:lstStyle/>
          <a:p>
            <a:endParaRPr lang="en-IN"/>
          </a:p>
        </p:txBody>
      </p:sp>
      <p:sp>
        <p:nvSpPr>
          <p:cNvPr id="11" name="Shape 9"/>
          <p:cNvSpPr/>
          <p:nvPr/>
        </p:nvSpPr>
        <p:spPr>
          <a:xfrm>
            <a:off x="4773168" y="749808"/>
            <a:ext cx="4114800" cy="438912"/>
          </a:xfrm>
          <a:prstGeom prst="rect">
            <a:avLst/>
          </a:prstGeom>
          <a:solidFill>
            <a:srgbClr val="16A34A"/>
          </a:solidFill>
          <a:ln w="12700">
            <a:solidFill>
              <a:srgbClr val="16A34A"/>
            </a:solidFill>
            <a:prstDash val="solid"/>
          </a:ln>
        </p:spPr>
        <p:txBody>
          <a:bodyPr/>
          <a:lstStyle/>
          <a:p>
            <a:endParaRPr lang="en-IN"/>
          </a:p>
        </p:txBody>
      </p:sp>
      <p:sp>
        <p:nvSpPr>
          <p:cNvPr id="12" name="Text 10"/>
          <p:cNvSpPr/>
          <p:nvPr/>
        </p:nvSpPr>
        <p:spPr>
          <a:xfrm>
            <a:off x="4882896" y="768096"/>
            <a:ext cx="3895344" cy="38404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Sprint 2 — Real ML Model</a:t>
            </a:r>
            <a:endParaRPr lang="en-US" sz="1300" dirty="0"/>
          </a:p>
        </p:txBody>
      </p:sp>
      <p:sp>
        <p:nvSpPr>
          <p:cNvPr id="13" name="Text 11"/>
          <p:cNvSpPr/>
          <p:nvPr/>
        </p:nvSpPr>
        <p:spPr>
          <a:xfrm>
            <a:off x="4882896" y="1261872"/>
            <a:ext cx="3895344" cy="1508760"/>
          </a:xfrm>
          <a:prstGeom prst="rect">
            <a:avLst/>
          </a:prstGeom>
          <a:noFill/>
          <a:ln/>
        </p:spPr>
        <p:txBody>
          <a:bodyPr wrap="square" rtlCol="0" anchor="ctr"/>
          <a:lstStyle/>
          <a:p>
            <a:pPr marL="0" indent="0">
              <a:buNone/>
            </a:pPr>
            <a:r>
              <a:rPr lang="en-US" sz="1050" dirty="0">
                <a:solidFill>
                  <a:srgbClr val="16A34A"/>
                </a:solidFill>
                <a:latin typeface="Consolas" pitchFamily="34" charset="0"/>
                <a:ea typeface="Consolas" pitchFamily="34" charset="-122"/>
                <a:cs typeface="Consolas" pitchFamily="34" charset="-120"/>
              </a:rPr>
              <a:t>Inputs: 11 clinical features (Pydantic)</a:t>
            </a:r>
            <a:endParaRPr lang="en-US" sz="1050" dirty="0"/>
          </a:p>
          <a:p>
            <a:pPr marL="0" indent="0">
              <a:buNone/>
            </a:pPr>
            <a:endParaRPr lang="en-US" sz="1050" dirty="0"/>
          </a:p>
          <a:p>
            <a:pPr marL="0" indent="0">
              <a:buNone/>
            </a:pPr>
            <a:r>
              <a:rPr lang="en-US" sz="1050" dirty="0">
                <a:solidFill>
                  <a:srgbClr val="16A34A"/>
                </a:solidFill>
                <a:latin typeface="Consolas" pitchFamily="34" charset="0"/>
                <a:ea typeface="Consolas" pitchFamily="34" charset="-122"/>
                <a:cs typeface="Consolas" pitchFamily="34" charset="-120"/>
              </a:rPr>
              <a:t>X = [age,sex,cp,trestbps,chol,...]</a:t>
            </a:r>
            <a:endParaRPr lang="en-US" sz="1050" dirty="0"/>
          </a:p>
          <a:p>
            <a:pPr marL="0" indent="0">
              <a:buNone/>
            </a:pPr>
            <a:r>
              <a:rPr lang="en-US" sz="1050" dirty="0">
                <a:solidFill>
                  <a:srgbClr val="16A34A"/>
                </a:solidFill>
                <a:latin typeface="Consolas" pitchFamily="34" charset="0"/>
                <a:ea typeface="Consolas" pitchFamily="34" charset="-122"/>
                <a:cs typeface="Consolas" pitchFamily="34" charset="-120"/>
              </a:rPr>
              <a:t>score = pipeline.predict_proba(X)[0][1]</a:t>
            </a:r>
            <a:endParaRPr lang="en-US" sz="1050" dirty="0"/>
          </a:p>
          <a:p>
            <a:pPr marL="0" indent="0">
              <a:buNone/>
            </a:pPr>
            <a:r>
              <a:rPr lang="en-US" sz="1050" dirty="0">
                <a:solidFill>
                  <a:srgbClr val="16A34A"/>
                </a:solidFill>
                <a:latin typeface="Consolas" pitchFamily="34" charset="0"/>
                <a:ea typeface="Consolas" pitchFamily="34" charset="-122"/>
                <a:cs typeface="Consolas" pitchFamily="34" charset="-120"/>
              </a:rPr>
              <a:t>level = Low / Medium / High</a:t>
            </a:r>
            <a:endParaRPr lang="en-US" sz="1050" dirty="0"/>
          </a:p>
          <a:p>
            <a:pPr marL="0" indent="0">
              <a:buNone/>
            </a:pPr>
            <a:endParaRPr lang="en-US" sz="1050" dirty="0"/>
          </a:p>
          <a:p>
            <a:pPr marL="0" indent="0">
              <a:buNone/>
            </a:pPr>
            <a:r>
              <a:rPr lang="en-US" sz="1050" dirty="0">
                <a:solidFill>
                  <a:srgbClr val="16A34A"/>
                </a:solidFill>
                <a:latin typeface="Consolas" pitchFamily="34" charset="0"/>
                <a:ea typeface="Consolas" pitchFamily="34" charset="-122"/>
                <a:cs typeface="Consolas" pitchFamily="34" charset="-120"/>
              </a:rPr>
              <a:t>Saves all 11 inputs + result to DB</a:t>
            </a:r>
            <a:endParaRPr lang="en-US" sz="1050" dirty="0"/>
          </a:p>
        </p:txBody>
      </p:sp>
      <p:sp>
        <p:nvSpPr>
          <p:cNvPr id="14" name="Text 12"/>
          <p:cNvSpPr/>
          <p:nvPr/>
        </p:nvSpPr>
        <p:spPr>
          <a:xfrm>
            <a:off x="256032" y="3035808"/>
            <a:ext cx="2743200" cy="274320"/>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Risk Tier Thresholds:</a:t>
            </a:r>
            <a:endParaRPr lang="en-US" sz="1200" dirty="0"/>
          </a:p>
        </p:txBody>
      </p:sp>
      <p:sp>
        <p:nvSpPr>
          <p:cNvPr id="15" name="Shape 13"/>
          <p:cNvSpPr/>
          <p:nvPr/>
        </p:nvSpPr>
        <p:spPr>
          <a:xfrm>
            <a:off x="256032" y="3364992"/>
            <a:ext cx="2798064" cy="1645920"/>
          </a:xfrm>
          <a:prstGeom prst="rect">
            <a:avLst/>
          </a:prstGeom>
          <a:solidFill>
            <a:srgbClr val="DCFCE7"/>
          </a:solidFill>
          <a:ln w="19050">
            <a:solidFill>
              <a:srgbClr val="16A34A"/>
            </a:solidFill>
            <a:prstDash val="solid"/>
          </a:ln>
        </p:spPr>
        <p:txBody>
          <a:bodyPr/>
          <a:lstStyle/>
          <a:p>
            <a:endParaRPr lang="en-IN"/>
          </a:p>
        </p:txBody>
      </p:sp>
      <p:sp>
        <p:nvSpPr>
          <p:cNvPr id="16" name="Text 14"/>
          <p:cNvSpPr/>
          <p:nvPr/>
        </p:nvSpPr>
        <p:spPr>
          <a:xfrm>
            <a:off x="384048" y="3456432"/>
            <a:ext cx="2542032" cy="292608"/>
          </a:xfrm>
          <a:prstGeom prst="rect">
            <a:avLst/>
          </a:prstGeom>
          <a:noFill/>
          <a:ln/>
        </p:spPr>
        <p:txBody>
          <a:bodyPr wrap="square" rtlCol="0" anchor="ctr"/>
          <a:lstStyle/>
          <a:p>
            <a:pPr marL="0" indent="0">
              <a:buNone/>
            </a:pPr>
            <a:r>
              <a:rPr lang="en-US" sz="1150" b="1" dirty="0">
                <a:solidFill>
                  <a:srgbClr val="16A34A"/>
                </a:solidFill>
                <a:latin typeface="Consolas" pitchFamily="34" charset="0"/>
                <a:ea typeface="Consolas" pitchFamily="34" charset="-122"/>
                <a:cs typeface="Consolas" pitchFamily="34" charset="-120"/>
              </a:rPr>
              <a:t>score &lt; 0.35</a:t>
            </a:r>
            <a:endParaRPr lang="en-US" sz="1150" dirty="0"/>
          </a:p>
        </p:txBody>
      </p:sp>
      <p:sp>
        <p:nvSpPr>
          <p:cNvPr id="17" name="Text 15"/>
          <p:cNvSpPr/>
          <p:nvPr/>
        </p:nvSpPr>
        <p:spPr>
          <a:xfrm>
            <a:off x="384048" y="3803904"/>
            <a:ext cx="2542032" cy="420624"/>
          </a:xfrm>
          <a:prstGeom prst="rect">
            <a:avLst/>
          </a:prstGeom>
          <a:noFill/>
          <a:ln/>
        </p:spPr>
        <p:txBody>
          <a:bodyPr wrap="square" rtlCol="0" anchor="ctr"/>
          <a:lstStyle/>
          <a:p>
            <a:pPr marL="0" indent="0" algn="ctr">
              <a:buNone/>
            </a:pPr>
            <a:r>
              <a:rPr lang="en-US" sz="1800" b="1" dirty="0">
                <a:solidFill>
                  <a:srgbClr val="16A34A"/>
                </a:solidFill>
                <a:latin typeface="Calibri" pitchFamily="34" charset="0"/>
                <a:ea typeface="Calibri" pitchFamily="34" charset="-122"/>
                <a:cs typeface="Calibri" pitchFamily="34" charset="-120"/>
              </a:rPr>
              <a:t>LOW RISK</a:t>
            </a:r>
            <a:endParaRPr lang="en-US" sz="1800" dirty="0"/>
          </a:p>
        </p:txBody>
      </p:sp>
      <p:sp>
        <p:nvSpPr>
          <p:cNvPr id="18" name="Text 16"/>
          <p:cNvSpPr/>
          <p:nvPr/>
        </p:nvSpPr>
        <p:spPr>
          <a:xfrm>
            <a:off x="384048" y="4279392"/>
            <a:ext cx="2542032" cy="621792"/>
          </a:xfrm>
          <a:prstGeom prst="rect">
            <a:avLst/>
          </a:prstGeom>
          <a:noFill/>
          <a:ln/>
        </p:spPr>
        <p:txBody>
          <a:bodyPr wrap="square" rtlCol="0" anchor="ctr"/>
          <a:lstStyle/>
          <a:p>
            <a:pPr marL="0" indent="0" algn="ctr">
              <a:buNone/>
            </a:pPr>
            <a:r>
              <a:rPr lang="en-US" sz="1150" dirty="0">
                <a:solidFill>
                  <a:srgbClr val="475569"/>
                </a:solidFill>
                <a:latin typeface="Calibri" pitchFamily="34" charset="0"/>
                <a:ea typeface="Calibri" pitchFamily="34" charset="-122"/>
                <a:cs typeface="Calibri" pitchFamily="34" charset="-120"/>
              </a:rPr>
              <a:t>Routine monitoring</a:t>
            </a:r>
            <a:endParaRPr lang="en-US" sz="1150" dirty="0"/>
          </a:p>
        </p:txBody>
      </p:sp>
      <p:sp>
        <p:nvSpPr>
          <p:cNvPr id="19" name="Shape 17"/>
          <p:cNvSpPr/>
          <p:nvPr/>
        </p:nvSpPr>
        <p:spPr>
          <a:xfrm>
            <a:off x="3227832" y="3364992"/>
            <a:ext cx="2798064" cy="1645920"/>
          </a:xfrm>
          <a:prstGeom prst="rect">
            <a:avLst/>
          </a:prstGeom>
          <a:solidFill>
            <a:srgbClr val="FEF3C7"/>
          </a:solidFill>
          <a:ln w="19050">
            <a:solidFill>
              <a:srgbClr val="D97706"/>
            </a:solidFill>
            <a:prstDash val="solid"/>
          </a:ln>
        </p:spPr>
        <p:txBody>
          <a:bodyPr/>
          <a:lstStyle/>
          <a:p>
            <a:endParaRPr lang="en-IN"/>
          </a:p>
        </p:txBody>
      </p:sp>
      <p:sp>
        <p:nvSpPr>
          <p:cNvPr id="20" name="Text 18"/>
          <p:cNvSpPr/>
          <p:nvPr/>
        </p:nvSpPr>
        <p:spPr>
          <a:xfrm>
            <a:off x="3355848" y="3456432"/>
            <a:ext cx="2542032" cy="292608"/>
          </a:xfrm>
          <a:prstGeom prst="rect">
            <a:avLst/>
          </a:prstGeom>
          <a:noFill/>
          <a:ln/>
        </p:spPr>
        <p:txBody>
          <a:bodyPr wrap="square" rtlCol="0" anchor="ctr"/>
          <a:lstStyle/>
          <a:p>
            <a:pPr marL="0" indent="0">
              <a:buNone/>
            </a:pPr>
            <a:r>
              <a:rPr lang="en-US" sz="1150" b="1" dirty="0">
                <a:solidFill>
                  <a:srgbClr val="D97706"/>
                </a:solidFill>
                <a:latin typeface="Consolas" pitchFamily="34" charset="0"/>
                <a:ea typeface="Consolas" pitchFamily="34" charset="-122"/>
                <a:cs typeface="Consolas" pitchFamily="34" charset="-120"/>
              </a:rPr>
              <a:t>0.35 – 0.65</a:t>
            </a:r>
            <a:endParaRPr lang="en-US" sz="1150" dirty="0"/>
          </a:p>
        </p:txBody>
      </p:sp>
      <p:sp>
        <p:nvSpPr>
          <p:cNvPr id="21" name="Text 19"/>
          <p:cNvSpPr/>
          <p:nvPr/>
        </p:nvSpPr>
        <p:spPr>
          <a:xfrm>
            <a:off x="3355848" y="3803904"/>
            <a:ext cx="2542032" cy="420624"/>
          </a:xfrm>
          <a:prstGeom prst="rect">
            <a:avLst/>
          </a:prstGeom>
          <a:noFill/>
          <a:ln/>
        </p:spPr>
        <p:txBody>
          <a:bodyPr wrap="square" rtlCol="0" anchor="ctr"/>
          <a:lstStyle/>
          <a:p>
            <a:pPr marL="0" indent="0" algn="ctr">
              <a:buNone/>
            </a:pPr>
            <a:r>
              <a:rPr lang="en-US" sz="1800" b="1" dirty="0">
                <a:solidFill>
                  <a:srgbClr val="D97706"/>
                </a:solidFill>
                <a:latin typeface="Calibri" pitchFamily="34" charset="0"/>
                <a:ea typeface="Calibri" pitchFamily="34" charset="-122"/>
                <a:cs typeface="Calibri" pitchFamily="34" charset="-120"/>
              </a:rPr>
              <a:t>MEDIUM RISK</a:t>
            </a:r>
            <a:endParaRPr lang="en-US" sz="1800" dirty="0"/>
          </a:p>
        </p:txBody>
      </p:sp>
      <p:sp>
        <p:nvSpPr>
          <p:cNvPr id="22" name="Text 20"/>
          <p:cNvSpPr/>
          <p:nvPr/>
        </p:nvSpPr>
        <p:spPr>
          <a:xfrm>
            <a:off x="3355848" y="4279392"/>
            <a:ext cx="2542032" cy="621792"/>
          </a:xfrm>
          <a:prstGeom prst="rect">
            <a:avLst/>
          </a:prstGeom>
          <a:noFill/>
          <a:ln/>
        </p:spPr>
        <p:txBody>
          <a:bodyPr wrap="square" rtlCol="0" anchor="ctr"/>
          <a:lstStyle/>
          <a:p>
            <a:pPr marL="0" indent="0" algn="ctr">
              <a:buNone/>
            </a:pPr>
            <a:r>
              <a:rPr lang="en-US" sz="1150" dirty="0">
                <a:solidFill>
                  <a:srgbClr val="475569"/>
                </a:solidFill>
                <a:latin typeface="Calibri" pitchFamily="34" charset="0"/>
                <a:ea typeface="Calibri" pitchFamily="34" charset="-122"/>
                <a:cs typeface="Calibri" pitchFamily="34" charset="-120"/>
              </a:rPr>
              <a:t>Consult a physician</a:t>
            </a:r>
            <a:endParaRPr lang="en-US" sz="1150" dirty="0"/>
          </a:p>
        </p:txBody>
      </p:sp>
      <p:sp>
        <p:nvSpPr>
          <p:cNvPr id="23" name="Shape 21"/>
          <p:cNvSpPr/>
          <p:nvPr/>
        </p:nvSpPr>
        <p:spPr>
          <a:xfrm>
            <a:off x="6199632" y="3364992"/>
            <a:ext cx="2798064" cy="1645920"/>
          </a:xfrm>
          <a:prstGeom prst="rect">
            <a:avLst/>
          </a:prstGeom>
          <a:solidFill>
            <a:srgbClr val="FEE2E2"/>
          </a:solidFill>
          <a:ln w="19050">
            <a:solidFill>
              <a:srgbClr val="DC2626"/>
            </a:solidFill>
            <a:prstDash val="solid"/>
          </a:ln>
        </p:spPr>
        <p:txBody>
          <a:bodyPr/>
          <a:lstStyle/>
          <a:p>
            <a:endParaRPr lang="en-IN"/>
          </a:p>
        </p:txBody>
      </p:sp>
      <p:sp>
        <p:nvSpPr>
          <p:cNvPr id="24" name="Text 22"/>
          <p:cNvSpPr/>
          <p:nvPr/>
        </p:nvSpPr>
        <p:spPr>
          <a:xfrm>
            <a:off x="6327648" y="3456432"/>
            <a:ext cx="2542032" cy="292608"/>
          </a:xfrm>
          <a:prstGeom prst="rect">
            <a:avLst/>
          </a:prstGeom>
          <a:noFill/>
          <a:ln/>
        </p:spPr>
        <p:txBody>
          <a:bodyPr wrap="square" rtlCol="0" anchor="ctr"/>
          <a:lstStyle/>
          <a:p>
            <a:pPr marL="0" indent="0">
              <a:buNone/>
            </a:pPr>
            <a:r>
              <a:rPr lang="en-US" sz="1150" b="1" dirty="0">
                <a:solidFill>
                  <a:srgbClr val="DC2626"/>
                </a:solidFill>
                <a:latin typeface="Consolas" pitchFamily="34" charset="0"/>
                <a:ea typeface="Consolas" pitchFamily="34" charset="-122"/>
                <a:cs typeface="Consolas" pitchFamily="34" charset="-120"/>
              </a:rPr>
              <a:t>score &gt; 0.65</a:t>
            </a:r>
            <a:endParaRPr lang="en-US" sz="1150" dirty="0"/>
          </a:p>
        </p:txBody>
      </p:sp>
      <p:sp>
        <p:nvSpPr>
          <p:cNvPr id="25" name="Text 23"/>
          <p:cNvSpPr/>
          <p:nvPr/>
        </p:nvSpPr>
        <p:spPr>
          <a:xfrm>
            <a:off x="6327648" y="3803904"/>
            <a:ext cx="2542032" cy="420624"/>
          </a:xfrm>
          <a:prstGeom prst="rect">
            <a:avLst/>
          </a:prstGeom>
          <a:noFill/>
          <a:ln/>
        </p:spPr>
        <p:txBody>
          <a:bodyPr wrap="square" rtlCol="0" anchor="ctr"/>
          <a:lstStyle/>
          <a:p>
            <a:pPr marL="0" indent="0" algn="ctr">
              <a:buNone/>
            </a:pPr>
            <a:r>
              <a:rPr lang="en-US" sz="1800" b="1" dirty="0">
                <a:solidFill>
                  <a:srgbClr val="DC2626"/>
                </a:solidFill>
                <a:latin typeface="Calibri" pitchFamily="34" charset="0"/>
                <a:ea typeface="Calibri" pitchFamily="34" charset="-122"/>
                <a:cs typeface="Calibri" pitchFamily="34" charset="-120"/>
              </a:rPr>
              <a:t>HIGH RISK</a:t>
            </a:r>
            <a:endParaRPr lang="en-US" sz="1800" dirty="0"/>
          </a:p>
        </p:txBody>
      </p:sp>
      <p:sp>
        <p:nvSpPr>
          <p:cNvPr id="26" name="Text 24"/>
          <p:cNvSpPr/>
          <p:nvPr/>
        </p:nvSpPr>
        <p:spPr>
          <a:xfrm>
            <a:off x="6327648" y="4279392"/>
            <a:ext cx="2542032" cy="621792"/>
          </a:xfrm>
          <a:prstGeom prst="rect">
            <a:avLst/>
          </a:prstGeom>
          <a:noFill/>
          <a:ln/>
        </p:spPr>
        <p:txBody>
          <a:bodyPr wrap="square" rtlCol="0" anchor="ctr"/>
          <a:lstStyle/>
          <a:p>
            <a:pPr marL="0" indent="0" algn="ctr">
              <a:buNone/>
            </a:pPr>
            <a:r>
              <a:rPr lang="en-US" sz="1150" dirty="0">
                <a:solidFill>
                  <a:srgbClr val="475569"/>
                </a:solidFill>
                <a:latin typeface="Calibri" pitchFamily="34" charset="0"/>
                <a:ea typeface="Calibri" pitchFamily="34" charset="-122"/>
                <a:cs typeface="Calibri" pitchFamily="34" charset="-120"/>
              </a:rPr>
              <a:t>Immediate evaluation advised</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9488"/>
          </a:solidFill>
          <a:ln w="12700">
            <a:solidFill>
              <a:srgbClr val="0D9488"/>
            </a:solidFill>
            <a:prstDash val="solid"/>
          </a:ln>
        </p:spPr>
        <p:txBody>
          <a:bodyPr/>
          <a:lstStyle/>
          <a:p>
            <a:endParaRPr lang="en-IN"/>
          </a:p>
        </p:txBody>
      </p:sp>
      <p:sp>
        <p:nvSpPr>
          <p:cNvPr id="3" name="Text 1"/>
          <p:cNvSpPr/>
          <p:nvPr/>
        </p:nvSpPr>
        <p:spPr>
          <a:xfrm>
            <a:off x="320040" y="0"/>
            <a:ext cx="850392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Frontend — Three Pages, What Each Does</a:t>
            </a:r>
            <a:endParaRPr lang="en-US" sz="2200" dirty="0"/>
          </a:p>
        </p:txBody>
      </p:sp>
      <p:sp>
        <p:nvSpPr>
          <p:cNvPr id="4" name="Shape 2"/>
          <p:cNvSpPr/>
          <p:nvPr/>
        </p:nvSpPr>
        <p:spPr>
          <a:xfrm>
            <a:off x="0" y="5184648"/>
            <a:ext cx="9144000" cy="73152"/>
          </a:xfrm>
          <a:prstGeom prst="rect">
            <a:avLst/>
          </a:prstGeom>
          <a:solidFill>
            <a:srgbClr val="CCFBF1"/>
          </a:solidFill>
          <a:ln w="12700">
            <a:solidFill>
              <a:srgbClr val="CCFBF1"/>
            </a:solidFill>
            <a:prstDash val="solid"/>
          </a:ln>
        </p:spPr>
        <p:txBody>
          <a:bodyPr/>
          <a:lstStyle/>
          <a:p>
            <a:endParaRPr lang="en-IN"/>
          </a:p>
        </p:txBody>
      </p:sp>
      <p:sp>
        <p:nvSpPr>
          <p:cNvPr id="5" name="Shape 3"/>
          <p:cNvSpPr/>
          <p:nvPr/>
        </p:nvSpPr>
        <p:spPr>
          <a:xfrm>
            <a:off x="256032" y="768096"/>
            <a:ext cx="8631936" cy="347472"/>
          </a:xfrm>
          <a:prstGeom prst="rect">
            <a:avLst/>
          </a:prstGeom>
          <a:solidFill>
            <a:srgbClr val="CCFBF1"/>
          </a:solidFill>
          <a:ln w="12700">
            <a:solidFill>
              <a:srgbClr val="0D9488"/>
            </a:solidFill>
            <a:prstDash val="solid"/>
          </a:ln>
        </p:spPr>
        <p:txBody>
          <a:bodyPr/>
          <a:lstStyle/>
          <a:p>
            <a:endParaRPr lang="en-IN"/>
          </a:p>
        </p:txBody>
      </p:sp>
      <p:sp>
        <p:nvSpPr>
          <p:cNvPr id="6" name="Shape 4"/>
          <p:cNvSpPr/>
          <p:nvPr/>
        </p:nvSpPr>
        <p:spPr>
          <a:xfrm>
            <a:off x="256032" y="768096"/>
            <a:ext cx="91440" cy="347472"/>
          </a:xfrm>
          <a:prstGeom prst="rect">
            <a:avLst/>
          </a:prstGeom>
          <a:solidFill>
            <a:srgbClr val="0D9488"/>
          </a:solidFill>
          <a:ln w="12700">
            <a:solidFill>
              <a:srgbClr val="0D9488"/>
            </a:solidFill>
            <a:prstDash val="solid"/>
          </a:ln>
        </p:spPr>
        <p:txBody>
          <a:bodyPr/>
          <a:lstStyle/>
          <a:p>
            <a:endParaRPr lang="en-IN"/>
          </a:p>
        </p:txBody>
      </p:sp>
      <p:sp>
        <p:nvSpPr>
          <p:cNvPr id="7" name="Text 5"/>
          <p:cNvSpPr/>
          <p:nvPr/>
        </p:nvSpPr>
        <p:spPr>
          <a:xfrm>
            <a:off x="420624" y="795528"/>
            <a:ext cx="8339328" cy="274320"/>
          </a:xfrm>
          <a:prstGeom prst="rect">
            <a:avLst/>
          </a:prstGeom>
          <a:noFill/>
          <a:ln/>
        </p:spPr>
        <p:txBody>
          <a:bodyPr wrap="square" rtlCol="0" anchor="ctr"/>
          <a:lstStyle/>
          <a:p>
            <a:pPr marL="0" indent="0">
              <a:buNone/>
            </a:pPr>
            <a:r>
              <a:rPr lang="en-US" sz="1100" b="1" dirty="0">
                <a:solidFill>
                  <a:srgbClr val="0D9488"/>
                </a:solidFill>
                <a:latin typeface="Calibri" pitchFamily="34" charset="0"/>
                <a:ea typeface="Calibri" pitchFamily="34" charset="-122"/>
                <a:cs typeface="Calibri" pitchFamily="34" charset="-120"/>
              </a:rPr>
              <a:t>Sprint 1 built the login and form pages. Sprint 2 redesigned the assessment form (1 field → 13 fields) and added the results display page.</a:t>
            </a:r>
            <a:endParaRPr lang="en-US" sz="1100" dirty="0"/>
          </a:p>
        </p:txBody>
      </p:sp>
      <p:sp>
        <p:nvSpPr>
          <p:cNvPr id="8" name="Shape 6"/>
          <p:cNvSpPr/>
          <p:nvPr/>
        </p:nvSpPr>
        <p:spPr>
          <a:xfrm>
            <a:off x="256032" y="1207008"/>
            <a:ext cx="2816352" cy="3931920"/>
          </a:xfrm>
          <a:prstGeom prst="rect">
            <a:avLst/>
          </a:prstGeom>
          <a:solidFill>
            <a:srgbClr val="DBEAFE"/>
          </a:solidFill>
          <a:ln w="19050">
            <a:solidFill>
              <a:srgbClr val="2563EB"/>
            </a:solidFill>
            <a:prstDash val="solid"/>
          </a:ln>
        </p:spPr>
        <p:txBody>
          <a:bodyPr/>
          <a:lstStyle/>
          <a:p>
            <a:endParaRPr lang="en-IN"/>
          </a:p>
        </p:txBody>
      </p:sp>
      <p:sp>
        <p:nvSpPr>
          <p:cNvPr id="9" name="Shape 7"/>
          <p:cNvSpPr/>
          <p:nvPr/>
        </p:nvSpPr>
        <p:spPr>
          <a:xfrm>
            <a:off x="256032" y="1207008"/>
            <a:ext cx="2816352" cy="512064"/>
          </a:xfrm>
          <a:prstGeom prst="rect">
            <a:avLst/>
          </a:prstGeom>
          <a:solidFill>
            <a:srgbClr val="2563EB"/>
          </a:solidFill>
          <a:ln w="12700">
            <a:solidFill>
              <a:srgbClr val="2563EB"/>
            </a:solidFill>
            <a:prstDash val="solid"/>
          </a:ln>
        </p:spPr>
        <p:txBody>
          <a:bodyPr/>
          <a:lstStyle/>
          <a:p>
            <a:endParaRPr lang="en-IN"/>
          </a:p>
        </p:txBody>
      </p:sp>
      <p:sp>
        <p:nvSpPr>
          <p:cNvPr id="10" name="Text 8"/>
          <p:cNvSpPr/>
          <p:nvPr/>
        </p:nvSpPr>
        <p:spPr>
          <a:xfrm>
            <a:off x="347472" y="1225296"/>
            <a:ext cx="2633472" cy="29260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1.  Login / Register Page</a:t>
            </a:r>
            <a:endParaRPr lang="en-US" sz="1150" dirty="0"/>
          </a:p>
        </p:txBody>
      </p:sp>
      <p:sp>
        <p:nvSpPr>
          <p:cNvPr id="11" name="Text 9"/>
          <p:cNvSpPr/>
          <p:nvPr/>
        </p:nvSpPr>
        <p:spPr>
          <a:xfrm>
            <a:off x="347472" y="1517904"/>
            <a:ext cx="2633472" cy="182880"/>
          </a:xfrm>
          <a:prstGeom prst="rect">
            <a:avLst/>
          </a:prstGeom>
          <a:noFill/>
          <a:ln/>
        </p:spPr>
        <p:txBody>
          <a:bodyPr wrap="square" lIns="0" tIns="0" rIns="0" bIns="0" rtlCol="0" anchor="ctr"/>
          <a:lstStyle/>
          <a:p>
            <a:pPr marL="0" indent="0">
              <a:buNone/>
            </a:pPr>
            <a:r>
              <a:rPr lang="en-US" sz="950" i="1" dirty="0">
                <a:solidFill>
                  <a:srgbClr val="FFFFFF"/>
                </a:solidFill>
                <a:latin typeface="Calibri" pitchFamily="34" charset="0"/>
                <a:ea typeface="Calibri" pitchFamily="34" charset="-122"/>
                <a:cs typeface="Calibri" pitchFamily="34" charset="-120"/>
              </a:rPr>
              <a:t>Unchanged from Sprint 1</a:t>
            </a:r>
            <a:endParaRPr lang="en-US" sz="950" dirty="0"/>
          </a:p>
        </p:txBody>
      </p:sp>
      <p:sp>
        <p:nvSpPr>
          <p:cNvPr id="12" name="Shape 10"/>
          <p:cNvSpPr/>
          <p:nvPr/>
        </p:nvSpPr>
        <p:spPr>
          <a:xfrm>
            <a:off x="347472" y="1828800"/>
            <a:ext cx="2633472" cy="566928"/>
          </a:xfrm>
          <a:prstGeom prst="rect">
            <a:avLst/>
          </a:prstGeom>
          <a:solidFill>
            <a:srgbClr val="FFFFFF"/>
          </a:solidFill>
          <a:ln w="12700">
            <a:solidFill>
              <a:srgbClr val="E2E8F0"/>
            </a:solidFill>
            <a:prstDash val="solid"/>
          </a:ln>
        </p:spPr>
        <p:txBody>
          <a:bodyPr/>
          <a:lstStyle/>
          <a:p>
            <a:endParaRPr lang="en-IN"/>
          </a:p>
        </p:txBody>
      </p:sp>
      <p:sp>
        <p:nvSpPr>
          <p:cNvPr id="13" name="Text 11"/>
          <p:cNvSpPr/>
          <p:nvPr/>
        </p:nvSpPr>
        <p:spPr>
          <a:xfrm>
            <a:off x="420624" y="1865376"/>
            <a:ext cx="2487168" cy="219456"/>
          </a:xfrm>
          <a:prstGeom prst="rect">
            <a:avLst/>
          </a:prstGeom>
          <a:noFill/>
          <a:ln/>
        </p:spPr>
        <p:txBody>
          <a:bodyPr wrap="square" lIns="0" tIns="0" rIns="0" bIns="0" rtlCol="0" anchor="ctr"/>
          <a:lstStyle/>
          <a:p>
            <a:pPr marL="0" indent="0">
              <a:buNone/>
            </a:pPr>
            <a:r>
              <a:rPr lang="en-US" sz="1000" b="1" dirty="0">
                <a:solidFill>
                  <a:srgbClr val="2563EB"/>
                </a:solidFill>
                <a:latin typeface="Calibri" pitchFamily="34" charset="0"/>
                <a:ea typeface="Calibri" pitchFamily="34" charset="-122"/>
                <a:cs typeface="Calibri" pitchFamily="34" charset="-120"/>
              </a:rPr>
              <a:t>Register form</a:t>
            </a:r>
            <a:endParaRPr lang="en-US" sz="1000" dirty="0"/>
          </a:p>
        </p:txBody>
      </p:sp>
      <p:sp>
        <p:nvSpPr>
          <p:cNvPr id="14" name="Text 12"/>
          <p:cNvSpPr/>
          <p:nvPr/>
        </p:nvSpPr>
        <p:spPr>
          <a:xfrm>
            <a:off x="420624" y="2084832"/>
            <a:ext cx="2487168" cy="256032"/>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Full name, email, password → bcrypt hashed → stored in PostgreSQL</a:t>
            </a:r>
            <a:endParaRPr lang="en-US" sz="950" dirty="0"/>
          </a:p>
        </p:txBody>
      </p:sp>
      <p:sp>
        <p:nvSpPr>
          <p:cNvPr id="15" name="Shape 13"/>
          <p:cNvSpPr/>
          <p:nvPr/>
        </p:nvSpPr>
        <p:spPr>
          <a:xfrm>
            <a:off x="347472" y="2487168"/>
            <a:ext cx="2633472" cy="566928"/>
          </a:xfrm>
          <a:prstGeom prst="rect">
            <a:avLst/>
          </a:prstGeom>
          <a:solidFill>
            <a:srgbClr val="FFFFFF"/>
          </a:solidFill>
          <a:ln w="12700">
            <a:solidFill>
              <a:srgbClr val="E2E8F0"/>
            </a:solidFill>
            <a:prstDash val="solid"/>
          </a:ln>
        </p:spPr>
        <p:txBody>
          <a:bodyPr/>
          <a:lstStyle/>
          <a:p>
            <a:endParaRPr lang="en-IN"/>
          </a:p>
        </p:txBody>
      </p:sp>
      <p:sp>
        <p:nvSpPr>
          <p:cNvPr id="16" name="Text 14"/>
          <p:cNvSpPr/>
          <p:nvPr/>
        </p:nvSpPr>
        <p:spPr>
          <a:xfrm>
            <a:off x="420624" y="2523744"/>
            <a:ext cx="2487168" cy="219456"/>
          </a:xfrm>
          <a:prstGeom prst="rect">
            <a:avLst/>
          </a:prstGeom>
          <a:noFill/>
          <a:ln/>
        </p:spPr>
        <p:txBody>
          <a:bodyPr wrap="square" lIns="0" tIns="0" rIns="0" bIns="0" rtlCol="0" anchor="ctr"/>
          <a:lstStyle/>
          <a:p>
            <a:pPr marL="0" indent="0">
              <a:buNone/>
            </a:pPr>
            <a:r>
              <a:rPr lang="en-US" sz="1000" b="1" dirty="0">
                <a:solidFill>
                  <a:srgbClr val="2563EB"/>
                </a:solidFill>
                <a:latin typeface="Calibri" pitchFamily="34" charset="0"/>
                <a:ea typeface="Calibri" pitchFamily="34" charset="-122"/>
                <a:cs typeface="Calibri" pitchFamily="34" charset="-120"/>
              </a:rPr>
              <a:t>Login form</a:t>
            </a:r>
            <a:endParaRPr lang="en-US" sz="1000" dirty="0"/>
          </a:p>
        </p:txBody>
      </p:sp>
      <p:sp>
        <p:nvSpPr>
          <p:cNvPr id="17" name="Text 15"/>
          <p:cNvSpPr/>
          <p:nvPr/>
        </p:nvSpPr>
        <p:spPr>
          <a:xfrm>
            <a:off x="420624" y="2743200"/>
            <a:ext cx="2487168" cy="256032"/>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Email + password → JWT token returned → stored in localStorage</a:t>
            </a:r>
            <a:endParaRPr lang="en-US" sz="950" dirty="0"/>
          </a:p>
        </p:txBody>
      </p:sp>
      <p:sp>
        <p:nvSpPr>
          <p:cNvPr id="18" name="Shape 16"/>
          <p:cNvSpPr/>
          <p:nvPr/>
        </p:nvSpPr>
        <p:spPr>
          <a:xfrm>
            <a:off x="347472" y="3145536"/>
            <a:ext cx="2633472" cy="566928"/>
          </a:xfrm>
          <a:prstGeom prst="rect">
            <a:avLst/>
          </a:prstGeom>
          <a:solidFill>
            <a:srgbClr val="FFFFFF"/>
          </a:solidFill>
          <a:ln w="12700">
            <a:solidFill>
              <a:srgbClr val="E2E8F0"/>
            </a:solidFill>
            <a:prstDash val="solid"/>
          </a:ln>
        </p:spPr>
        <p:txBody>
          <a:bodyPr/>
          <a:lstStyle/>
          <a:p>
            <a:endParaRPr lang="en-IN"/>
          </a:p>
        </p:txBody>
      </p:sp>
      <p:sp>
        <p:nvSpPr>
          <p:cNvPr id="19" name="Text 17"/>
          <p:cNvSpPr/>
          <p:nvPr/>
        </p:nvSpPr>
        <p:spPr>
          <a:xfrm>
            <a:off x="420624" y="3182112"/>
            <a:ext cx="2487168" cy="219456"/>
          </a:xfrm>
          <a:prstGeom prst="rect">
            <a:avLst/>
          </a:prstGeom>
          <a:noFill/>
          <a:ln/>
        </p:spPr>
        <p:txBody>
          <a:bodyPr wrap="square" lIns="0" tIns="0" rIns="0" bIns="0" rtlCol="0" anchor="ctr"/>
          <a:lstStyle/>
          <a:p>
            <a:pPr marL="0" indent="0">
              <a:buNone/>
            </a:pPr>
            <a:r>
              <a:rPr lang="en-US" sz="1000" b="1" dirty="0">
                <a:solidFill>
                  <a:srgbClr val="2563EB"/>
                </a:solidFill>
                <a:latin typeface="Calibri" pitchFamily="34" charset="0"/>
                <a:ea typeface="Calibri" pitchFamily="34" charset="-122"/>
                <a:cs typeface="Calibri" pitchFamily="34" charset="-120"/>
              </a:rPr>
              <a:t>Route protection</a:t>
            </a:r>
            <a:endParaRPr lang="en-US" sz="1000" dirty="0"/>
          </a:p>
        </p:txBody>
      </p:sp>
      <p:sp>
        <p:nvSpPr>
          <p:cNvPr id="20" name="Text 18"/>
          <p:cNvSpPr/>
          <p:nvPr/>
        </p:nvSpPr>
        <p:spPr>
          <a:xfrm>
            <a:off x="420624" y="3401568"/>
            <a:ext cx="2487168" cy="256032"/>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Frontend checks token before loading assessment page</a:t>
            </a:r>
            <a:endParaRPr lang="en-US" sz="950" dirty="0"/>
          </a:p>
        </p:txBody>
      </p:sp>
      <p:sp>
        <p:nvSpPr>
          <p:cNvPr id="21" name="Shape 19"/>
          <p:cNvSpPr/>
          <p:nvPr/>
        </p:nvSpPr>
        <p:spPr>
          <a:xfrm>
            <a:off x="347472" y="3803904"/>
            <a:ext cx="2633472" cy="566928"/>
          </a:xfrm>
          <a:prstGeom prst="rect">
            <a:avLst/>
          </a:prstGeom>
          <a:solidFill>
            <a:srgbClr val="FFFFFF"/>
          </a:solidFill>
          <a:ln w="12700">
            <a:solidFill>
              <a:srgbClr val="E2E8F0"/>
            </a:solidFill>
            <a:prstDash val="solid"/>
          </a:ln>
        </p:spPr>
        <p:txBody>
          <a:bodyPr/>
          <a:lstStyle/>
          <a:p>
            <a:endParaRPr lang="en-IN"/>
          </a:p>
        </p:txBody>
      </p:sp>
      <p:sp>
        <p:nvSpPr>
          <p:cNvPr id="22" name="Text 20"/>
          <p:cNvSpPr/>
          <p:nvPr/>
        </p:nvSpPr>
        <p:spPr>
          <a:xfrm>
            <a:off x="420624" y="3840480"/>
            <a:ext cx="2487168" cy="219456"/>
          </a:xfrm>
          <a:prstGeom prst="rect">
            <a:avLst/>
          </a:prstGeom>
          <a:noFill/>
          <a:ln/>
        </p:spPr>
        <p:txBody>
          <a:bodyPr wrap="square" lIns="0" tIns="0" rIns="0" bIns="0" rtlCol="0" anchor="ctr"/>
          <a:lstStyle/>
          <a:p>
            <a:pPr marL="0" indent="0">
              <a:buNone/>
            </a:pPr>
            <a:r>
              <a:rPr lang="en-US" sz="1000" b="1" dirty="0">
                <a:solidFill>
                  <a:srgbClr val="2563EB"/>
                </a:solidFill>
                <a:latin typeface="Calibri" pitchFamily="34" charset="0"/>
                <a:ea typeface="Calibri" pitchFamily="34" charset="-122"/>
                <a:cs typeface="Calibri" pitchFamily="34" charset="-120"/>
              </a:rPr>
              <a:t>Status</a:t>
            </a:r>
            <a:endParaRPr lang="en-US" sz="1000" dirty="0"/>
          </a:p>
        </p:txBody>
      </p:sp>
      <p:sp>
        <p:nvSpPr>
          <p:cNvPr id="23" name="Text 21"/>
          <p:cNvSpPr/>
          <p:nvPr/>
        </p:nvSpPr>
        <p:spPr>
          <a:xfrm>
            <a:off x="420624" y="4059936"/>
            <a:ext cx="2487168" cy="256032"/>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No changes in Sprint 2 — still fully working from Sprint 1</a:t>
            </a:r>
            <a:endParaRPr lang="en-US" sz="950" dirty="0"/>
          </a:p>
        </p:txBody>
      </p:sp>
      <p:sp>
        <p:nvSpPr>
          <p:cNvPr id="24" name="Shape 22"/>
          <p:cNvSpPr/>
          <p:nvPr/>
        </p:nvSpPr>
        <p:spPr>
          <a:xfrm>
            <a:off x="3246120" y="1207008"/>
            <a:ext cx="2816352" cy="3931920"/>
          </a:xfrm>
          <a:prstGeom prst="rect">
            <a:avLst/>
          </a:prstGeom>
          <a:solidFill>
            <a:srgbClr val="CCFBF1"/>
          </a:solidFill>
          <a:ln w="25400">
            <a:solidFill>
              <a:srgbClr val="0D9488"/>
            </a:solidFill>
            <a:prstDash val="solid"/>
          </a:ln>
        </p:spPr>
        <p:txBody>
          <a:bodyPr/>
          <a:lstStyle/>
          <a:p>
            <a:endParaRPr lang="en-IN"/>
          </a:p>
        </p:txBody>
      </p:sp>
      <p:sp>
        <p:nvSpPr>
          <p:cNvPr id="25" name="Shape 23"/>
          <p:cNvSpPr/>
          <p:nvPr/>
        </p:nvSpPr>
        <p:spPr>
          <a:xfrm>
            <a:off x="3246120" y="1207008"/>
            <a:ext cx="2816352" cy="512064"/>
          </a:xfrm>
          <a:prstGeom prst="rect">
            <a:avLst/>
          </a:prstGeom>
          <a:solidFill>
            <a:srgbClr val="0D9488"/>
          </a:solidFill>
          <a:ln w="12700">
            <a:solidFill>
              <a:srgbClr val="0D9488"/>
            </a:solidFill>
            <a:prstDash val="solid"/>
          </a:ln>
        </p:spPr>
        <p:txBody>
          <a:bodyPr/>
          <a:lstStyle/>
          <a:p>
            <a:endParaRPr lang="en-IN"/>
          </a:p>
        </p:txBody>
      </p:sp>
      <p:sp>
        <p:nvSpPr>
          <p:cNvPr id="26" name="Text 24"/>
          <p:cNvSpPr/>
          <p:nvPr/>
        </p:nvSpPr>
        <p:spPr>
          <a:xfrm>
            <a:off x="3337560" y="1225296"/>
            <a:ext cx="2633472" cy="29260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2.  Risk Assessment Form</a:t>
            </a:r>
            <a:endParaRPr lang="en-US" sz="1150" dirty="0"/>
          </a:p>
        </p:txBody>
      </p:sp>
      <p:sp>
        <p:nvSpPr>
          <p:cNvPr id="27" name="Text 25"/>
          <p:cNvSpPr/>
          <p:nvPr/>
        </p:nvSpPr>
        <p:spPr>
          <a:xfrm>
            <a:off x="3337560" y="1517904"/>
            <a:ext cx="2633472" cy="182880"/>
          </a:xfrm>
          <a:prstGeom prst="rect">
            <a:avLst/>
          </a:prstGeom>
          <a:noFill/>
          <a:ln/>
        </p:spPr>
        <p:txBody>
          <a:bodyPr wrap="square" lIns="0" tIns="0" rIns="0" bIns="0" rtlCol="0" anchor="ctr"/>
          <a:lstStyle/>
          <a:p>
            <a:pPr marL="0" indent="0">
              <a:buNone/>
            </a:pPr>
            <a:r>
              <a:rPr lang="en-US" sz="950" i="1" dirty="0">
                <a:solidFill>
                  <a:srgbClr val="E0F2FE"/>
                </a:solidFill>
                <a:latin typeface="Calibri" pitchFamily="34" charset="0"/>
                <a:ea typeface="Calibri" pitchFamily="34" charset="-122"/>
                <a:cs typeface="Calibri" pitchFamily="34" charset="-120"/>
              </a:rPr>
              <a:t>Redesigned in Sprint 2  ★</a:t>
            </a:r>
            <a:endParaRPr lang="en-US" sz="950" dirty="0"/>
          </a:p>
        </p:txBody>
      </p:sp>
      <p:sp>
        <p:nvSpPr>
          <p:cNvPr id="28" name="Shape 26"/>
          <p:cNvSpPr/>
          <p:nvPr/>
        </p:nvSpPr>
        <p:spPr>
          <a:xfrm>
            <a:off x="3337560" y="1828800"/>
            <a:ext cx="2633472" cy="566928"/>
          </a:xfrm>
          <a:prstGeom prst="rect">
            <a:avLst/>
          </a:prstGeom>
          <a:solidFill>
            <a:srgbClr val="FFFFFF"/>
          </a:solidFill>
          <a:ln w="12700">
            <a:solidFill>
              <a:srgbClr val="E2E8F0"/>
            </a:solidFill>
            <a:prstDash val="solid"/>
          </a:ln>
        </p:spPr>
        <p:txBody>
          <a:bodyPr/>
          <a:lstStyle/>
          <a:p>
            <a:endParaRPr lang="en-IN"/>
          </a:p>
        </p:txBody>
      </p:sp>
      <p:sp>
        <p:nvSpPr>
          <p:cNvPr id="29" name="Text 27"/>
          <p:cNvSpPr/>
          <p:nvPr/>
        </p:nvSpPr>
        <p:spPr>
          <a:xfrm>
            <a:off x="3410712" y="1865376"/>
            <a:ext cx="2487168" cy="219456"/>
          </a:xfrm>
          <a:prstGeom prst="rect">
            <a:avLst/>
          </a:prstGeom>
          <a:noFill/>
          <a:ln/>
        </p:spPr>
        <p:txBody>
          <a:bodyPr wrap="square" lIns="0" tIns="0" rIns="0" bIns="0"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Sprint 1 form</a:t>
            </a:r>
            <a:endParaRPr lang="en-US" sz="1000" dirty="0"/>
          </a:p>
        </p:txBody>
      </p:sp>
      <p:sp>
        <p:nvSpPr>
          <p:cNvPr id="30" name="Text 28"/>
          <p:cNvSpPr/>
          <p:nvPr/>
        </p:nvSpPr>
        <p:spPr>
          <a:xfrm>
            <a:off x="3410712" y="2084832"/>
            <a:ext cx="2487168" cy="256032"/>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Only 2 fields: name + age. Sent to dummy /assess endpoint</a:t>
            </a:r>
            <a:endParaRPr lang="en-US" sz="950" dirty="0"/>
          </a:p>
        </p:txBody>
      </p:sp>
      <p:sp>
        <p:nvSpPr>
          <p:cNvPr id="31" name="Shape 29"/>
          <p:cNvSpPr/>
          <p:nvPr/>
        </p:nvSpPr>
        <p:spPr>
          <a:xfrm>
            <a:off x="3337560" y="2487168"/>
            <a:ext cx="2633472" cy="566928"/>
          </a:xfrm>
          <a:prstGeom prst="rect">
            <a:avLst/>
          </a:prstGeom>
          <a:solidFill>
            <a:srgbClr val="FFFFFF"/>
          </a:solidFill>
          <a:ln w="12700">
            <a:solidFill>
              <a:srgbClr val="E2E8F0"/>
            </a:solidFill>
            <a:prstDash val="solid"/>
          </a:ln>
        </p:spPr>
        <p:txBody>
          <a:bodyPr/>
          <a:lstStyle/>
          <a:p>
            <a:endParaRPr lang="en-IN"/>
          </a:p>
        </p:txBody>
      </p:sp>
      <p:sp>
        <p:nvSpPr>
          <p:cNvPr id="32" name="Text 30"/>
          <p:cNvSpPr/>
          <p:nvPr/>
        </p:nvSpPr>
        <p:spPr>
          <a:xfrm>
            <a:off x="3410712" y="2523744"/>
            <a:ext cx="2487168" cy="219456"/>
          </a:xfrm>
          <a:prstGeom prst="rect">
            <a:avLst/>
          </a:prstGeom>
          <a:noFill/>
          <a:ln/>
        </p:spPr>
        <p:txBody>
          <a:bodyPr wrap="square" lIns="0" tIns="0" rIns="0" bIns="0"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Sprint 2 form</a:t>
            </a:r>
            <a:endParaRPr lang="en-US" sz="1000" dirty="0"/>
          </a:p>
        </p:txBody>
      </p:sp>
      <p:sp>
        <p:nvSpPr>
          <p:cNvPr id="33" name="Text 31"/>
          <p:cNvSpPr/>
          <p:nvPr/>
        </p:nvSpPr>
        <p:spPr>
          <a:xfrm>
            <a:off x="3410712" y="2743200"/>
            <a:ext cx="2487168" cy="256032"/>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Now 13 fields — all 11 clinical inputs + name + age</a:t>
            </a:r>
            <a:endParaRPr lang="en-US" sz="950" dirty="0"/>
          </a:p>
        </p:txBody>
      </p:sp>
      <p:sp>
        <p:nvSpPr>
          <p:cNvPr id="34" name="Shape 32"/>
          <p:cNvSpPr/>
          <p:nvPr/>
        </p:nvSpPr>
        <p:spPr>
          <a:xfrm>
            <a:off x="3337560" y="3145536"/>
            <a:ext cx="2633472" cy="566928"/>
          </a:xfrm>
          <a:prstGeom prst="rect">
            <a:avLst/>
          </a:prstGeom>
          <a:solidFill>
            <a:srgbClr val="FFFFFF"/>
          </a:solidFill>
          <a:ln w="12700">
            <a:solidFill>
              <a:srgbClr val="E2E8F0"/>
            </a:solidFill>
            <a:prstDash val="solid"/>
          </a:ln>
        </p:spPr>
        <p:txBody>
          <a:bodyPr/>
          <a:lstStyle/>
          <a:p>
            <a:endParaRPr lang="en-IN"/>
          </a:p>
        </p:txBody>
      </p:sp>
      <p:sp>
        <p:nvSpPr>
          <p:cNvPr id="35" name="Text 33"/>
          <p:cNvSpPr/>
          <p:nvPr/>
        </p:nvSpPr>
        <p:spPr>
          <a:xfrm>
            <a:off x="3410712" y="3182112"/>
            <a:ext cx="2487168" cy="219456"/>
          </a:xfrm>
          <a:prstGeom prst="rect">
            <a:avLst/>
          </a:prstGeom>
          <a:noFill/>
          <a:ln/>
        </p:spPr>
        <p:txBody>
          <a:bodyPr wrap="square" lIns="0" tIns="0" rIns="0" bIns="0"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Input types</a:t>
            </a:r>
            <a:endParaRPr lang="en-US" sz="1000" dirty="0"/>
          </a:p>
        </p:txBody>
      </p:sp>
      <p:sp>
        <p:nvSpPr>
          <p:cNvPr id="36" name="Text 34"/>
          <p:cNvSpPr/>
          <p:nvPr/>
        </p:nvSpPr>
        <p:spPr>
          <a:xfrm>
            <a:off x="3410712" y="3401568"/>
            <a:ext cx="2487168" cy="256032"/>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Dropdowns for categorical (sex, cp, etc), number inputs for numeric</a:t>
            </a:r>
            <a:endParaRPr lang="en-US" sz="950" dirty="0"/>
          </a:p>
        </p:txBody>
      </p:sp>
      <p:sp>
        <p:nvSpPr>
          <p:cNvPr id="37" name="Shape 35"/>
          <p:cNvSpPr/>
          <p:nvPr/>
        </p:nvSpPr>
        <p:spPr>
          <a:xfrm>
            <a:off x="3337560" y="3803904"/>
            <a:ext cx="2633472" cy="566928"/>
          </a:xfrm>
          <a:prstGeom prst="rect">
            <a:avLst/>
          </a:prstGeom>
          <a:solidFill>
            <a:srgbClr val="FFFFFF"/>
          </a:solidFill>
          <a:ln w="12700">
            <a:solidFill>
              <a:srgbClr val="E2E8F0"/>
            </a:solidFill>
            <a:prstDash val="solid"/>
          </a:ln>
        </p:spPr>
        <p:txBody>
          <a:bodyPr/>
          <a:lstStyle/>
          <a:p>
            <a:endParaRPr lang="en-IN"/>
          </a:p>
        </p:txBody>
      </p:sp>
      <p:sp>
        <p:nvSpPr>
          <p:cNvPr id="38" name="Text 36"/>
          <p:cNvSpPr/>
          <p:nvPr/>
        </p:nvSpPr>
        <p:spPr>
          <a:xfrm>
            <a:off x="3410712" y="3840480"/>
            <a:ext cx="2487168" cy="219456"/>
          </a:xfrm>
          <a:prstGeom prst="rect">
            <a:avLst/>
          </a:prstGeom>
          <a:noFill/>
          <a:ln/>
        </p:spPr>
        <p:txBody>
          <a:bodyPr wrap="square" lIns="0" tIns="0" rIns="0" bIns="0"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Type conversion</a:t>
            </a:r>
            <a:endParaRPr lang="en-US" sz="1000" dirty="0"/>
          </a:p>
        </p:txBody>
      </p:sp>
      <p:sp>
        <p:nvSpPr>
          <p:cNvPr id="39" name="Text 37"/>
          <p:cNvSpPr/>
          <p:nvPr/>
        </p:nvSpPr>
        <p:spPr>
          <a:xfrm>
            <a:off x="3410712" y="4059936"/>
            <a:ext cx="2487168" cy="256032"/>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parseInt() and parseFloat() applied before fetch() — fixes 422 errors</a:t>
            </a:r>
            <a:endParaRPr lang="en-US" sz="950" dirty="0"/>
          </a:p>
        </p:txBody>
      </p:sp>
      <p:sp>
        <p:nvSpPr>
          <p:cNvPr id="40" name="Shape 38"/>
          <p:cNvSpPr/>
          <p:nvPr/>
        </p:nvSpPr>
        <p:spPr>
          <a:xfrm>
            <a:off x="3337560" y="4462272"/>
            <a:ext cx="2633472" cy="566928"/>
          </a:xfrm>
          <a:prstGeom prst="rect">
            <a:avLst/>
          </a:prstGeom>
          <a:solidFill>
            <a:srgbClr val="FFFFFF"/>
          </a:solidFill>
          <a:ln w="12700">
            <a:solidFill>
              <a:srgbClr val="E2E8F0"/>
            </a:solidFill>
            <a:prstDash val="solid"/>
          </a:ln>
        </p:spPr>
        <p:txBody>
          <a:bodyPr/>
          <a:lstStyle/>
          <a:p>
            <a:endParaRPr lang="en-IN"/>
          </a:p>
        </p:txBody>
      </p:sp>
      <p:sp>
        <p:nvSpPr>
          <p:cNvPr id="41" name="Text 39"/>
          <p:cNvSpPr/>
          <p:nvPr/>
        </p:nvSpPr>
        <p:spPr>
          <a:xfrm>
            <a:off x="3410712" y="4498848"/>
            <a:ext cx="2487168" cy="219456"/>
          </a:xfrm>
          <a:prstGeom prst="rect">
            <a:avLst/>
          </a:prstGeom>
          <a:noFill/>
          <a:ln/>
        </p:spPr>
        <p:txBody>
          <a:bodyPr wrap="square" lIns="0" tIns="0" rIns="0" bIns="0"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UX detail</a:t>
            </a:r>
            <a:endParaRPr lang="en-US" sz="1000" dirty="0"/>
          </a:p>
        </p:txBody>
      </p:sp>
      <p:sp>
        <p:nvSpPr>
          <p:cNvPr id="42" name="Text 40"/>
          <p:cNvSpPr/>
          <p:nvPr/>
        </p:nvSpPr>
        <p:spPr>
          <a:xfrm>
            <a:off x="3410712" y="4718304"/>
            <a:ext cx="2487168" cy="256032"/>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Submit button shows 'Analyzing...' and disables during API call</a:t>
            </a:r>
            <a:endParaRPr lang="en-US" sz="950" dirty="0"/>
          </a:p>
        </p:txBody>
      </p:sp>
      <p:sp>
        <p:nvSpPr>
          <p:cNvPr id="43" name="Shape 41"/>
          <p:cNvSpPr/>
          <p:nvPr/>
        </p:nvSpPr>
        <p:spPr>
          <a:xfrm>
            <a:off x="6236208" y="1207008"/>
            <a:ext cx="2816352" cy="3931920"/>
          </a:xfrm>
          <a:prstGeom prst="rect">
            <a:avLst/>
          </a:prstGeom>
          <a:solidFill>
            <a:srgbClr val="DCFCE7"/>
          </a:solidFill>
          <a:ln w="19050">
            <a:solidFill>
              <a:srgbClr val="16A34A"/>
            </a:solidFill>
            <a:prstDash val="solid"/>
          </a:ln>
        </p:spPr>
        <p:txBody>
          <a:bodyPr/>
          <a:lstStyle/>
          <a:p>
            <a:endParaRPr lang="en-IN"/>
          </a:p>
        </p:txBody>
      </p:sp>
      <p:sp>
        <p:nvSpPr>
          <p:cNvPr id="44" name="Shape 42"/>
          <p:cNvSpPr/>
          <p:nvPr/>
        </p:nvSpPr>
        <p:spPr>
          <a:xfrm>
            <a:off x="6236208" y="1207008"/>
            <a:ext cx="2816352" cy="512064"/>
          </a:xfrm>
          <a:prstGeom prst="rect">
            <a:avLst/>
          </a:prstGeom>
          <a:solidFill>
            <a:srgbClr val="16A34A"/>
          </a:solidFill>
          <a:ln w="12700">
            <a:solidFill>
              <a:srgbClr val="16A34A"/>
            </a:solidFill>
            <a:prstDash val="solid"/>
          </a:ln>
        </p:spPr>
        <p:txBody>
          <a:bodyPr/>
          <a:lstStyle/>
          <a:p>
            <a:endParaRPr lang="en-IN"/>
          </a:p>
        </p:txBody>
      </p:sp>
      <p:sp>
        <p:nvSpPr>
          <p:cNvPr id="45" name="Text 43"/>
          <p:cNvSpPr/>
          <p:nvPr/>
        </p:nvSpPr>
        <p:spPr>
          <a:xfrm>
            <a:off x="6327648" y="1225296"/>
            <a:ext cx="2633472" cy="29260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3.  Results Display Page</a:t>
            </a:r>
            <a:endParaRPr lang="en-US" sz="1150" dirty="0"/>
          </a:p>
        </p:txBody>
      </p:sp>
      <p:sp>
        <p:nvSpPr>
          <p:cNvPr id="46" name="Text 44"/>
          <p:cNvSpPr/>
          <p:nvPr/>
        </p:nvSpPr>
        <p:spPr>
          <a:xfrm>
            <a:off x="6327648" y="1517904"/>
            <a:ext cx="2633472" cy="182880"/>
          </a:xfrm>
          <a:prstGeom prst="rect">
            <a:avLst/>
          </a:prstGeom>
          <a:noFill/>
          <a:ln/>
        </p:spPr>
        <p:txBody>
          <a:bodyPr wrap="square" lIns="0" tIns="0" rIns="0" bIns="0" rtlCol="0" anchor="ctr"/>
          <a:lstStyle/>
          <a:p>
            <a:pPr marL="0" indent="0">
              <a:buNone/>
            </a:pPr>
            <a:r>
              <a:rPr lang="en-US" sz="950" i="1" dirty="0">
                <a:solidFill>
                  <a:srgbClr val="FFFFFF"/>
                </a:solidFill>
                <a:latin typeface="Calibri" pitchFamily="34" charset="0"/>
                <a:ea typeface="Calibri" pitchFamily="34" charset="-122"/>
                <a:cs typeface="Calibri" pitchFamily="34" charset="-120"/>
              </a:rPr>
              <a:t>New in Sprint 2</a:t>
            </a:r>
            <a:endParaRPr lang="en-US" sz="950" dirty="0"/>
          </a:p>
        </p:txBody>
      </p:sp>
      <p:sp>
        <p:nvSpPr>
          <p:cNvPr id="47" name="Shape 45"/>
          <p:cNvSpPr/>
          <p:nvPr/>
        </p:nvSpPr>
        <p:spPr>
          <a:xfrm>
            <a:off x="6327648" y="1828800"/>
            <a:ext cx="2633472" cy="566928"/>
          </a:xfrm>
          <a:prstGeom prst="rect">
            <a:avLst/>
          </a:prstGeom>
          <a:solidFill>
            <a:srgbClr val="FFFFFF"/>
          </a:solidFill>
          <a:ln w="12700">
            <a:solidFill>
              <a:srgbClr val="E2E8F0"/>
            </a:solidFill>
            <a:prstDash val="solid"/>
          </a:ln>
        </p:spPr>
        <p:txBody>
          <a:bodyPr/>
          <a:lstStyle/>
          <a:p>
            <a:endParaRPr lang="en-IN"/>
          </a:p>
        </p:txBody>
      </p:sp>
      <p:sp>
        <p:nvSpPr>
          <p:cNvPr id="48" name="Text 46"/>
          <p:cNvSpPr/>
          <p:nvPr/>
        </p:nvSpPr>
        <p:spPr>
          <a:xfrm>
            <a:off x="6400800" y="1865376"/>
            <a:ext cx="2487168" cy="219456"/>
          </a:xfrm>
          <a:prstGeom prst="rect">
            <a:avLst/>
          </a:prstGeom>
          <a:noFill/>
          <a:ln/>
        </p:spPr>
        <p:txBody>
          <a:bodyPr wrap="square" lIns="0" tIns="0" rIns="0" bIns="0" rtlCol="0" anchor="ctr"/>
          <a:lstStyle/>
          <a:p>
            <a:pPr marL="0" indent="0">
              <a:buNone/>
            </a:pPr>
            <a:r>
              <a:rPr lang="en-US" sz="1000" b="1" dirty="0">
                <a:solidFill>
                  <a:srgbClr val="16A34A"/>
                </a:solidFill>
                <a:latin typeface="Calibri" pitchFamily="34" charset="0"/>
                <a:ea typeface="Calibri" pitchFamily="34" charset="-122"/>
                <a:cs typeface="Calibri" pitchFamily="34" charset="-120"/>
              </a:rPr>
              <a:t>Risk percentage</a:t>
            </a:r>
            <a:endParaRPr lang="en-US" sz="1000" dirty="0"/>
          </a:p>
        </p:txBody>
      </p:sp>
      <p:sp>
        <p:nvSpPr>
          <p:cNvPr id="49" name="Text 47"/>
          <p:cNvSpPr/>
          <p:nvPr/>
        </p:nvSpPr>
        <p:spPr>
          <a:xfrm>
            <a:off x="6400800" y="2084832"/>
            <a:ext cx="2487168" cy="256032"/>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Large bold number: e.g. '72%' — direct output from predict_proba()</a:t>
            </a:r>
            <a:endParaRPr lang="en-US" sz="950" dirty="0"/>
          </a:p>
        </p:txBody>
      </p:sp>
      <p:sp>
        <p:nvSpPr>
          <p:cNvPr id="50" name="Shape 48"/>
          <p:cNvSpPr/>
          <p:nvPr/>
        </p:nvSpPr>
        <p:spPr>
          <a:xfrm>
            <a:off x="6327648" y="2487168"/>
            <a:ext cx="2633472" cy="566928"/>
          </a:xfrm>
          <a:prstGeom prst="rect">
            <a:avLst/>
          </a:prstGeom>
          <a:solidFill>
            <a:srgbClr val="FFFFFF"/>
          </a:solidFill>
          <a:ln w="12700">
            <a:solidFill>
              <a:srgbClr val="E2E8F0"/>
            </a:solidFill>
            <a:prstDash val="solid"/>
          </a:ln>
        </p:spPr>
        <p:txBody>
          <a:bodyPr/>
          <a:lstStyle/>
          <a:p>
            <a:endParaRPr lang="en-IN"/>
          </a:p>
        </p:txBody>
      </p:sp>
      <p:sp>
        <p:nvSpPr>
          <p:cNvPr id="51" name="Text 49"/>
          <p:cNvSpPr/>
          <p:nvPr/>
        </p:nvSpPr>
        <p:spPr>
          <a:xfrm>
            <a:off x="6400800" y="2523744"/>
            <a:ext cx="2487168" cy="219456"/>
          </a:xfrm>
          <a:prstGeom prst="rect">
            <a:avLst/>
          </a:prstGeom>
          <a:noFill/>
          <a:ln/>
        </p:spPr>
        <p:txBody>
          <a:bodyPr wrap="square" lIns="0" tIns="0" rIns="0" bIns="0" rtlCol="0" anchor="ctr"/>
          <a:lstStyle/>
          <a:p>
            <a:pPr marL="0" indent="0">
              <a:buNone/>
            </a:pPr>
            <a:r>
              <a:rPr lang="en-US" sz="1000" b="1" dirty="0">
                <a:solidFill>
                  <a:srgbClr val="16A34A"/>
                </a:solidFill>
                <a:latin typeface="Calibri" pitchFamily="34" charset="0"/>
                <a:ea typeface="Calibri" pitchFamily="34" charset="-122"/>
                <a:cs typeface="Calibri" pitchFamily="34" charset="-120"/>
              </a:rPr>
              <a:t>Risk badge</a:t>
            </a:r>
            <a:endParaRPr lang="en-US" sz="1000" dirty="0"/>
          </a:p>
        </p:txBody>
      </p:sp>
      <p:sp>
        <p:nvSpPr>
          <p:cNvPr id="52" name="Text 50"/>
          <p:cNvSpPr/>
          <p:nvPr/>
        </p:nvSpPr>
        <p:spPr>
          <a:xfrm>
            <a:off x="6400800" y="2743200"/>
            <a:ext cx="2487168" cy="256032"/>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Color-coded: GREEN = Low,  ORANGE = Medium,  RED = High</a:t>
            </a:r>
            <a:endParaRPr lang="en-US" sz="950" dirty="0"/>
          </a:p>
        </p:txBody>
      </p:sp>
      <p:sp>
        <p:nvSpPr>
          <p:cNvPr id="53" name="Shape 51"/>
          <p:cNvSpPr/>
          <p:nvPr/>
        </p:nvSpPr>
        <p:spPr>
          <a:xfrm>
            <a:off x="6327648" y="3145536"/>
            <a:ext cx="2633472" cy="566928"/>
          </a:xfrm>
          <a:prstGeom prst="rect">
            <a:avLst/>
          </a:prstGeom>
          <a:solidFill>
            <a:srgbClr val="FFFFFF"/>
          </a:solidFill>
          <a:ln w="12700">
            <a:solidFill>
              <a:srgbClr val="E2E8F0"/>
            </a:solidFill>
            <a:prstDash val="solid"/>
          </a:ln>
        </p:spPr>
        <p:txBody>
          <a:bodyPr/>
          <a:lstStyle/>
          <a:p>
            <a:endParaRPr lang="en-IN"/>
          </a:p>
        </p:txBody>
      </p:sp>
      <p:sp>
        <p:nvSpPr>
          <p:cNvPr id="54" name="Text 52"/>
          <p:cNvSpPr/>
          <p:nvPr/>
        </p:nvSpPr>
        <p:spPr>
          <a:xfrm>
            <a:off x="6400800" y="3182112"/>
            <a:ext cx="2487168" cy="219456"/>
          </a:xfrm>
          <a:prstGeom prst="rect">
            <a:avLst/>
          </a:prstGeom>
          <a:noFill/>
          <a:ln/>
        </p:spPr>
        <p:txBody>
          <a:bodyPr wrap="square" lIns="0" tIns="0" rIns="0" bIns="0" rtlCol="0" anchor="ctr"/>
          <a:lstStyle/>
          <a:p>
            <a:pPr marL="0" indent="0">
              <a:buNone/>
            </a:pPr>
            <a:r>
              <a:rPr lang="en-US" sz="1000" b="1" dirty="0">
                <a:solidFill>
                  <a:srgbClr val="16A34A"/>
                </a:solidFill>
                <a:latin typeface="Calibri" pitchFamily="34" charset="0"/>
                <a:ea typeface="Calibri" pitchFamily="34" charset="-122"/>
                <a:cs typeface="Calibri" pitchFamily="34" charset="-120"/>
              </a:rPr>
              <a:t>Risk label</a:t>
            </a:r>
            <a:endParaRPr lang="en-US" sz="1000" dirty="0"/>
          </a:p>
        </p:txBody>
      </p:sp>
      <p:sp>
        <p:nvSpPr>
          <p:cNvPr id="55" name="Text 53"/>
          <p:cNvSpPr/>
          <p:nvPr/>
        </p:nvSpPr>
        <p:spPr>
          <a:xfrm>
            <a:off x="6400800" y="3401568"/>
            <a:ext cx="2487168" cy="256032"/>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LOW RISK / MEDIUM RISK / HIGH RISK displayed clearly</a:t>
            </a:r>
            <a:endParaRPr lang="en-US" sz="950" dirty="0"/>
          </a:p>
        </p:txBody>
      </p:sp>
      <p:sp>
        <p:nvSpPr>
          <p:cNvPr id="56" name="Shape 54"/>
          <p:cNvSpPr/>
          <p:nvPr/>
        </p:nvSpPr>
        <p:spPr>
          <a:xfrm>
            <a:off x="6327648" y="3803904"/>
            <a:ext cx="2633472" cy="566928"/>
          </a:xfrm>
          <a:prstGeom prst="rect">
            <a:avLst/>
          </a:prstGeom>
          <a:solidFill>
            <a:srgbClr val="FFFFFF"/>
          </a:solidFill>
          <a:ln w="12700">
            <a:solidFill>
              <a:srgbClr val="E2E8F0"/>
            </a:solidFill>
            <a:prstDash val="solid"/>
          </a:ln>
        </p:spPr>
        <p:txBody>
          <a:bodyPr/>
          <a:lstStyle/>
          <a:p>
            <a:endParaRPr lang="en-IN"/>
          </a:p>
        </p:txBody>
      </p:sp>
      <p:sp>
        <p:nvSpPr>
          <p:cNvPr id="57" name="Text 55"/>
          <p:cNvSpPr/>
          <p:nvPr/>
        </p:nvSpPr>
        <p:spPr>
          <a:xfrm>
            <a:off x="6400800" y="3840480"/>
            <a:ext cx="2487168" cy="219456"/>
          </a:xfrm>
          <a:prstGeom prst="rect">
            <a:avLst/>
          </a:prstGeom>
          <a:noFill/>
          <a:ln/>
        </p:spPr>
        <p:txBody>
          <a:bodyPr wrap="square" lIns="0" tIns="0" rIns="0" bIns="0" rtlCol="0" anchor="ctr"/>
          <a:lstStyle/>
          <a:p>
            <a:pPr marL="0" indent="0">
              <a:buNone/>
            </a:pPr>
            <a:r>
              <a:rPr lang="en-US" sz="1000" b="1" dirty="0">
                <a:solidFill>
                  <a:srgbClr val="16A34A"/>
                </a:solidFill>
                <a:latin typeface="Calibri" pitchFamily="34" charset="0"/>
                <a:ea typeface="Calibri" pitchFamily="34" charset="-122"/>
                <a:cs typeface="Calibri" pitchFamily="34" charset="-120"/>
              </a:rPr>
              <a:t>Action message</a:t>
            </a:r>
            <a:endParaRPr lang="en-US" sz="1000" dirty="0"/>
          </a:p>
        </p:txBody>
      </p:sp>
      <p:sp>
        <p:nvSpPr>
          <p:cNvPr id="58" name="Text 56"/>
          <p:cNvSpPr/>
          <p:nvPr/>
        </p:nvSpPr>
        <p:spPr>
          <a:xfrm>
            <a:off x="6400800" y="4059936"/>
            <a:ext cx="2487168" cy="256032"/>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e.g. 'Immediate medical evaluation advised' based on tier</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9488"/>
          </a:solidFill>
          <a:ln w="12700">
            <a:solidFill>
              <a:srgbClr val="0D9488"/>
            </a:solidFill>
            <a:prstDash val="solid"/>
          </a:ln>
        </p:spPr>
        <p:txBody>
          <a:bodyPr/>
          <a:lstStyle/>
          <a:p>
            <a:endParaRPr lang="en-IN"/>
          </a:p>
        </p:txBody>
      </p:sp>
      <p:sp>
        <p:nvSpPr>
          <p:cNvPr id="3" name="Text 1"/>
          <p:cNvSpPr/>
          <p:nvPr/>
        </p:nvSpPr>
        <p:spPr>
          <a:xfrm>
            <a:off x="320040" y="0"/>
            <a:ext cx="850392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Frontend — Assessment Form Fields &amp; Results Display</a:t>
            </a:r>
            <a:endParaRPr lang="en-US" sz="2200" dirty="0"/>
          </a:p>
        </p:txBody>
      </p:sp>
      <p:sp>
        <p:nvSpPr>
          <p:cNvPr id="4" name="Shape 2"/>
          <p:cNvSpPr/>
          <p:nvPr/>
        </p:nvSpPr>
        <p:spPr>
          <a:xfrm>
            <a:off x="0" y="5184648"/>
            <a:ext cx="9144000" cy="73152"/>
          </a:xfrm>
          <a:prstGeom prst="rect">
            <a:avLst/>
          </a:prstGeom>
          <a:solidFill>
            <a:srgbClr val="CCFBF1"/>
          </a:solidFill>
          <a:ln w="12700">
            <a:solidFill>
              <a:srgbClr val="CCFBF1"/>
            </a:solidFill>
            <a:prstDash val="solid"/>
          </a:ln>
        </p:spPr>
        <p:txBody>
          <a:bodyPr/>
          <a:lstStyle/>
          <a:p>
            <a:endParaRPr lang="en-IN"/>
          </a:p>
        </p:txBody>
      </p:sp>
      <p:sp>
        <p:nvSpPr>
          <p:cNvPr id="5" name="Text 3"/>
          <p:cNvSpPr/>
          <p:nvPr/>
        </p:nvSpPr>
        <p:spPr>
          <a:xfrm>
            <a:off x="256032" y="768096"/>
            <a:ext cx="4389120" cy="292608"/>
          </a:xfrm>
          <a:prstGeom prst="rect">
            <a:avLst/>
          </a:prstGeom>
          <a:noFill/>
          <a:ln/>
        </p:spPr>
        <p:txBody>
          <a:bodyPr wrap="square" rtlCol="0" anchor="ctr"/>
          <a:lstStyle/>
          <a:p>
            <a:pPr marL="0" indent="0">
              <a:buNone/>
            </a:pPr>
            <a:r>
              <a:rPr lang="en-US" sz="1250" b="1" dirty="0">
                <a:solidFill>
                  <a:srgbClr val="0D9488"/>
                </a:solidFill>
                <a:latin typeface="Calibri" pitchFamily="34" charset="0"/>
                <a:ea typeface="Calibri" pitchFamily="34" charset="-122"/>
                <a:cs typeface="Calibri" pitchFamily="34" charset="-120"/>
              </a:rPr>
              <a:t>Assessment Form — All 13 Fields</a:t>
            </a:r>
            <a:endParaRPr lang="en-US" sz="1250" dirty="0"/>
          </a:p>
        </p:txBody>
      </p:sp>
      <p:sp>
        <p:nvSpPr>
          <p:cNvPr id="6" name="Shape 4"/>
          <p:cNvSpPr/>
          <p:nvPr/>
        </p:nvSpPr>
        <p:spPr>
          <a:xfrm>
            <a:off x="256032" y="1133856"/>
            <a:ext cx="2084832" cy="475488"/>
          </a:xfrm>
          <a:prstGeom prst="rect">
            <a:avLst/>
          </a:prstGeom>
          <a:solidFill>
            <a:srgbClr val="FFFFFF"/>
          </a:solidFill>
          <a:ln w="12700">
            <a:solidFill>
              <a:srgbClr val="E2E8F0"/>
            </a:solidFill>
            <a:prstDash val="solid"/>
          </a:ln>
        </p:spPr>
        <p:txBody>
          <a:bodyPr/>
          <a:lstStyle/>
          <a:p>
            <a:endParaRPr lang="en-IN"/>
          </a:p>
        </p:txBody>
      </p:sp>
      <p:sp>
        <p:nvSpPr>
          <p:cNvPr id="7" name="Text 5"/>
          <p:cNvSpPr/>
          <p:nvPr/>
        </p:nvSpPr>
        <p:spPr>
          <a:xfrm>
            <a:off x="329184" y="1170432"/>
            <a:ext cx="1938528" cy="201168"/>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Full Name</a:t>
            </a:r>
            <a:endParaRPr lang="en-US" sz="950" dirty="0"/>
          </a:p>
        </p:txBody>
      </p:sp>
      <p:sp>
        <p:nvSpPr>
          <p:cNvPr id="8" name="Shape 6"/>
          <p:cNvSpPr/>
          <p:nvPr/>
        </p:nvSpPr>
        <p:spPr>
          <a:xfrm>
            <a:off x="329184" y="1389888"/>
            <a:ext cx="566928" cy="164592"/>
          </a:xfrm>
          <a:prstGeom prst="rect">
            <a:avLst/>
          </a:prstGeom>
          <a:solidFill>
            <a:srgbClr val="DBEAFE"/>
          </a:solidFill>
          <a:ln w="6350">
            <a:solidFill>
              <a:srgbClr val="94A3B8"/>
            </a:solidFill>
            <a:prstDash val="solid"/>
          </a:ln>
        </p:spPr>
        <p:txBody>
          <a:bodyPr/>
          <a:lstStyle/>
          <a:p>
            <a:endParaRPr lang="en-IN"/>
          </a:p>
        </p:txBody>
      </p:sp>
      <p:sp>
        <p:nvSpPr>
          <p:cNvPr id="9" name="Text 7"/>
          <p:cNvSpPr/>
          <p:nvPr/>
        </p:nvSpPr>
        <p:spPr>
          <a:xfrm>
            <a:off x="329184" y="1389888"/>
            <a:ext cx="566928" cy="164592"/>
          </a:xfrm>
          <a:prstGeom prst="rect">
            <a:avLst/>
          </a:prstGeom>
          <a:noFill/>
          <a:ln/>
        </p:spPr>
        <p:txBody>
          <a:bodyPr wrap="square" lIns="0" tIns="0" rIns="0" bIns="0" rtlCol="0" anchor="ctr"/>
          <a:lstStyle/>
          <a:p>
            <a:pPr marL="0" indent="0" algn="ctr">
              <a:buNone/>
            </a:pPr>
            <a:r>
              <a:rPr lang="en-US" sz="750" dirty="0">
                <a:solidFill>
                  <a:srgbClr val="94A3B8"/>
                </a:solidFill>
                <a:latin typeface="Calibri" pitchFamily="34" charset="0"/>
                <a:ea typeface="Calibri" pitchFamily="34" charset="-122"/>
                <a:cs typeface="Calibri" pitchFamily="34" charset="-120"/>
              </a:rPr>
              <a:t>text</a:t>
            </a:r>
            <a:endParaRPr lang="en-US" sz="750" dirty="0"/>
          </a:p>
        </p:txBody>
      </p:sp>
      <p:sp>
        <p:nvSpPr>
          <p:cNvPr id="10" name="Shape 8"/>
          <p:cNvSpPr/>
          <p:nvPr/>
        </p:nvSpPr>
        <p:spPr>
          <a:xfrm>
            <a:off x="256032" y="1682496"/>
            <a:ext cx="2084832" cy="475488"/>
          </a:xfrm>
          <a:prstGeom prst="rect">
            <a:avLst/>
          </a:prstGeom>
          <a:solidFill>
            <a:srgbClr val="FFFFFF"/>
          </a:solidFill>
          <a:ln w="12700">
            <a:solidFill>
              <a:srgbClr val="E2E8F0"/>
            </a:solidFill>
            <a:prstDash val="solid"/>
          </a:ln>
        </p:spPr>
        <p:txBody>
          <a:bodyPr/>
          <a:lstStyle/>
          <a:p>
            <a:endParaRPr lang="en-IN"/>
          </a:p>
        </p:txBody>
      </p:sp>
      <p:sp>
        <p:nvSpPr>
          <p:cNvPr id="11" name="Text 9"/>
          <p:cNvSpPr/>
          <p:nvPr/>
        </p:nvSpPr>
        <p:spPr>
          <a:xfrm>
            <a:off x="329184" y="1719072"/>
            <a:ext cx="1938528" cy="201168"/>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Age</a:t>
            </a:r>
            <a:endParaRPr lang="en-US" sz="950" dirty="0"/>
          </a:p>
        </p:txBody>
      </p:sp>
      <p:sp>
        <p:nvSpPr>
          <p:cNvPr id="12" name="Shape 10"/>
          <p:cNvSpPr/>
          <p:nvPr/>
        </p:nvSpPr>
        <p:spPr>
          <a:xfrm>
            <a:off x="329184" y="1938528"/>
            <a:ext cx="566928" cy="164592"/>
          </a:xfrm>
          <a:prstGeom prst="rect">
            <a:avLst/>
          </a:prstGeom>
          <a:solidFill>
            <a:srgbClr val="DBEAFE"/>
          </a:solidFill>
          <a:ln w="6350">
            <a:solidFill>
              <a:srgbClr val="2563EB"/>
            </a:solidFill>
            <a:prstDash val="solid"/>
          </a:ln>
        </p:spPr>
        <p:txBody>
          <a:bodyPr/>
          <a:lstStyle/>
          <a:p>
            <a:endParaRPr lang="en-IN"/>
          </a:p>
        </p:txBody>
      </p:sp>
      <p:sp>
        <p:nvSpPr>
          <p:cNvPr id="13" name="Text 11"/>
          <p:cNvSpPr/>
          <p:nvPr/>
        </p:nvSpPr>
        <p:spPr>
          <a:xfrm>
            <a:off x="329184" y="1938528"/>
            <a:ext cx="566928" cy="164592"/>
          </a:xfrm>
          <a:prstGeom prst="rect">
            <a:avLst/>
          </a:prstGeom>
          <a:noFill/>
          <a:ln/>
        </p:spPr>
        <p:txBody>
          <a:bodyPr wrap="square" lIns="0" tIns="0" rIns="0" bIns="0" rtlCol="0" anchor="ctr"/>
          <a:lstStyle/>
          <a:p>
            <a:pPr marL="0" indent="0" algn="ctr">
              <a:buNone/>
            </a:pPr>
            <a:r>
              <a:rPr lang="en-US" sz="750" dirty="0">
                <a:solidFill>
                  <a:srgbClr val="2563EB"/>
                </a:solidFill>
                <a:latin typeface="Calibri" pitchFamily="34" charset="0"/>
                <a:ea typeface="Calibri" pitchFamily="34" charset="-122"/>
                <a:cs typeface="Calibri" pitchFamily="34" charset="-120"/>
              </a:rPr>
              <a:t>number</a:t>
            </a:r>
            <a:endParaRPr lang="en-US" sz="750" dirty="0"/>
          </a:p>
        </p:txBody>
      </p:sp>
      <p:sp>
        <p:nvSpPr>
          <p:cNvPr id="14" name="Shape 12"/>
          <p:cNvSpPr/>
          <p:nvPr/>
        </p:nvSpPr>
        <p:spPr>
          <a:xfrm>
            <a:off x="256032" y="2231136"/>
            <a:ext cx="2084832" cy="475488"/>
          </a:xfrm>
          <a:prstGeom prst="rect">
            <a:avLst/>
          </a:prstGeom>
          <a:solidFill>
            <a:srgbClr val="FFFFFF"/>
          </a:solidFill>
          <a:ln w="12700">
            <a:solidFill>
              <a:srgbClr val="E2E8F0"/>
            </a:solidFill>
            <a:prstDash val="solid"/>
          </a:ln>
        </p:spPr>
        <p:txBody>
          <a:bodyPr/>
          <a:lstStyle/>
          <a:p>
            <a:endParaRPr lang="en-IN"/>
          </a:p>
        </p:txBody>
      </p:sp>
      <p:sp>
        <p:nvSpPr>
          <p:cNvPr id="15" name="Text 13"/>
          <p:cNvSpPr/>
          <p:nvPr/>
        </p:nvSpPr>
        <p:spPr>
          <a:xfrm>
            <a:off x="329184" y="2267712"/>
            <a:ext cx="1938528" cy="201168"/>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Sex</a:t>
            </a:r>
            <a:endParaRPr lang="en-US" sz="950" dirty="0"/>
          </a:p>
        </p:txBody>
      </p:sp>
      <p:sp>
        <p:nvSpPr>
          <p:cNvPr id="16" name="Shape 14"/>
          <p:cNvSpPr/>
          <p:nvPr/>
        </p:nvSpPr>
        <p:spPr>
          <a:xfrm>
            <a:off x="329184" y="2487168"/>
            <a:ext cx="566928" cy="164592"/>
          </a:xfrm>
          <a:prstGeom prst="rect">
            <a:avLst/>
          </a:prstGeom>
          <a:solidFill>
            <a:srgbClr val="CCFBF1"/>
          </a:solidFill>
          <a:ln w="6350">
            <a:solidFill>
              <a:srgbClr val="0D9488"/>
            </a:solidFill>
            <a:prstDash val="solid"/>
          </a:ln>
        </p:spPr>
        <p:txBody>
          <a:bodyPr/>
          <a:lstStyle/>
          <a:p>
            <a:endParaRPr lang="en-IN"/>
          </a:p>
        </p:txBody>
      </p:sp>
      <p:sp>
        <p:nvSpPr>
          <p:cNvPr id="17" name="Text 15"/>
          <p:cNvSpPr/>
          <p:nvPr/>
        </p:nvSpPr>
        <p:spPr>
          <a:xfrm>
            <a:off x="329184" y="2487168"/>
            <a:ext cx="566928" cy="164592"/>
          </a:xfrm>
          <a:prstGeom prst="rect">
            <a:avLst/>
          </a:prstGeom>
          <a:noFill/>
          <a:ln/>
        </p:spPr>
        <p:txBody>
          <a:bodyPr wrap="square" lIns="0" tIns="0" rIns="0" bIns="0" rtlCol="0" anchor="ctr"/>
          <a:lstStyle/>
          <a:p>
            <a:pPr marL="0" indent="0" algn="ctr">
              <a:buNone/>
            </a:pPr>
            <a:r>
              <a:rPr lang="en-US" sz="750" dirty="0">
                <a:solidFill>
                  <a:srgbClr val="0D9488"/>
                </a:solidFill>
                <a:latin typeface="Calibri" pitchFamily="34" charset="0"/>
                <a:ea typeface="Calibri" pitchFamily="34" charset="-122"/>
                <a:cs typeface="Calibri" pitchFamily="34" charset="-120"/>
              </a:rPr>
              <a:t>dropdown</a:t>
            </a:r>
            <a:endParaRPr lang="en-US" sz="750" dirty="0"/>
          </a:p>
        </p:txBody>
      </p:sp>
      <p:sp>
        <p:nvSpPr>
          <p:cNvPr id="18" name="Text 16"/>
          <p:cNvSpPr/>
          <p:nvPr/>
        </p:nvSpPr>
        <p:spPr>
          <a:xfrm>
            <a:off x="950976" y="2487168"/>
            <a:ext cx="1316736" cy="164592"/>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ea typeface="Calibri" pitchFamily="34" charset="-122"/>
                <a:cs typeface="Calibri" pitchFamily="34" charset="-120"/>
              </a:rPr>
              <a:t>Male / Female</a:t>
            </a:r>
            <a:endParaRPr lang="en-US" sz="850" dirty="0"/>
          </a:p>
        </p:txBody>
      </p:sp>
      <p:sp>
        <p:nvSpPr>
          <p:cNvPr id="19" name="Shape 17"/>
          <p:cNvSpPr/>
          <p:nvPr/>
        </p:nvSpPr>
        <p:spPr>
          <a:xfrm>
            <a:off x="256032" y="2779776"/>
            <a:ext cx="2084832" cy="475488"/>
          </a:xfrm>
          <a:prstGeom prst="rect">
            <a:avLst/>
          </a:prstGeom>
          <a:solidFill>
            <a:srgbClr val="FFFFFF"/>
          </a:solidFill>
          <a:ln w="12700">
            <a:solidFill>
              <a:srgbClr val="E2E8F0"/>
            </a:solidFill>
            <a:prstDash val="solid"/>
          </a:ln>
        </p:spPr>
        <p:txBody>
          <a:bodyPr/>
          <a:lstStyle/>
          <a:p>
            <a:endParaRPr lang="en-IN"/>
          </a:p>
        </p:txBody>
      </p:sp>
      <p:sp>
        <p:nvSpPr>
          <p:cNvPr id="20" name="Text 18"/>
          <p:cNvSpPr/>
          <p:nvPr/>
        </p:nvSpPr>
        <p:spPr>
          <a:xfrm>
            <a:off x="329184" y="2816352"/>
            <a:ext cx="1938528" cy="201168"/>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Chest Pain Type</a:t>
            </a:r>
            <a:endParaRPr lang="en-US" sz="950" dirty="0"/>
          </a:p>
        </p:txBody>
      </p:sp>
      <p:sp>
        <p:nvSpPr>
          <p:cNvPr id="21" name="Shape 19"/>
          <p:cNvSpPr/>
          <p:nvPr/>
        </p:nvSpPr>
        <p:spPr>
          <a:xfrm>
            <a:off x="329184" y="3035808"/>
            <a:ext cx="566928" cy="164592"/>
          </a:xfrm>
          <a:prstGeom prst="rect">
            <a:avLst/>
          </a:prstGeom>
          <a:solidFill>
            <a:srgbClr val="CCFBF1"/>
          </a:solidFill>
          <a:ln w="6350">
            <a:solidFill>
              <a:srgbClr val="0D9488"/>
            </a:solidFill>
            <a:prstDash val="solid"/>
          </a:ln>
        </p:spPr>
        <p:txBody>
          <a:bodyPr/>
          <a:lstStyle/>
          <a:p>
            <a:endParaRPr lang="en-IN"/>
          </a:p>
        </p:txBody>
      </p:sp>
      <p:sp>
        <p:nvSpPr>
          <p:cNvPr id="22" name="Text 20"/>
          <p:cNvSpPr/>
          <p:nvPr/>
        </p:nvSpPr>
        <p:spPr>
          <a:xfrm>
            <a:off x="329184" y="3035808"/>
            <a:ext cx="566928" cy="164592"/>
          </a:xfrm>
          <a:prstGeom prst="rect">
            <a:avLst/>
          </a:prstGeom>
          <a:noFill/>
          <a:ln/>
        </p:spPr>
        <p:txBody>
          <a:bodyPr wrap="square" lIns="0" tIns="0" rIns="0" bIns="0" rtlCol="0" anchor="ctr"/>
          <a:lstStyle/>
          <a:p>
            <a:pPr marL="0" indent="0" algn="ctr">
              <a:buNone/>
            </a:pPr>
            <a:r>
              <a:rPr lang="en-US" sz="750" dirty="0">
                <a:solidFill>
                  <a:srgbClr val="0D9488"/>
                </a:solidFill>
                <a:latin typeface="Calibri" pitchFamily="34" charset="0"/>
                <a:ea typeface="Calibri" pitchFamily="34" charset="-122"/>
                <a:cs typeface="Calibri" pitchFamily="34" charset="-120"/>
              </a:rPr>
              <a:t>dropdown</a:t>
            </a:r>
            <a:endParaRPr lang="en-US" sz="750" dirty="0"/>
          </a:p>
        </p:txBody>
      </p:sp>
      <p:sp>
        <p:nvSpPr>
          <p:cNvPr id="23" name="Text 21"/>
          <p:cNvSpPr/>
          <p:nvPr/>
        </p:nvSpPr>
        <p:spPr>
          <a:xfrm>
            <a:off x="950976" y="3035808"/>
            <a:ext cx="1316736" cy="164592"/>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ea typeface="Calibri" pitchFamily="34" charset="-122"/>
                <a:cs typeface="Calibri" pitchFamily="34" charset="-120"/>
              </a:rPr>
              <a:t>Typical / Atypical / Non-Anginal / Asymptomatic</a:t>
            </a:r>
            <a:endParaRPr lang="en-US" sz="850" dirty="0"/>
          </a:p>
        </p:txBody>
      </p:sp>
      <p:sp>
        <p:nvSpPr>
          <p:cNvPr id="24" name="Shape 22"/>
          <p:cNvSpPr/>
          <p:nvPr/>
        </p:nvSpPr>
        <p:spPr>
          <a:xfrm>
            <a:off x="256032" y="3328416"/>
            <a:ext cx="2084832" cy="475488"/>
          </a:xfrm>
          <a:prstGeom prst="rect">
            <a:avLst/>
          </a:prstGeom>
          <a:solidFill>
            <a:srgbClr val="FFFFFF"/>
          </a:solidFill>
          <a:ln w="12700">
            <a:solidFill>
              <a:srgbClr val="E2E8F0"/>
            </a:solidFill>
            <a:prstDash val="solid"/>
          </a:ln>
        </p:spPr>
        <p:txBody>
          <a:bodyPr/>
          <a:lstStyle/>
          <a:p>
            <a:endParaRPr lang="en-IN"/>
          </a:p>
        </p:txBody>
      </p:sp>
      <p:sp>
        <p:nvSpPr>
          <p:cNvPr id="25" name="Text 23"/>
          <p:cNvSpPr/>
          <p:nvPr/>
        </p:nvSpPr>
        <p:spPr>
          <a:xfrm>
            <a:off x="329184" y="3364992"/>
            <a:ext cx="1938528" cy="201168"/>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Resting Blood Pressure</a:t>
            </a:r>
            <a:endParaRPr lang="en-US" sz="950" dirty="0"/>
          </a:p>
        </p:txBody>
      </p:sp>
      <p:sp>
        <p:nvSpPr>
          <p:cNvPr id="26" name="Shape 24"/>
          <p:cNvSpPr/>
          <p:nvPr/>
        </p:nvSpPr>
        <p:spPr>
          <a:xfrm>
            <a:off x="329184" y="3584448"/>
            <a:ext cx="566928" cy="164592"/>
          </a:xfrm>
          <a:prstGeom prst="rect">
            <a:avLst/>
          </a:prstGeom>
          <a:solidFill>
            <a:srgbClr val="DBEAFE"/>
          </a:solidFill>
          <a:ln w="6350">
            <a:solidFill>
              <a:srgbClr val="2563EB"/>
            </a:solidFill>
            <a:prstDash val="solid"/>
          </a:ln>
        </p:spPr>
        <p:txBody>
          <a:bodyPr/>
          <a:lstStyle/>
          <a:p>
            <a:endParaRPr lang="en-IN"/>
          </a:p>
        </p:txBody>
      </p:sp>
      <p:sp>
        <p:nvSpPr>
          <p:cNvPr id="27" name="Text 25"/>
          <p:cNvSpPr/>
          <p:nvPr/>
        </p:nvSpPr>
        <p:spPr>
          <a:xfrm>
            <a:off x="329184" y="3584448"/>
            <a:ext cx="566928" cy="164592"/>
          </a:xfrm>
          <a:prstGeom prst="rect">
            <a:avLst/>
          </a:prstGeom>
          <a:noFill/>
          <a:ln/>
        </p:spPr>
        <p:txBody>
          <a:bodyPr wrap="square" lIns="0" tIns="0" rIns="0" bIns="0" rtlCol="0" anchor="ctr"/>
          <a:lstStyle/>
          <a:p>
            <a:pPr marL="0" indent="0" algn="ctr">
              <a:buNone/>
            </a:pPr>
            <a:r>
              <a:rPr lang="en-US" sz="750" dirty="0">
                <a:solidFill>
                  <a:srgbClr val="2563EB"/>
                </a:solidFill>
                <a:latin typeface="Calibri" pitchFamily="34" charset="0"/>
                <a:ea typeface="Calibri" pitchFamily="34" charset="-122"/>
                <a:cs typeface="Calibri" pitchFamily="34" charset="-120"/>
              </a:rPr>
              <a:t>number</a:t>
            </a:r>
            <a:endParaRPr lang="en-US" sz="750" dirty="0"/>
          </a:p>
        </p:txBody>
      </p:sp>
      <p:sp>
        <p:nvSpPr>
          <p:cNvPr id="28" name="Text 26"/>
          <p:cNvSpPr/>
          <p:nvPr/>
        </p:nvSpPr>
        <p:spPr>
          <a:xfrm>
            <a:off x="950976" y="3584448"/>
            <a:ext cx="1316736" cy="164592"/>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ea typeface="Calibri" pitchFamily="34" charset="-122"/>
                <a:cs typeface="Calibri" pitchFamily="34" charset="-120"/>
              </a:rPr>
              <a:t>mmHg</a:t>
            </a:r>
            <a:endParaRPr lang="en-US" sz="850" dirty="0"/>
          </a:p>
        </p:txBody>
      </p:sp>
      <p:sp>
        <p:nvSpPr>
          <p:cNvPr id="29" name="Shape 27"/>
          <p:cNvSpPr/>
          <p:nvPr/>
        </p:nvSpPr>
        <p:spPr>
          <a:xfrm>
            <a:off x="256032" y="3877056"/>
            <a:ext cx="2084832" cy="475488"/>
          </a:xfrm>
          <a:prstGeom prst="rect">
            <a:avLst/>
          </a:prstGeom>
          <a:solidFill>
            <a:srgbClr val="FFFFFF"/>
          </a:solidFill>
          <a:ln w="12700">
            <a:solidFill>
              <a:srgbClr val="E2E8F0"/>
            </a:solidFill>
            <a:prstDash val="solid"/>
          </a:ln>
        </p:spPr>
        <p:txBody>
          <a:bodyPr/>
          <a:lstStyle/>
          <a:p>
            <a:endParaRPr lang="en-IN"/>
          </a:p>
        </p:txBody>
      </p:sp>
      <p:sp>
        <p:nvSpPr>
          <p:cNvPr id="30" name="Text 28"/>
          <p:cNvSpPr/>
          <p:nvPr/>
        </p:nvSpPr>
        <p:spPr>
          <a:xfrm>
            <a:off x="329184" y="3913632"/>
            <a:ext cx="1938528" cy="201168"/>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Cholesterol Level</a:t>
            </a:r>
            <a:endParaRPr lang="en-US" sz="950" dirty="0"/>
          </a:p>
        </p:txBody>
      </p:sp>
      <p:sp>
        <p:nvSpPr>
          <p:cNvPr id="31" name="Shape 29"/>
          <p:cNvSpPr/>
          <p:nvPr/>
        </p:nvSpPr>
        <p:spPr>
          <a:xfrm>
            <a:off x="329184" y="4133088"/>
            <a:ext cx="566928" cy="164592"/>
          </a:xfrm>
          <a:prstGeom prst="rect">
            <a:avLst/>
          </a:prstGeom>
          <a:solidFill>
            <a:srgbClr val="DBEAFE"/>
          </a:solidFill>
          <a:ln w="6350">
            <a:solidFill>
              <a:srgbClr val="2563EB"/>
            </a:solidFill>
            <a:prstDash val="solid"/>
          </a:ln>
        </p:spPr>
        <p:txBody>
          <a:bodyPr/>
          <a:lstStyle/>
          <a:p>
            <a:endParaRPr lang="en-IN"/>
          </a:p>
        </p:txBody>
      </p:sp>
      <p:sp>
        <p:nvSpPr>
          <p:cNvPr id="32" name="Text 30"/>
          <p:cNvSpPr/>
          <p:nvPr/>
        </p:nvSpPr>
        <p:spPr>
          <a:xfrm>
            <a:off x="329184" y="4133088"/>
            <a:ext cx="566928" cy="164592"/>
          </a:xfrm>
          <a:prstGeom prst="rect">
            <a:avLst/>
          </a:prstGeom>
          <a:noFill/>
          <a:ln/>
        </p:spPr>
        <p:txBody>
          <a:bodyPr wrap="square" lIns="0" tIns="0" rIns="0" bIns="0" rtlCol="0" anchor="ctr"/>
          <a:lstStyle/>
          <a:p>
            <a:pPr marL="0" indent="0" algn="ctr">
              <a:buNone/>
            </a:pPr>
            <a:r>
              <a:rPr lang="en-US" sz="750" dirty="0">
                <a:solidFill>
                  <a:srgbClr val="2563EB"/>
                </a:solidFill>
                <a:latin typeface="Calibri" pitchFamily="34" charset="0"/>
                <a:ea typeface="Calibri" pitchFamily="34" charset="-122"/>
                <a:cs typeface="Calibri" pitchFamily="34" charset="-120"/>
              </a:rPr>
              <a:t>number</a:t>
            </a:r>
            <a:endParaRPr lang="en-US" sz="750" dirty="0"/>
          </a:p>
        </p:txBody>
      </p:sp>
      <p:sp>
        <p:nvSpPr>
          <p:cNvPr id="33" name="Text 31"/>
          <p:cNvSpPr/>
          <p:nvPr/>
        </p:nvSpPr>
        <p:spPr>
          <a:xfrm>
            <a:off x="950976" y="4133088"/>
            <a:ext cx="1316736" cy="164592"/>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ea typeface="Calibri" pitchFamily="34" charset="-122"/>
                <a:cs typeface="Calibri" pitchFamily="34" charset="-120"/>
              </a:rPr>
              <a:t>mg/dL</a:t>
            </a:r>
            <a:endParaRPr lang="en-US" sz="850" dirty="0"/>
          </a:p>
        </p:txBody>
      </p:sp>
      <p:sp>
        <p:nvSpPr>
          <p:cNvPr id="34" name="Shape 32"/>
          <p:cNvSpPr/>
          <p:nvPr/>
        </p:nvSpPr>
        <p:spPr>
          <a:xfrm>
            <a:off x="256032" y="4425696"/>
            <a:ext cx="2084832" cy="475488"/>
          </a:xfrm>
          <a:prstGeom prst="rect">
            <a:avLst/>
          </a:prstGeom>
          <a:solidFill>
            <a:srgbClr val="FFFFFF"/>
          </a:solidFill>
          <a:ln w="12700">
            <a:solidFill>
              <a:srgbClr val="E2E8F0"/>
            </a:solidFill>
            <a:prstDash val="solid"/>
          </a:ln>
        </p:spPr>
        <p:txBody>
          <a:bodyPr/>
          <a:lstStyle/>
          <a:p>
            <a:endParaRPr lang="en-IN"/>
          </a:p>
        </p:txBody>
      </p:sp>
      <p:sp>
        <p:nvSpPr>
          <p:cNvPr id="35" name="Text 33"/>
          <p:cNvSpPr/>
          <p:nvPr/>
        </p:nvSpPr>
        <p:spPr>
          <a:xfrm>
            <a:off x="329184" y="4462272"/>
            <a:ext cx="1938528" cy="201168"/>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Fasting Blood Sugar &gt; 120?</a:t>
            </a:r>
            <a:endParaRPr lang="en-US" sz="950" dirty="0"/>
          </a:p>
        </p:txBody>
      </p:sp>
      <p:sp>
        <p:nvSpPr>
          <p:cNvPr id="36" name="Shape 34"/>
          <p:cNvSpPr/>
          <p:nvPr/>
        </p:nvSpPr>
        <p:spPr>
          <a:xfrm>
            <a:off x="329184" y="4681728"/>
            <a:ext cx="566928" cy="164592"/>
          </a:xfrm>
          <a:prstGeom prst="rect">
            <a:avLst/>
          </a:prstGeom>
          <a:solidFill>
            <a:srgbClr val="CCFBF1"/>
          </a:solidFill>
          <a:ln w="6350">
            <a:solidFill>
              <a:srgbClr val="0D9488"/>
            </a:solidFill>
            <a:prstDash val="solid"/>
          </a:ln>
        </p:spPr>
        <p:txBody>
          <a:bodyPr/>
          <a:lstStyle/>
          <a:p>
            <a:endParaRPr lang="en-IN"/>
          </a:p>
        </p:txBody>
      </p:sp>
      <p:sp>
        <p:nvSpPr>
          <p:cNvPr id="37" name="Text 35"/>
          <p:cNvSpPr/>
          <p:nvPr/>
        </p:nvSpPr>
        <p:spPr>
          <a:xfrm>
            <a:off x="329184" y="4681728"/>
            <a:ext cx="566928" cy="164592"/>
          </a:xfrm>
          <a:prstGeom prst="rect">
            <a:avLst/>
          </a:prstGeom>
          <a:noFill/>
          <a:ln/>
        </p:spPr>
        <p:txBody>
          <a:bodyPr wrap="square" lIns="0" tIns="0" rIns="0" bIns="0" rtlCol="0" anchor="ctr"/>
          <a:lstStyle/>
          <a:p>
            <a:pPr marL="0" indent="0" algn="ctr">
              <a:buNone/>
            </a:pPr>
            <a:r>
              <a:rPr lang="en-US" sz="750" dirty="0">
                <a:solidFill>
                  <a:srgbClr val="0D9488"/>
                </a:solidFill>
                <a:latin typeface="Calibri" pitchFamily="34" charset="0"/>
                <a:ea typeface="Calibri" pitchFamily="34" charset="-122"/>
                <a:cs typeface="Calibri" pitchFamily="34" charset="-120"/>
              </a:rPr>
              <a:t>dropdown</a:t>
            </a:r>
            <a:endParaRPr lang="en-US" sz="750" dirty="0"/>
          </a:p>
        </p:txBody>
      </p:sp>
      <p:sp>
        <p:nvSpPr>
          <p:cNvPr id="38" name="Text 36"/>
          <p:cNvSpPr/>
          <p:nvPr/>
        </p:nvSpPr>
        <p:spPr>
          <a:xfrm>
            <a:off x="950976" y="4681728"/>
            <a:ext cx="1316736" cy="164592"/>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ea typeface="Calibri" pitchFamily="34" charset="-122"/>
                <a:cs typeface="Calibri" pitchFamily="34" charset="-120"/>
              </a:rPr>
              <a:t>No / Yes</a:t>
            </a:r>
            <a:endParaRPr lang="en-US" sz="850" dirty="0"/>
          </a:p>
        </p:txBody>
      </p:sp>
      <p:sp>
        <p:nvSpPr>
          <p:cNvPr id="39" name="Shape 37"/>
          <p:cNvSpPr/>
          <p:nvPr/>
        </p:nvSpPr>
        <p:spPr>
          <a:xfrm>
            <a:off x="2468880" y="1133856"/>
            <a:ext cx="2084832" cy="475488"/>
          </a:xfrm>
          <a:prstGeom prst="rect">
            <a:avLst/>
          </a:prstGeom>
          <a:solidFill>
            <a:srgbClr val="FFFFFF"/>
          </a:solidFill>
          <a:ln w="12700">
            <a:solidFill>
              <a:srgbClr val="E2E8F0"/>
            </a:solidFill>
            <a:prstDash val="solid"/>
          </a:ln>
        </p:spPr>
        <p:txBody>
          <a:bodyPr/>
          <a:lstStyle/>
          <a:p>
            <a:endParaRPr lang="en-IN"/>
          </a:p>
        </p:txBody>
      </p:sp>
      <p:sp>
        <p:nvSpPr>
          <p:cNvPr id="40" name="Text 38"/>
          <p:cNvSpPr/>
          <p:nvPr/>
        </p:nvSpPr>
        <p:spPr>
          <a:xfrm>
            <a:off x="2542032" y="1170432"/>
            <a:ext cx="1938528" cy="201168"/>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Resting ECG Result</a:t>
            </a:r>
            <a:endParaRPr lang="en-US" sz="950" dirty="0"/>
          </a:p>
        </p:txBody>
      </p:sp>
      <p:sp>
        <p:nvSpPr>
          <p:cNvPr id="41" name="Shape 39"/>
          <p:cNvSpPr/>
          <p:nvPr/>
        </p:nvSpPr>
        <p:spPr>
          <a:xfrm>
            <a:off x="2542032" y="1389888"/>
            <a:ext cx="566928" cy="164592"/>
          </a:xfrm>
          <a:prstGeom prst="rect">
            <a:avLst/>
          </a:prstGeom>
          <a:solidFill>
            <a:srgbClr val="CCFBF1"/>
          </a:solidFill>
          <a:ln w="6350">
            <a:solidFill>
              <a:srgbClr val="0D9488"/>
            </a:solidFill>
            <a:prstDash val="solid"/>
          </a:ln>
        </p:spPr>
        <p:txBody>
          <a:bodyPr/>
          <a:lstStyle/>
          <a:p>
            <a:endParaRPr lang="en-IN"/>
          </a:p>
        </p:txBody>
      </p:sp>
      <p:sp>
        <p:nvSpPr>
          <p:cNvPr id="42" name="Text 40"/>
          <p:cNvSpPr/>
          <p:nvPr/>
        </p:nvSpPr>
        <p:spPr>
          <a:xfrm>
            <a:off x="2542032" y="1389888"/>
            <a:ext cx="566928" cy="164592"/>
          </a:xfrm>
          <a:prstGeom prst="rect">
            <a:avLst/>
          </a:prstGeom>
          <a:noFill/>
          <a:ln/>
        </p:spPr>
        <p:txBody>
          <a:bodyPr wrap="square" lIns="0" tIns="0" rIns="0" bIns="0" rtlCol="0" anchor="ctr"/>
          <a:lstStyle/>
          <a:p>
            <a:pPr marL="0" indent="0" algn="ctr">
              <a:buNone/>
            </a:pPr>
            <a:r>
              <a:rPr lang="en-US" sz="750" dirty="0">
                <a:solidFill>
                  <a:srgbClr val="0D9488"/>
                </a:solidFill>
                <a:latin typeface="Calibri" pitchFamily="34" charset="0"/>
                <a:ea typeface="Calibri" pitchFamily="34" charset="-122"/>
                <a:cs typeface="Calibri" pitchFamily="34" charset="-120"/>
              </a:rPr>
              <a:t>dropdown</a:t>
            </a:r>
            <a:endParaRPr lang="en-US" sz="750" dirty="0"/>
          </a:p>
        </p:txBody>
      </p:sp>
      <p:sp>
        <p:nvSpPr>
          <p:cNvPr id="43" name="Text 41"/>
          <p:cNvSpPr/>
          <p:nvPr/>
        </p:nvSpPr>
        <p:spPr>
          <a:xfrm>
            <a:off x="3163824" y="1389888"/>
            <a:ext cx="1316736" cy="164592"/>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ea typeface="Calibri" pitchFamily="34" charset="-122"/>
                <a:cs typeface="Calibri" pitchFamily="34" charset="-120"/>
              </a:rPr>
              <a:t>Normal / ST-T Abnormality / LV Hypertrophy</a:t>
            </a:r>
            <a:endParaRPr lang="en-US" sz="850" dirty="0"/>
          </a:p>
        </p:txBody>
      </p:sp>
      <p:sp>
        <p:nvSpPr>
          <p:cNvPr id="44" name="Shape 42"/>
          <p:cNvSpPr/>
          <p:nvPr/>
        </p:nvSpPr>
        <p:spPr>
          <a:xfrm>
            <a:off x="2468880" y="1682496"/>
            <a:ext cx="2084832" cy="475488"/>
          </a:xfrm>
          <a:prstGeom prst="rect">
            <a:avLst/>
          </a:prstGeom>
          <a:solidFill>
            <a:srgbClr val="FFFFFF"/>
          </a:solidFill>
          <a:ln w="12700">
            <a:solidFill>
              <a:srgbClr val="E2E8F0"/>
            </a:solidFill>
            <a:prstDash val="solid"/>
          </a:ln>
        </p:spPr>
        <p:txBody>
          <a:bodyPr/>
          <a:lstStyle/>
          <a:p>
            <a:endParaRPr lang="en-IN"/>
          </a:p>
        </p:txBody>
      </p:sp>
      <p:sp>
        <p:nvSpPr>
          <p:cNvPr id="45" name="Text 43"/>
          <p:cNvSpPr/>
          <p:nvPr/>
        </p:nvSpPr>
        <p:spPr>
          <a:xfrm>
            <a:off x="2542032" y="1719072"/>
            <a:ext cx="1938528" cy="201168"/>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Max Heart Rate</a:t>
            </a:r>
            <a:endParaRPr lang="en-US" sz="950" dirty="0"/>
          </a:p>
        </p:txBody>
      </p:sp>
      <p:sp>
        <p:nvSpPr>
          <p:cNvPr id="46" name="Shape 44"/>
          <p:cNvSpPr/>
          <p:nvPr/>
        </p:nvSpPr>
        <p:spPr>
          <a:xfrm>
            <a:off x="2542032" y="1938528"/>
            <a:ext cx="566928" cy="164592"/>
          </a:xfrm>
          <a:prstGeom prst="rect">
            <a:avLst/>
          </a:prstGeom>
          <a:solidFill>
            <a:srgbClr val="DBEAFE"/>
          </a:solidFill>
          <a:ln w="6350">
            <a:solidFill>
              <a:srgbClr val="2563EB"/>
            </a:solidFill>
            <a:prstDash val="solid"/>
          </a:ln>
        </p:spPr>
        <p:txBody>
          <a:bodyPr/>
          <a:lstStyle/>
          <a:p>
            <a:endParaRPr lang="en-IN"/>
          </a:p>
        </p:txBody>
      </p:sp>
      <p:sp>
        <p:nvSpPr>
          <p:cNvPr id="47" name="Text 45"/>
          <p:cNvSpPr/>
          <p:nvPr/>
        </p:nvSpPr>
        <p:spPr>
          <a:xfrm>
            <a:off x="2542032" y="1938528"/>
            <a:ext cx="566928" cy="164592"/>
          </a:xfrm>
          <a:prstGeom prst="rect">
            <a:avLst/>
          </a:prstGeom>
          <a:noFill/>
          <a:ln/>
        </p:spPr>
        <p:txBody>
          <a:bodyPr wrap="square" lIns="0" tIns="0" rIns="0" bIns="0" rtlCol="0" anchor="ctr"/>
          <a:lstStyle/>
          <a:p>
            <a:pPr marL="0" indent="0" algn="ctr">
              <a:buNone/>
            </a:pPr>
            <a:r>
              <a:rPr lang="en-US" sz="750" dirty="0">
                <a:solidFill>
                  <a:srgbClr val="2563EB"/>
                </a:solidFill>
                <a:latin typeface="Calibri" pitchFamily="34" charset="0"/>
                <a:ea typeface="Calibri" pitchFamily="34" charset="-122"/>
                <a:cs typeface="Calibri" pitchFamily="34" charset="-120"/>
              </a:rPr>
              <a:t>number</a:t>
            </a:r>
            <a:endParaRPr lang="en-US" sz="750" dirty="0"/>
          </a:p>
        </p:txBody>
      </p:sp>
      <p:sp>
        <p:nvSpPr>
          <p:cNvPr id="48" name="Text 46"/>
          <p:cNvSpPr/>
          <p:nvPr/>
        </p:nvSpPr>
        <p:spPr>
          <a:xfrm>
            <a:off x="3163824" y="1938528"/>
            <a:ext cx="1316736" cy="164592"/>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ea typeface="Calibri" pitchFamily="34" charset="-122"/>
                <a:cs typeface="Calibri" pitchFamily="34" charset="-120"/>
              </a:rPr>
              <a:t>bpm</a:t>
            </a:r>
            <a:endParaRPr lang="en-US" sz="850" dirty="0"/>
          </a:p>
        </p:txBody>
      </p:sp>
      <p:sp>
        <p:nvSpPr>
          <p:cNvPr id="49" name="Shape 47"/>
          <p:cNvSpPr/>
          <p:nvPr/>
        </p:nvSpPr>
        <p:spPr>
          <a:xfrm>
            <a:off x="2468880" y="2231136"/>
            <a:ext cx="2084832" cy="475488"/>
          </a:xfrm>
          <a:prstGeom prst="rect">
            <a:avLst/>
          </a:prstGeom>
          <a:solidFill>
            <a:srgbClr val="FFFFFF"/>
          </a:solidFill>
          <a:ln w="12700">
            <a:solidFill>
              <a:srgbClr val="E2E8F0"/>
            </a:solidFill>
            <a:prstDash val="solid"/>
          </a:ln>
        </p:spPr>
        <p:txBody>
          <a:bodyPr/>
          <a:lstStyle/>
          <a:p>
            <a:endParaRPr lang="en-IN"/>
          </a:p>
        </p:txBody>
      </p:sp>
      <p:sp>
        <p:nvSpPr>
          <p:cNvPr id="50" name="Text 48"/>
          <p:cNvSpPr/>
          <p:nvPr/>
        </p:nvSpPr>
        <p:spPr>
          <a:xfrm>
            <a:off x="2542032" y="2267712"/>
            <a:ext cx="1938528" cy="201168"/>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Exercise-Induced Angina</a:t>
            </a:r>
            <a:endParaRPr lang="en-US" sz="950" dirty="0"/>
          </a:p>
        </p:txBody>
      </p:sp>
      <p:sp>
        <p:nvSpPr>
          <p:cNvPr id="51" name="Shape 49"/>
          <p:cNvSpPr/>
          <p:nvPr/>
        </p:nvSpPr>
        <p:spPr>
          <a:xfrm>
            <a:off x="2542032" y="2487168"/>
            <a:ext cx="566928" cy="164592"/>
          </a:xfrm>
          <a:prstGeom prst="rect">
            <a:avLst/>
          </a:prstGeom>
          <a:solidFill>
            <a:srgbClr val="CCFBF1"/>
          </a:solidFill>
          <a:ln w="6350">
            <a:solidFill>
              <a:srgbClr val="0D9488"/>
            </a:solidFill>
            <a:prstDash val="solid"/>
          </a:ln>
        </p:spPr>
        <p:txBody>
          <a:bodyPr/>
          <a:lstStyle/>
          <a:p>
            <a:endParaRPr lang="en-IN"/>
          </a:p>
        </p:txBody>
      </p:sp>
      <p:sp>
        <p:nvSpPr>
          <p:cNvPr id="52" name="Text 50"/>
          <p:cNvSpPr/>
          <p:nvPr/>
        </p:nvSpPr>
        <p:spPr>
          <a:xfrm>
            <a:off x="2542032" y="2487168"/>
            <a:ext cx="566928" cy="164592"/>
          </a:xfrm>
          <a:prstGeom prst="rect">
            <a:avLst/>
          </a:prstGeom>
          <a:noFill/>
          <a:ln/>
        </p:spPr>
        <p:txBody>
          <a:bodyPr wrap="square" lIns="0" tIns="0" rIns="0" bIns="0" rtlCol="0" anchor="ctr"/>
          <a:lstStyle/>
          <a:p>
            <a:pPr marL="0" indent="0" algn="ctr">
              <a:buNone/>
            </a:pPr>
            <a:r>
              <a:rPr lang="en-US" sz="750" dirty="0">
                <a:solidFill>
                  <a:srgbClr val="0D9488"/>
                </a:solidFill>
                <a:latin typeface="Calibri" pitchFamily="34" charset="0"/>
                <a:ea typeface="Calibri" pitchFamily="34" charset="-122"/>
                <a:cs typeface="Calibri" pitchFamily="34" charset="-120"/>
              </a:rPr>
              <a:t>dropdown</a:t>
            </a:r>
            <a:endParaRPr lang="en-US" sz="750" dirty="0"/>
          </a:p>
        </p:txBody>
      </p:sp>
      <p:sp>
        <p:nvSpPr>
          <p:cNvPr id="53" name="Text 51"/>
          <p:cNvSpPr/>
          <p:nvPr/>
        </p:nvSpPr>
        <p:spPr>
          <a:xfrm>
            <a:off x="3163824" y="2487168"/>
            <a:ext cx="1316736" cy="164592"/>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ea typeface="Calibri" pitchFamily="34" charset="-122"/>
                <a:cs typeface="Calibri" pitchFamily="34" charset="-120"/>
              </a:rPr>
              <a:t>No / Yes</a:t>
            </a:r>
            <a:endParaRPr lang="en-US" sz="850" dirty="0"/>
          </a:p>
        </p:txBody>
      </p:sp>
      <p:sp>
        <p:nvSpPr>
          <p:cNvPr id="54" name="Shape 52"/>
          <p:cNvSpPr/>
          <p:nvPr/>
        </p:nvSpPr>
        <p:spPr>
          <a:xfrm>
            <a:off x="2468880" y="2779776"/>
            <a:ext cx="2084832" cy="475488"/>
          </a:xfrm>
          <a:prstGeom prst="rect">
            <a:avLst/>
          </a:prstGeom>
          <a:solidFill>
            <a:srgbClr val="FFFFFF"/>
          </a:solidFill>
          <a:ln w="12700">
            <a:solidFill>
              <a:srgbClr val="E2E8F0"/>
            </a:solidFill>
            <a:prstDash val="solid"/>
          </a:ln>
        </p:spPr>
        <p:txBody>
          <a:bodyPr/>
          <a:lstStyle/>
          <a:p>
            <a:endParaRPr lang="en-IN"/>
          </a:p>
        </p:txBody>
      </p:sp>
      <p:sp>
        <p:nvSpPr>
          <p:cNvPr id="55" name="Text 53"/>
          <p:cNvSpPr/>
          <p:nvPr/>
        </p:nvSpPr>
        <p:spPr>
          <a:xfrm>
            <a:off x="2542032" y="2816352"/>
            <a:ext cx="1938528" cy="201168"/>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ST Depression (oldpeak)</a:t>
            </a:r>
            <a:endParaRPr lang="en-US" sz="950" dirty="0"/>
          </a:p>
        </p:txBody>
      </p:sp>
      <p:sp>
        <p:nvSpPr>
          <p:cNvPr id="56" name="Shape 54"/>
          <p:cNvSpPr/>
          <p:nvPr/>
        </p:nvSpPr>
        <p:spPr>
          <a:xfrm>
            <a:off x="2542032" y="3035808"/>
            <a:ext cx="566928" cy="164592"/>
          </a:xfrm>
          <a:prstGeom prst="rect">
            <a:avLst/>
          </a:prstGeom>
          <a:solidFill>
            <a:srgbClr val="DBEAFE"/>
          </a:solidFill>
          <a:ln w="6350">
            <a:solidFill>
              <a:srgbClr val="2563EB"/>
            </a:solidFill>
            <a:prstDash val="solid"/>
          </a:ln>
        </p:spPr>
        <p:txBody>
          <a:bodyPr/>
          <a:lstStyle/>
          <a:p>
            <a:endParaRPr lang="en-IN"/>
          </a:p>
        </p:txBody>
      </p:sp>
      <p:sp>
        <p:nvSpPr>
          <p:cNvPr id="57" name="Text 55"/>
          <p:cNvSpPr/>
          <p:nvPr/>
        </p:nvSpPr>
        <p:spPr>
          <a:xfrm>
            <a:off x="2542032" y="3035808"/>
            <a:ext cx="566928" cy="164592"/>
          </a:xfrm>
          <a:prstGeom prst="rect">
            <a:avLst/>
          </a:prstGeom>
          <a:noFill/>
          <a:ln/>
        </p:spPr>
        <p:txBody>
          <a:bodyPr wrap="square" lIns="0" tIns="0" rIns="0" bIns="0" rtlCol="0" anchor="ctr"/>
          <a:lstStyle/>
          <a:p>
            <a:pPr marL="0" indent="0" algn="ctr">
              <a:buNone/>
            </a:pPr>
            <a:r>
              <a:rPr lang="en-US" sz="750" dirty="0">
                <a:solidFill>
                  <a:srgbClr val="2563EB"/>
                </a:solidFill>
                <a:latin typeface="Calibri" pitchFamily="34" charset="0"/>
                <a:ea typeface="Calibri" pitchFamily="34" charset="-122"/>
                <a:cs typeface="Calibri" pitchFamily="34" charset="-120"/>
              </a:rPr>
              <a:t>decimal</a:t>
            </a:r>
            <a:endParaRPr lang="en-US" sz="750" dirty="0"/>
          </a:p>
        </p:txBody>
      </p:sp>
      <p:sp>
        <p:nvSpPr>
          <p:cNvPr id="58" name="Text 56"/>
          <p:cNvSpPr/>
          <p:nvPr/>
        </p:nvSpPr>
        <p:spPr>
          <a:xfrm>
            <a:off x="3163824" y="3035808"/>
            <a:ext cx="1316736" cy="164592"/>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ea typeface="Calibri" pitchFamily="34" charset="-122"/>
                <a:cs typeface="Calibri" pitchFamily="34" charset="-120"/>
              </a:rPr>
              <a:t>0.0 – 6.2</a:t>
            </a:r>
            <a:endParaRPr lang="en-US" sz="850" dirty="0"/>
          </a:p>
        </p:txBody>
      </p:sp>
      <p:sp>
        <p:nvSpPr>
          <p:cNvPr id="59" name="Shape 57"/>
          <p:cNvSpPr/>
          <p:nvPr/>
        </p:nvSpPr>
        <p:spPr>
          <a:xfrm>
            <a:off x="2468880" y="3328416"/>
            <a:ext cx="2084832" cy="475488"/>
          </a:xfrm>
          <a:prstGeom prst="rect">
            <a:avLst/>
          </a:prstGeom>
          <a:solidFill>
            <a:srgbClr val="FFFFFF"/>
          </a:solidFill>
          <a:ln w="12700">
            <a:solidFill>
              <a:srgbClr val="E2E8F0"/>
            </a:solidFill>
            <a:prstDash val="solid"/>
          </a:ln>
        </p:spPr>
        <p:txBody>
          <a:bodyPr/>
          <a:lstStyle/>
          <a:p>
            <a:endParaRPr lang="en-IN"/>
          </a:p>
        </p:txBody>
      </p:sp>
      <p:sp>
        <p:nvSpPr>
          <p:cNvPr id="60" name="Text 58"/>
          <p:cNvSpPr/>
          <p:nvPr/>
        </p:nvSpPr>
        <p:spPr>
          <a:xfrm>
            <a:off x="2542032" y="3364992"/>
            <a:ext cx="1938528" cy="201168"/>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ST Segment Slope</a:t>
            </a:r>
            <a:endParaRPr lang="en-US" sz="950" dirty="0"/>
          </a:p>
        </p:txBody>
      </p:sp>
      <p:sp>
        <p:nvSpPr>
          <p:cNvPr id="61" name="Shape 59"/>
          <p:cNvSpPr/>
          <p:nvPr/>
        </p:nvSpPr>
        <p:spPr>
          <a:xfrm>
            <a:off x="2542032" y="3584448"/>
            <a:ext cx="566928" cy="164592"/>
          </a:xfrm>
          <a:prstGeom prst="rect">
            <a:avLst/>
          </a:prstGeom>
          <a:solidFill>
            <a:srgbClr val="CCFBF1"/>
          </a:solidFill>
          <a:ln w="6350">
            <a:solidFill>
              <a:srgbClr val="0D9488"/>
            </a:solidFill>
            <a:prstDash val="solid"/>
          </a:ln>
        </p:spPr>
        <p:txBody>
          <a:bodyPr/>
          <a:lstStyle/>
          <a:p>
            <a:endParaRPr lang="en-IN"/>
          </a:p>
        </p:txBody>
      </p:sp>
      <p:sp>
        <p:nvSpPr>
          <p:cNvPr id="62" name="Text 60"/>
          <p:cNvSpPr/>
          <p:nvPr/>
        </p:nvSpPr>
        <p:spPr>
          <a:xfrm>
            <a:off x="2542032" y="3584448"/>
            <a:ext cx="566928" cy="164592"/>
          </a:xfrm>
          <a:prstGeom prst="rect">
            <a:avLst/>
          </a:prstGeom>
          <a:noFill/>
          <a:ln/>
        </p:spPr>
        <p:txBody>
          <a:bodyPr wrap="square" lIns="0" tIns="0" rIns="0" bIns="0" rtlCol="0" anchor="ctr"/>
          <a:lstStyle/>
          <a:p>
            <a:pPr marL="0" indent="0" algn="ctr">
              <a:buNone/>
            </a:pPr>
            <a:r>
              <a:rPr lang="en-US" sz="750" dirty="0">
                <a:solidFill>
                  <a:srgbClr val="0D9488"/>
                </a:solidFill>
                <a:latin typeface="Calibri" pitchFamily="34" charset="0"/>
                <a:ea typeface="Calibri" pitchFamily="34" charset="-122"/>
                <a:cs typeface="Calibri" pitchFamily="34" charset="-120"/>
              </a:rPr>
              <a:t>dropdown</a:t>
            </a:r>
            <a:endParaRPr lang="en-US" sz="750" dirty="0"/>
          </a:p>
        </p:txBody>
      </p:sp>
      <p:sp>
        <p:nvSpPr>
          <p:cNvPr id="63" name="Text 61"/>
          <p:cNvSpPr/>
          <p:nvPr/>
        </p:nvSpPr>
        <p:spPr>
          <a:xfrm>
            <a:off x="3163824" y="3584448"/>
            <a:ext cx="1316736" cy="164592"/>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ea typeface="Calibri" pitchFamily="34" charset="-122"/>
                <a:cs typeface="Calibri" pitchFamily="34" charset="-120"/>
              </a:rPr>
              <a:t>Upsloping / Flat / Downsloping</a:t>
            </a:r>
            <a:endParaRPr lang="en-US" sz="850" dirty="0"/>
          </a:p>
        </p:txBody>
      </p:sp>
      <p:sp>
        <p:nvSpPr>
          <p:cNvPr id="64" name="Shape 62"/>
          <p:cNvSpPr/>
          <p:nvPr/>
        </p:nvSpPr>
        <p:spPr>
          <a:xfrm>
            <a:off x="2468880" y="3877056"/>
            <a:ext cx="2084832" cy="475488"/>
          </a:xfrm>
          <a:prstGeom prst="rect">
            <a:avLst/>
          </a:prstGeom>
          <a:solidFill>
            <a:srgbClr val="FFFFFF"/>
          </a:solidFill>
          <a:ln w="12700">
            <a:solidFill>
              <a:srgbClr val="E2E8F0"/>
            </a:solidFill>
            <a:prstDash val="solid"/>
          </a:ln>
        </p:spPr>
        <p:txBody>
          <a:bodyPr/>
          <a:lstStyle/>
          <a:p>
            <a:endParaRPr lang="en-IN"/>
          </a:p>
        </p:txBody>
      </p:sp>
      <p:sp>
        <p:nvSpPr>
          <p:cNvPr id="65" name="Text 63"/>
          <p:cNvSpPr/>
          <p:nvPr/>
        </p:nvSpPr>
        <p:spPr>
          <a:xfrm>
            <a:off x="2542032" y="3913632"/>
            <a:ext cx="1938528" cy="201168"/>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Major Vessels (ca)</a:t>
            </a:r>
            <a:endParaRPr lang="en-US" sz="950" dirty="0"/>
          </a:p>
        </p:txBody>
      </p:sp>
      <p:sp>
        <p:nvSpPr>
          <p:cNvPr id="66" name="Shape 64"/>
          <p:cNvSpPr/>
          <p:nvPr/>
        </p:nvSpPr>
        <p:spPr>
          <a:xfrm>
            <a:off x="2542032" y="4133088"/>
            <a:ext cx="566928" cy="164592"/>
          </a:xfrm>
          <a:prstGeom prst="rect">
            <a:avLst/>
          </a:prstGeom>
          <a:solidFill>
            <a:srgbClr val="CCFBF1"/>
          </a:solidFill>
          <a:ln w="6350">
            <a:solidFill>
              <a:srgbClr val="0D9488"/>
            </a:solidFill>
            <a:prstDash val="solid"/>
          </a:ln>
        </p:spPr>
        <p:txBody>
          <a:bodyPr/>
          <a:lstStyle/>
          <a:p>
            <a:endParaRPr lang="en-IN"/>
          </a:p>
        </p:txBody>
      </p:sp>
      <p:sp>
        <p:nvSpPr>
          <p:cNvPr id="67" name="Text 65"/>
          <p:cNvSpPr/>
          <p:nvPr/>
        </p:nvSpPr>
        <p:spPr>
          <a:xfrm>
            <a:off x="2542032" y="4133088"/>
            <a:ext cx="566928" cy="164592"/>
          </a:xfrm>
          <a:prstGeom prst="rect">
            <a:avLst/>
          </a:prstGeom>
          <a:noFill/>
          <a:ln/>
        </p:spPr>
        <p:txBody>
          <a:bodyPr wrap="square" lIns="0" tIns="0" rIns="0" bIns="0" rtlCol="0" anchor="ctr"/>
          <a:lstStyle/>
          <a:p>
            <a:pPr marL="0" indent="0" algn="ctr">
              <a:buNone/>
            </a:pPr>
            <a:r>
              <a:rPr lang="en-US" sz="750" dirty="0">
                <a:solidFill>
                  <a:srgbClr val="0D9488"/>
                </a:solidFill>
                <a:latin typeface="Calibri" pitchFamily="34" charset="0"/>
                <a:ea typeface="Calibri" pitchFamily="34" charset="-122"/>
                <a:cs typeface="Calibri" pitchFamily="34" charset="-120"/>
              </a:rPr>
              <a:t>dropdown</a:t>
            </a:r>
            <a:endParaRPr lang="en-US" sz="750" dirty="0"/>
          </a:p>
        </p:txBody>
      </p:sp>
      <p:sp>
        <p:nvSpPr>
          <p:cNvPr id="68" name="Text 66"/>
          <p:cNvSpPr/>
          <p:nvPr/>
        </p:nvSpPr>
        <p:spPr>
          <a:xfrm>
            <a:off x="3163824" y="4133088"/>
            <a:ext cx="1316736" cy="164592"/>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ea typeface="Calibri" pitchFamily="34" charset="-122"/>
                <a:cs typeface="Calibri" pitchFamily="34" charset="-120"/>
              </a:rPr>
              <a:t>0 / 1 / 2 / 3</a:t>
            </a:r>
            <a:endParaRPr lang="en-US" sz="850" dirty="0"/>
          </a:p>
        </p:txBody>
      </p:sp>
      <p:sp>
        <p:nvSpPr>
          <p:cNvPr id="69" name="Text 67"/>
          <p:cNvSpPr/>
          <p:nvPr/>
        </p:nvSpPr>
        <p:spPr>
          <a:xfrm>
            <a:off x="4681728" y="768096"/>
            <a:ext cx="4251960" cy="292608"/>
          </a:xfrm>
          <a:prstGeom prst="rect">
            <a:avLst/>
          </a:prstGeom>
          <a:noFill/>
          <a:ln/>
        </p:spPr>
        <p:txBody>
          <a:bodyPr wrap="square" rtlCol="0" anchor="ctr"/>
          <a:lstStyle/>
          <a:p>
            <a:pPr marL="0" indent="0">
              <a:buNone/>
            </a:pPr>
            <a:r>
              <a:rPr lang="en-US" sz="1250" b="1" dirty="0">
                <a:solidFill>
                  <a:srgbClr val="0D9488"/>
                </a:solidFill>
                <a:latin typeface="Calibri" pitchFamily="34" charset="0"/>
                <a:ea typeface="Calibri" pitchFamily="34" charset="-122"/>
                <a:cs typeface="Calibri" pitchFamily="34" charset="-120"/>
              </a:rPr>
              <a:t>Results Display — What the User Sees</a:t>
            </a:r>
            <a:endParaRPr lang="en-US" sz="1250" dirty="0"/>
          </a:p>
        </p:txBody>
      </p:sp>
      <p:sp>
        <p:nvSpPr>
          <p:cNvPr id="70" name="Shape 68"/>
          <p:cNvSpPr/>
          <p:nvPr/>
        </p:nvSpPr>
        <p:spPr>
          <a:xfrm>
            <a:off x="4681728" y="1133856"/>
            <a:ext cx="4251960" cy="1828800"/>
          </a:xfrm>
          <a:prstGeom prst="rect">
            <a:avLst/>
          </a:prstGeom>
          <a:solidFill>
            <a:srgbClr val="DCFCE7"/>
          </a:solidFill>
          <a:ln w="25400">
            <a:solidFill>
              <a:srgbClr val="16A34A"/>
            </a:solidFill>
            <a:prstDash val="solid"/>
          </a:ln>
        </p:spPr>
        <p:txBody>
          <a:bodyPr/>
          <a:lstStyle/>
          <a:p>
            <a:endParaRPr lang="en-IN"/>
          </a:p>
        </p:txBody>
      </p:sp>
      <p:sp>
        <p:nvSpPr>
          <p:cNvPr id="71" name="Shape 69"/>
          <p:cNvSpPr/>
          <p:nvPr/>
        </p:nvSpPr>
        <p:spPr>
          <a:xfrm>
            <a:off x="4681728" y="1133856"/>
            <a:ext cx="4251960" cy="347472"/>
          </a:xfrm>
          <a:prstGeom prst="rect">
            <a:avLst/>
          </a:prstGeom>
          <a:solidFill>
            <a:srgbClr val="16A34A"/>
          </a:solidFill>
          <a:ln w="12700">
            <a:solidFill>
              <a:srgbClr val="16A34A"/>
            </a:solidFill>
            <a:prstDash val="solid"/>
          </a:ln>
        </p:spPr>
        <p:txBody>
          <a:bodyPr/>
          <a:lstStyle/>
          <a:p>
            <a:endParaRPr lang="en-IN"/>
          </a:p>
        </p:txBody>
      </p:sp>
      <p:sp>
        <p:nvSpPr>
          <p:cNvPr id="72" name="Text 70"/>
          <p:cNvSpPr/>
          <p:nvPr/>
        </p:nvSpPr>
        <p:spPr>
          <a:xfrm>
            <a:off x="4773168" y="1152144"/>
            <a:ext cx="4069080" cy="29260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Result — Low Risk Patient</a:t>
            </a:r>
            <a:endParaRPr lang="en-US" sz="1100" dirty="0"/>
          </a:p>
        </p:txBody>
      </p:sp>
      <p:sp>
        <p:nvSpPr>
          <p:cNvPr id="73" name="Text 71"/>
          <p:cNvSpPr/>
          <p:nvPr/>
        </p:nvSpPr>
        <p:spPr>
          <a:xfrm>
            <a:off x="4773168" y="1554480"/>
            <a:ext cx="1097280" cy="658368"/>
          </a:xfrm>
          <a:prstGeom prst="rect">
            <a:avLst/>
          </a:prstGeom>
          <a:noFill/>
          <a:ln/>
        </p:spPr>
        <p:txBody>
          <a:bodyPr wrap="square" rtlCol="0" anchor="ctr"/>
          <a:lstStyle/>
          <a:p>
            <a:pPr marL="0" indent="0" algn="ctr">
              <a:buNone/>
            </a:pPr>
            <a:r>
              <a:rPr lang="en-US" sz="3800" b="1" dirty="0">
                <a:solidFill>
                  <a:srgbClr val="16A34A"/>
                </a:solidFill>
                <a:latin typeface="Calibri" pitchFamily="34" charset="0"/>
                <a:ea typeface="Calibri" pitchFamily="34" charset="-122"/>
                <a:cs typeface="Calibri" pitchFamily="34" charset="-120"/>
              </a:rPr>
              <a:t>14%</a:t>
            </a:r>
            <a:endParaRPr lang="en-US" sz="3800" dirty="0"/>
          </a:p>
        </p:txBody>
      </p:sp>
      <p:sp>
        <p:nvSpPr>
          <p:cNvPr id="74" name="Text 72"/>
          <p:cNvSpPr/>
          <p:nvPr/>
        </p:nvSpPr>
        <p:spPr>
          <a:xfrm>
            <a:off x="5943600" y="1664208"/>
            <a:ext cx="2743200" cy="365760"/>
          </a:xfrm>
          <a:prstGeom prst="rect">
            <a:avLst/>
          </a:prstGeom>
          <a:noFill/>
          <a:ln/>
        </p:spPr>
        <p:txBody>
          <a:bodyPr wrap="square" rtlCol="0" anchor="ctr"/>
          <a:lstStyle/>
          <a:p>
            <a:pPr marL="0" indent="0">
              <a:buNone/>
            </a:pPr>
            <a:r>
              <a:rPr lang="en-US" sz="1800" b="1" dirty="0">
                <a:solidFill>
                  <a:srgbClr val="16A34A"/>
                </a:solidFill>
                <a:latin typeface="Calibri" pitchFamily="34" charset="0"/>
                <a:ea typeface="Calibri" pitchFamily="34" charset="-122"/>
                <a:cs typeface="Calibri" pitchFamily="34" charset="-120"/>
              </a:rPr>
              <a:t>LOW RISK</a:t>
            </a:r>
            <a:endParaRPr lang="en-US" sz="1800" dirty="0"/>
          </a:p>
        </p:txBody>
      </p:sp>
      <p:sp>
        <p:nvSpPr>
          <p:cNvPr id="75" name="Text 73"/>
          <p:cNvSpPr/>
          <p:nvPr/>
        </p:nvSpPr>
        <p:spPr>
          <a:xfrm>
            <a:off x="5943600" y="2048256"/>
            <a:ext cx="2743200" cy="256032"/>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Routine monitoring recommended</a:t>
            </a:r>
            <a:endParaRPr lang="en-US" sz="1050" dirty="0"/>
          </a:p>
        </p:txBody>
      </p:sp>
      <p:sp>
        <p:nvSpPr>
          <p:cNvPr id="76" name="Shape 74"/>
          <p:cNvSpPr/>
          <p:nvPr/>
        </p:nvSpPr>
        <p:spPr>
          <a:xfrm>
            <a:off x="4681728" y="3090672"/>
            <a:ext cx="4251960" cy="1828800"/>
          </a:xfrm>
          <a:prstGeom prst="rect">
            <a:avLst/>
          </a:prstGeom>
          <a:solidFill>
            <a:srgbClr val="FEE2E2"/>
          </a:solidFill>
          <a:ln w="25400">
            <a:solidFill>
              <a:srgbClr val="DC2626"/>
            </a:solidFill>
            <a:prstDash val="solid"/>
          </a:ln>
        </p:spPr>
        <p:txBody>
          <a:bodyPr/>
          <a:lstStyle/>
          <a:p>
            <a:endParaRPr lang="en-IN"/>
          </a:p>
        </p:txBody>
      </p:sp>
      <p:sp>
        <p:nvSpPr>
          <p:cNvPr id="77" name="Shape 75"/>
          <p:cNvSpPr/>
          <p:nvPr/>
        </p:nvSpPr>
        <p:spPr>
          <a:xfrm>
            <a:off x="4681728" y="3090672"/>
            <a:ext cx="4251960" cy="347472"/>
          </a:xfrm>
          <a:prstGeom prst="rect">
            <a:avLst/>
          </a:prstGeom>
          <a:solidFill>
            <a:srgbClr val="DC2626"/>
          </a:solidFill>
          <a:ln w="12700">
            <a:solidFill>
              <a:srgbClr val="DC2626"/>
            </a:solidFill>
            <a:prstDash val="solid"/>
          </a:ln>
        </p:spPr>
        <p:txBody>
          <a:bodyPr/>
          <a:lstStyle/>
          <a:p>
            <a:endParaRPr lang="en-IN"/>
          </a:p>
        </p:txBody>
      </p:sp>
      <p:sp>
        <p:nvSpPr>
          <p:cNvPr id="78" name="Text 76"/>
          <p:cNvSpPr/>
          <p:nvPr/>
        </p:nvSpPr>
        <p:spPr>
          <a:xfrm>
            <a:off x="4773168" y="3108960"/>
            <a:ext cx="4069080" cy="29260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Result — High Risk Patient</a:t>
            </a:r>
            <a:endParaRPr lang="en-US" sz="1100" dirty="0"/>
          </a:p>
        </p:txBody>
      </p:sp>
      <p:sp>
        <p:nvSpPr>
          <p:cNvPr id="79" name="Text 77"/>
          <p:cNvSpPr/>
          <p:nvPr/>
        </p:nvSpPr>
        <p:spPr>
          <a:xfrm>
            <a:off x="4773168" y="3511296"/>
            <a:ext cx="1097280" cy="658368"/>
          </a:xfrm>
          <a:prstGeom prst="rect">
            <a:avLst/>
          </a:prstGeom>
          <a:noFill/>
          <a:ln/>
        </p:spPr>
        <p:txBody>
          <a:bodyPr wrap="square" rtlCol="0" anchor="ctr"/>
          <a:lstStyle/>
          <a:p>
            <a:pPr marL="0" indent="0" algn="ctr">
              <a:buNone/>
            </a:pPr>
            <a:r>
              <a:rPr lang="en-US" sz="3800" b="1" dirty="0">
                <a:solidFill>
                  <a:srgbClr val="DC2626"/>
                </a:solidFill>
                <a:latin typeface="Calibri" pitchFamily="34" charset="0"/>
                <a:ea typeface="Calibri" pitchFamily="34" charset="-122"/>
                <a:cs typeface="Calibri" pitchFamily="34" charset="-120"/>
              </a:rPr>
              <a:t>72%</a:t>
            </a:r>
            <a:endParaRPr lang="en-US" sz="3800" dirty="0"/>
          </a:p>
        </p:txBody>
      </p:sp>
      <p:sp>
        <p:nvSpPr>
          <p:cNvPr id="80" name="Text 78"/>
          <p:cNvSpPr/>
          <p:nvPr/>
        </p:nvSpPr>
        <p:spPr>
          <a:xfrm>
            <a:off x="5943600" y="3621024"/>
            <a:ext cx="2743200" cy="365760"/>
          </a:xfrm>
          <a:prstGeom prst="rect">
            <a:avLst/>
          </a:prstGeom>
          <a:noFill/>
          <a:ln/>
        </p:spPr>
        <p:txBody>
          <a:bodyPr wrap="square" rtlCol="0" anchor="ctr"/>
          <a:lstStyle/>
          <a:p>
            <a:pPr marL="0" indent="0">
              <a:buNone/>
            </a:pPr>
            <a:r>
              <a:rPr lang="en-US" sz="1800" b="1" dirty="0">
                <a:solidFill>
                  <a:srgbClr val="DC2626"/>
                </a:solidFill>
                <a:latin typeface="Calibri" pitchFamily="34" charset="0"/>
                <a:ea typeface="Calibri" pitchFamily="34" charset="-122"/>
                <a:cs typeface="Calibri" pitchFamily="34" charset="-120"/>
              </a:rPr>
              <a:t>HIGH RISK</a:t>
            </a:r>
            <a:endParaRPr lang="en-US" sz="1800" dirty="0"/>
          </a:p>
        </p:txBody>
      </p:sp>
      <p:sp>
        <p:nvSpPr>
          <p:cNvPr id="81" name="Text 79"/>
          <p:cNvSpPr/>
          <p:nvPr/>
        </p:nvSpPr>
        <p:spPr>
          <a:xfrm>
            <a:off x="5943600" y="4005072"/>
            <a:ext cx="2743200" cy="256032"/>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Immediate medical evaluation advised</a:t>
            </a:r>
            <a:endParaRPr lang="en-US" sz="1050" dirty="0"/>
          </a:p>
        </p:txBody>
      </p:sp>
      <p:sp>
        <p:nvSpPr>
          <p:cNvPr id="82" name="Shape 80"/>
          <p:cNvSpPr/>
          <p:nvPr/>
        </p:nvSpPr>
        <p:spPr>
          <a:xfrm>
            <a:off x="256032" y="4828032"/>
            <a:ext cx="8631936" cy="347472"/>
          </a:xfrm>
          <a:prstGeom prst="rect">
            <a:avLst/>
          </a:prstGeom>
          <a:solidFill>
            <a:srgbClr val="FEF3C7"/>
          </a:solidFill>
          <a:ln w="12700">
            <a:solidFill>
              <a:srgbClr val="D97706"/>
            </a:solidFill>
            <a:prstDash val="solid"/>
          </a:ln>
        </p:spPr>
        <p:txBody>
          <a:bodyPr/>
          <a:lstStyle/>
          <a:p>
            <a:endParaRPr lang="en-IN"/>
          </a:p>
        </p:txBody>
      </p:sp>
      <p:sp>
        <p:nvSpPr>
          <p:cNvPr id="83" name="Text 81"/>
          <p:cNvSpPr/>
          <p:nvPr/>
        </p:nvSpPr>
        <p:spPr>
          <a:xfrm>
            <a:off x="384048" y="4846320"/>
            <a:ext cx="8375904" cy="292608"/>
          </a:xfrm>
          <a:prstGeom prst="rect">
            <a:avLst/>
          </a:prstGeom>
          <a:noFill/>
          <a:ln/>
        </p:spPr>
        <p:txBody>
          <a:bodyPr wrap="square" rtlCol="0" anchor="ctr"/>
          <a:lstStyle/>
          <a:p>
            <a:pPr marL="0" indent="0">
              <a:buNone/>
            </a:pPr>
            <a:r>
              <a:rPr lang="en-US" sz="1000" b="1" dirty="0">
                <a:solidFill>
                  <a:srgbClr val="D97706"/>
                </a:solidFill>
                <a:latin typeface="Calibri" pitchFamily="34" charset="0"/>
                <a:ea typeface="Calibri" pitchFamily="34" charset="-122"/>
                <a:cs typeface="Calibri" pitchFamily="34" charset="-120"/>
              </a:rPr>
              <a:t>Key bug fixed in Sprint 2: JS select/input always returns a string — parseInt() and parseFloat() added on all numeric fields before fetch(). This fixed all 422 Pydantic validation errors.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9488"/>
          </a:solidFill>
          <a:ln w="12700">
            <a:solidFill>
              <a:srgbClr val="0D9488"/>
            </a:solidFill>
            <a:prstDash val="solid"/>
          </a:ln>
        </p:spPr>
        <p:txBody>
          <a:bodyPr/>
          <a:lstStyle/>
          <a:p>
            <a:endParaRPr lang="en-IN"/>
          </a:p>
        </p:txBody>
      </p:sp>
      <p:sp>
        <p:nvSpPr>
          <p:cNvPr id="3" name="Text 1"/>
          <p:cNvSpPr/>
          <p:nvPr/>
        </p:nvSpPr>
        <p:spPr>
          <a:xfrm>
            <a:off x="320040" y="0"/>
            <a:ext cx="850392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Live Demo — Two Patients, Two Different Results</a:t>
            </a:r>
            <a:endParaRPr lang="en-US" sz="2200" dirty="0"/>
          </a:p>
        </p:txBody>
      </p:sp>
      <p:sp>
        <p:nvSpPr>
          <p:cNvPr id="4" name="Shape 2"/>
          <p:cNvSpPr/>
          <p:nvPr/>
        </p:nvSpPr>
        <p:spPr>
          <a:xfrm>
            <a:off x="0" y="5184648"/>
            <a:ext cx="9144000" cy="73152"/>
          </a:xfrm>
          <a:prstGeom prst="rect">
            <a:avLst/>
          </a:prstGeom>
          <a:solidFill>
            <a:srgbClr val="CCFBF1"/>
          </a:solidFill>
          <a:ln w="12700">
            <a:solidFill>
              <a:srgbClr val="CCFBF1"/>
            </a:solidFill>
            <a:prstDash val="solid"/>
          </a:ln>
        </p:spPr>
        <p:txBody>
          <a:bodyPr/>
          <a:lstStyle/>
          <a:p>
            <a:endParaRPr lang="en-IN"/>
          </a:p>
        </p:txBody>
      </p:sp>
      <p:sp>
        <p:nvSpPr>
          <p:cNvPr id="5" name="Shape 3"/>
          <p:cNvSpPr/>
          <p:nvPr/>
        </p:nvSpPr>
        <p:spPr>
          <a:xfrm>
            <a:off x="256032" y="749808"/>
            <a:ext cx="4133088" cy="4297680"/>
          </a:xfrm>
          <a:prstGeom prst="rect">
            <a:avLst/>
          </a:prstGeom>
          <a:solidFill>
            <a:srgbClr val="FFFFFF"/>
          </a:solidFill>
          <a:ln w="25400">
            <a:solidFill>
              <a:srgbClr val="DC2626"/>
            </a:solidFill>
            <a:prstDash val="solid"/>
          </a:ln>
        </p:spPr>
        <p:txBody>
          <a:bodyPr/>
          <a:lstStyle/>
          <a:p>
            <a:endParaRPr lang="en-IN"/>
          </a:p>
        </p:txBody>
      </p:sp>
      <p:sp>
        <p:nvSpPr>
          <p:cNvPr id="6" name="Shape 4"/>
          <p:cNvSpPr/>
          <p:nvPr/>
        </p:nvSpPr>
        <p:spPr>
          <a:xfrm>
            <a:off x="256032" y="749808"/>
            <a:ext cx="4133088" cy="475488"/>
          </a:xfrm>
          <a:prstGeom prst="rect">
            <a:avLst/>
          </a:prstGeom>
          <a:solidFill>
            <a:srgbClr val="DC2626"/>
          </a:solidFill>
          <a:ln w="12700">
            <a:solidFill>
              <a:srgbClr val="DC2626"/>
            </a:solidFill>
            <a:prstDash val="solid"/>
          </a:ln>
        </p:spPr>
        <p:txBody>
          <a:bodyPr/>
          <a:lstStyle/>
          <a:p>
            <a:endParaRPr lang="en-IN"/>
          </a:p>
        </p:txBody>
      </p:sp>
      <p:sp>
        <p:nvSpPr>
          <p:cNvPr id="7" name="Text 5"/>
          <p:cNvSpPr/>
          <p:nvPr/>
        </p:nvSpPr>
        <p:spPr>
          <a:xfrm>
            <a:off x="365760" y="768096"/>
            <a:ext cx="3913632" cy="420624"/>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Patient A — High Risk</a:t>
            </a:r>
            <a:endParaRPr lang="en-US" sz="1350" dirty="0"/>
          </a:p>
        </p:txBody>
      </p:sp>
      <p:sp>
        <p:nvSpPr>
          <p:cNvPr id="8" name="Text 6"/>
          <p:cNvSpPr/>
          <p:nvPr/>
        </p:nvSpPr>
        <p:spPr>
          <a:xfrm>
            <a:off x="402336" y="1298448"/>
            <a:ext cx="1463040" cy="310896"/>
          </a:xfrm>
          <a:prstGeom prst="rect">
            <a:avLst/>
          </a:prstGeom>
          <a:noFill/>
          <a:ln/>
        </p:spPr>
        <p:txBody>
          <a:bodyPr wrap="square" rtlCol="0" anchor="ctr"/>
          <a:lstStyle/>
          <a:p>
            <a:pPr marL="0" indent="0">
              <a:buNone/>
            </a:pPr>
            <a:r>
              <a:rPr lang="en-US" sz="1150" b="1" dirty="0">
                <a:solidFill>
                  <a:srgbClr val="475569"/>
                </a:solidFill>
                <a:latin typeface="Calibri" pitchFamily="34" charset="0"/>
                <a:ea typeface="Calibri" pitchFamily="34" charset="-122"/>
                <a:cs typeface="Calibri" pitchFamily="34" charset="-120"/>
              </a:rPr>
              <a:t>Age:</a:t>
            </a:r>
            <a:endParaRPr lang="en-US" sz="1150" dirty="0"/>
          </a:p>
        </p:txBody>
      </p:sp>
      <p:sp>
        <p:nvSpPr>
          <p:cNvPr id="9" name="Text 7"/>
          <p:cNvSpPr/>
          <p:nvPr/>
        </p:nvSpPr>
        <p:spPr>
          <a:xfrm>
            <a:off x="1901952" y="1298448"/>
            <a:ext cx="2423160" cy="310896"/>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63</a:t>
            </a:r>
            <a:endParaRPr lang="en-US" sz="1150" dirty="0"/>
          </a:p>
        </p:txBody>
      </p:sp>
      <p:sp>
        <p:nvSpPr>
          <p:cNvPr id="10" name="Text 8"/>
          <p:cNvSpPr/>
          <p:nvPr/>
        </p:nvSpPr>
        <p:spPr>
          <a:xfrm>
            <a:off x="402336" y="1664208"/>
            <a:ext cx="1463040" cy="310896"/>
          </a:xfrm>
          <a:prstGeom prst="rect">
            <a:avLst/>
          </a:prstGeom>
          <a:noFill/>
          <a:ln/>
        </p:spPr>
        <p:txBody>
          <a:bodyPr wrap="square" rtlCol="0" anchor="ctr"/>
          <a:lstStyle/>
          <a:p>
            <a:pPr marL="0" indent="0">
              <a:buNone/>
            </a:pPr>
            <a:r>
              <a:rPr lang="en-US" sz="1150" b="1" dirty="0">
                <a:solidFill>
                  <a:srgbClr val="475569"/>
                </a:solidFill>
                <a:latin typeface="Calibri" pitchFamily="34" charset="0"/>
                <a:ea typeface="Calibri" pitchFamily="34" charset="-122"/>
                <a:cs typeface="Calibri" pitchFamily="34" charset="-120"/>
              </a:rPr>
              <a:t>Sex:</a:t>
            </a:r>
            <a:endParaRPr lang="en-US" sz="1150" dirty="0"/>
          </a:p>
        </p:txBody>
      </p:sp>
      <p:sp>
        <p:nvSpPr>
          <p:cNvPr id="11" name="Text 9"/>
          <p:cNvSpPr/>
          <p:nvPr/>
        </p:nvSpPr>
        <p:spPr>
          <a:xfrm>
            <a:off x="1901952" y="1664208"/>
            <a:ext cx="2423160" cy="310896"/>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Male</a:t>
            </a:r>
            <a:endParaRPr lang="en-US" sz="1150" dirty="0"/>
          </a:p>
        </p:txBody>
      </p:sp>
      <p:sp>
        <p:nvSpPr>
          <p:cNvPr id="12" name="Text 10"/>
          <p:cNvSpPr/>
          <p:nvPr/>
        </p:nvSpPr>
        <p:spPr>
          <a:xfrm>
            <a:off x="402336" y="2029968"/>
            <a:ext cx="1463040" cy="310896"/>
          </a:xfrm>
          <a:prstGeom prst="rect">
            <a:avLst/>
          </a:prstGeom>
          <a:noFill/>
          <a:ln/>
        </p:spPr>
        <p:txBody>
          <a:bodyPr wrap="square" rtlCol="0" anchor="ctr"/>
          <a:lstStyle/>
          <a:p>
            <a:pPr marL="0" indent="0">
              <a:buNone/>
            </a:pPr>
            <a:r>
              <a:rPr lang="en-US" sz="1150" b="1" dirty="0">
                <a:solidFill>
                  <a:srgbClr val="475569"/>
                </a:solidFill>
                <a:latin typeface="Calibri" pitchFamily="34" charset="0"/>
                <a:ea typeface="Calibri" pitchFamily="34" charset="-122"/>
                <a:cs typeface="Calibri" pitchFamily="34" charset="-120"/>
              </a:rPr>
              <a:t>Chest Pain:</a:t>
            </a:r>
            <a:endParaRPr lang="en-US" sz="1150" dirty="0"/>
          </a:p>
        </p:txBody>
      </p:sp>
      <p:sp>
        <p:nvSpPr>
          <p:cNvPr id="13" name="Text 11"/>
          <p:cNvSpPr/>
          <p:nvPr/>
        </p:nvSpPr>
        <p:spPr>
          <a:xfrm>
            <a:off x="1901952" y="2029968"/>
            <a:ext cx="2423160" cy="310896"/>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Asymptomatic (type 3)</a:t>
            </a:r>
            <a:endParaRPr lang="en-US" sz="1150" dirty="0"/>
          </a:p>
        </p:txBody>
      </p:sp>
      <p:sp>
        <p:nvSpPr>
          <p:cNvPr id="14" name="Text 12"/>
          <p:cNvSpPr/>
          <p:nvPr/>
        </p:nvSpPr>
        <p:spPr>
          <a:xfrm>
            <a:off x="402336" y="2395728"/>
            <a:ext cx="1463040" cy="310896"/>
          </a:xfrm>
          <a:prstGeom prst="rect">
            <a:avLst/>
          </a:prstGeom>
          <a:noFill/>
          <a:ln/>
        </p:spPr>
        <p:txBody>
          <a:bodyPr wrap="square" rtlCol="0" anchor="ctr"/>
          <a:lstStyle/>
          <a:p>
            <a:pPr marL="0" indent="0">
              <a:buNone/>
            </a:pPr>
            <a:r>
              <a:rPr lang="en-US" sz="1150" b="1" dirty="0">
                <a:solidFill>
                  <a:srgbClr val="475569"/>
                </a:solidFill>
                <a:latin typeface="Calibri" pitchFamily="34" charset="0"/>
                <a:ea typeface="Calibri" pitchFamily="34" charset="-122"/>
                <a:cs typeface="Calibri" pitchFamily="34" charset="-120"/>
              </a:rPr>
              <a:t>Resting BP:</a:t>
            </a:r>
            <a:endParaRPr lang="en-US" sz="1150" dirty="0"/>
          </a:p>
        </p:txBody>
      </p:sp>
      <p:sp>
        <p:nvSpPr>
          <p:cNvPr id="15" name="Text 13"/>
          <p:cNvSpPr/>
          <p:nvPr/>
        </p:nvSpPr>
        <p:spPr>
          <a:xfrm>
            <a:off x="1901952" y="2395728"/>
            <a:ext cx="2423160" cy="310896"/>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145 mmHg</a:t>
            </a:r>
            <a:endParaRPr lang="en-US" sz="1150" dirty="0"/>
          </a:p>
        </p:txBody>
      </p:sp>
      <p:sp>
        <p:nvSpPr>
          <p:cNvPr id="16" name="Text 14"/>
          <p:cNvSpPr/>
          <p:nvPr/>
        </p:nvSpPr>
        <p:spPr>
          <a:xfrm>
            <a:off x="402336" y="2761488"/>
            <a:ext cx="1463040" cy="310896"/>
          </a:xfrm>
          <a:prstGeom prst="rect">
            <a:avLst/>
          </a:prstGeom>
          <a:noFill/>
          <a:ln/>
        </p:spPr>
        <p:txBody>
          <a:bodyPr wrap="square" rtlCol="0" anchor="ctr"/>
          <a:lstStyle/>
          <a:p>
            <a:pPr marL="0" indent="0">
              <a:buNone/>
            </a:pPr>
            <a:r>
              <a:rPr lang="en-US" sz="1150" b="1" dirty="0">
                <a:solidFill>
                  <a:srgbClr val="475569"/>
                </a:solidFill>
                <a:latin typeface="Calibri" pitchFamily="34" charset="0"/>
                <a:ea typeface="Calibri" pitchFamily="34" charset="-122"/>
                <a:cs typeface="Calibri" pitchFamily="34" charset="-120"/>
              </a:rPr>
              <a:t>Cholesterol:</a:t>
            </a:r>
            <a:endParaRPr lang="en-US" sz="1150" dirty="0"/>
          </a:p>
        </p:txBody>
      </p:sp>
      <p:sp>
        <p:nvSpPr>
          <p:cNvPr id="17" name="Text 15"/>
          <p:cNvSpPr/>
          <p:nvPr/>
        </p:nvSpPr>
        <p:spPr>
          <a:xfrm>
            <a:off x="1901952" y="2761488"/>
            <a:ext cx="2423160" cy="310896"/>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233 mg/dl</a:t>
            </a:r>
            <a:endParaRPr lang="en-US" sz="1150" dirty="0"/>
          </a:p>
        </p:txBody>
      </p:sp>
      <p:sp>
        <p:nvSpPr>
          <p:cNvPr id="18" name="Text 16"/>
          <p:cNvSpPr/>
          <p:nvPr/>
        </p:nvSpPr>
        <p:spPr>
          <a:xfrm>
            <a:off x="402336" y="3127248"/>
            <a:ext cx="1463040" cy="310896"/>
          </a:xfrm>
          <a:prstGeom prst="rect">
            <a:avLst/>
          </a:prstGeom>
          <a:noFill/>
          <a:ln/>
        </p:spPr>
        <p:txBody>
          <a:bodyPr wrap="square" rtlCol="0" anchor="ctr"/>
          <a:lstStyle/>
          <a:p>
            <a:pPr marL="0" indent="0">
              <a:buNone/>
            </a:pPr>
            <a:r>
              <a:rPr lang="en-US" sz="1150" b="1" dirty="0">
                <a:solidFill>
                  <a:srgbClr val="475569"/>
                </a:solidFill>
                <a:latin typeface="Calibri" pitchFamily="34" charset="0"/>
                <a:ea typeface="Calibri" pitchFamily="34" charset="-122"/>
                <a:cs typeface="Calibri" pitchFamily="34" charset="-120"/>
              </a:rPr>
              <a:t>Max HR:</a:t>
            </a:r>
            <a:endParaRPr lang="en-US" sz="1150" dirty="0"/>
          </a:p>
        </p:txBody>
      </p:sp>
      <p:sp>
        <p:nvSpPr>
          <p:cNvPr id="19" name="Text 17"/>
          <p:cNvSpPr/>
          <p:nvPr/>
        </p:nvSpPr>
        <p:spPr>
          <a:xfrm>
            <a:off x="1901952" y="3127248"/>
            <a:ext cx="2423160" cy="310896"/>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150 bpm</a:t>
            </a:r>
            <a:endParaRPr lang="en-US" sz="1150" dirty="0"/>
          </a:p>
        </p:txBody>
      </p:sp>
      <p:sp>
        <p:nvSpPr>
          <p:cNvPr id="20" name="Text 18"/>
          <p:cNvSpPr/>
          <p:nvPr/>
        </p:nvSpPr>
        <p:spPr>
          <a:xfrm>
            <a:off x="402336" y="3493008"/>
            <a:ext cx="1463040" cy="310896"/>
          </a:xfrm>
          <a:prstGeom prst="rect">
            <a:avLst/>
          </a:prstGeom>
          <a:noFill/>
          <a:ln/>
        </p:spPr>
        <p:txBody>
          <a:bodyPr wrap="square" rtlCol="0" anchor="ctr"/>
          <a:lstStyle/>
          <a:p>
            <a:pPr marL="0" indent="0">
              <a:buNone/>
            </a:pPr>
            <a:r>
              <a:rPr lang="en-US" sz="1150" b="1" dirty="0">
                <a:solidFill>
                  <a:srgbClr val="475569"/>
                </a:solidFill>
                <a:latin typeface="Calibri" pitchFamily="34" charset="0"/>
                <a:ea typeface="Calibri" pitchFamily="34" charset="-122"/>
                <a:cs typeface="Calibri" pitchFamily="34" charset="-120"/>
              </a:rPr>
              <a:t>ST Depression:</a:t>
            </a:r>
            <a:endParaRPr lang="en-US" sz="1150" dirty="0"/>
          </a:p>
        </p:txBody>
      </p:sp>
      <p:sp>
        <p:nvSpPr>
          <p:cNvPr id="21" name="Text 19"/>
          <p:cNvSpPr/>
          <p:nvPr/>
        </p:nvSpPr>
        <p:spPr>
          <a:xfrm>
            <a:off x="1901952" y="3493008"/>
            <a:ext cx="2423160" cy="310896"/>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2.3</a:t>
            </a:r>
            <a:endParaRPr lang="en-US" sz="1150" dirty="0"/>
          </a:p>
        </p:txBody>
      </p:sp>
      <p:sp>
        <p:nvSpPr>
          <p:cNvPr id="22" name="Shape 20"/>
          <p:cNvSpPr/>
          <p:nvPr/>
        </p:nvSpPr>
        <p:spPr>
          <a:xfrm>
            <a:off x="384048" y="3913632"/>
            <a:ext cx="3877056" cy="1042416"/>
          </a:xfrm>
          <a:prstGeom prst="rect">
            <a:avLst/>
          </a:prstGeom>
          <a:solidFill>
            <a:srgbClr val="FEE2E2"/>
          </a:solidFill>
          <a:ln w="25400">
            <a:solidFill>
              <a:srgbClr val="DC2626"/>
            </a:solidFill>
            <a:prstDash val="solid"/>
          </a:ln>
        </p:spPr>
        <p:txBody>
          <a:bodyPr/>
          <a:lstStyle/>
          <a:p>
            <a:endParaRPr lang="en-IN"/>
          </a:p>
        </p:txBody>
      </p:sp>
      <p:sp>
        <p:nvSpPr>
          <p:cNvPr id="23" name="Text 21"/>
          <p:cNvSpPr/>
          <p:nvPr/>
        </p:nvSpPr>
        <p:spPr>
          <a:xfrm>
            <a:off x="384048" y="3931920"/>
            <a:ext cx="1280160" cy="1005840"/>
          </a:xfrm>
          <a:prstGeom prst="rect">
            <a:avLst/>
          </a:prstGeom>
          <a:noFill/>
          <a:ln/>
        </p:spPr>
        <p:txBody>
          <a:bodyPr wrap="square" rtlCol="0" anchor="ctr"/>
          <a:lstStyle/>
          <a:p>
            <a:pPr marL="0" indent="0" algn="ctr">
              <a:buNone/>
            </a:pPr>
            <a:r>
              <a:rPr lang="en-US" sz="3600" b="1" dirty="0">
                <a:solidFill>
                  <a:srgbClr val="DC2626"/>
                </a:solidFill>
                <a:latin typeface="Calibri" pitchFamily="34" charset="0"/>
                <a:ea typeface="Calibri" pitchFamily="34" charset="-122"/>
                <a:cs typeface="Calibri" pitchFamily="34" charset="-120"/>
              </a:rPr>
              <a:t>~72%</a:t>
            </a:r>
            <a:endParaRPr lang="en-US" sz="3600" dirty="0"/>
          </a:p>
        </p:txBody>
      </p:sp>
      <p:sp>
        <p:nvSpPr>
          <p:cNvPr id="24" name="Text 22"/>
          <p:cNvSpPr/>
          <p:nvPr/>
        </p:nvSpPr>
        <p:spPr>
          <a:xfrm>
            <a:off x="1700784" y="4041648"/>
            <a:ext cx="2377440" cy="347472"/>
          </a:xfrm>
          <a:prstGeom prst="rect">
            <a:avLst/>
          </a:prstGeom>
          <a:noFill/>
          <a:ln/>
        </p:spPr>
        <p:txBody>
          <a:bodyPr wrap="square" rtlCol="0" anchor="ctr"/>
          <a:lstStyle/>
          <a:p>
            <a:pPr marL="0" indent="0">
              <a:buNone/>
            </a:pPr>
            <a:r>
              <a:rPr lang="en-US" sz="1600" b="1" dirty="0">
                <a:solidFill>
                  <a:srgbClr val="DC2626"/>
                </a:solidFill>
                <a:latin typeface="Calibri" pitchFamily="34" charset="0"/>
                <a:ea typeface="Calibri" pitchFamily="34" charset="-122"/>
                <a:cs typeface="Calibri" pitchFamily="34" charset="-120"/>
              </a:rPr>
              <a:t>HIGH RISK</a:t>
            </a:r>
            <a:endParaRPr lang="en-US" sz="1600" dirty="0"/>
          </a:p>
        </p:txBody>
      </p:sp>
      <p:sp>
        <p:nvSpPr>
          <p:cNvPr id="25" name="Text 23"/>
          <p:cNvSpPr/>
          <p:nvPr/>
        </p:nvSpPr>
        <p:spPr>
          <a:xfrm>
            <a:off x="1700784" y="4425696"/>
            <a:ext cx="2377440" cy="365760"/>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Immediate evaluation advised</a:t>
            </a:r>
            <a:endParaRPr lang="en-US" sz="1050" dirty="0"/>
          </a:p>
        </p:txBody>
      </p:sp>
      <p:sp>
        <p:nvSpPr>
          <p:cNvPr id="26" name="Shape 24"/>
          <p:cNvSpPr/>
          <p:nvPr/>
        </p:nvSpPr>
        <p:spPr>
          <a:xfrm>
            <a:off x="4700016" y="749808"/>
            <a:ext cx="4133088" cy="4297680"/>
          </a:xfrm>
          <a:prstGeom prst="rect">
            <a:avLst/>
          </a:prstGeom>
          <a:solidFill>
            <a:srgbClr val="FFFFFF"/>
          </a:solidFill>
          <a:ln w="25400">
            <a:solidFill>
              <a:srgbClr val="16A34A"/>
            </a:solidFill>
            <a:prstDash val="solid"/>
          </a:ln>
        </p:spPr>
        <p:txBody>
          <a:bodyPr/>
          <a:lstStyle/>
          <a:p>
            <a:endParaRPr lang="en-IN"/>
          </a:p>
        </p:txBody>
      </p:sp>
      <p:sp>
        <p:nvSpPr>
          <p:cNvPr id="27" name="Shape 25"/>
          <p:cNvSpPr/>
          <p:nvPr/>
        </p:nvSpPr>
        <p:spPr>
          <a:xfrm>
            <a:off x="4700016" y="749808"/>
            <a:ext cx="4133088" cy="475488"/>
          </a:xfrm>
          <a:prstGeom prst="rect">
            <a:avLst/>
          </a:prstGeom>
          <a:solidFill>
            <a:srgbClr val="16A34A"/>
          </a:solidFill>
          <a:ln w="12700">
            <a:solidFill>
              <a:srgbClr val="16A34A"/>
            </a:solidFill>
            <a:prstDash val="solid"/>
          </a:ln>
        </p:spPr>
        <p:txBody>
          <a:bodyPr/>
          <a:lstStyle/>
          <a:p>
            <a:endParaRPr lang="en-IN"/>
          </a:p>
        </p:txBody>
      </p:sp>
      <p:sp>
        <p:nvSpPr>
          <p:cNvPr id="28" name="Text 26"/>
          <p:cNvSpPr/>
          <p:nvPr/>
        </p:nvSpPr>
        <p:spPr>
          <a:xfrm>
            <a:off x="4809744" y="768096"/>
            <a:ext cx="3913632" cy="420624"/>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Patient B — Low Risk</a:t>
            </a:r>
            <a:endParaRPr lang="en-US" sz="1350" dirty="0"/>
          </a:p>
        </p:txBody>
      </p:sp>
      <p:sp>
        <p:nvSpPr>
          <p:cNvPr id="29" name="Text 27"/>
          <p:cNvSpPr/>
          <p:nvPr/>
        </p:nvSpPr>
        <p:spPr>
          <a:xfrm>
            <a:off x="4846320" y="1298448"/>
            <a:ext cx="1463040" cy="310896"/>
          </a:xfrm>
          <a:prstGeom prst="rect">
            <a:avLst/>
          </a:prstGeom>
          <a:noFill/>
          <a:ln/>
        </p:spPr>
        <p:txBody>
          <a:bodyPr wrap="square" rtlCol="0" anchor="ctr"/>
          <a:lstStyle/>
          <a:p>
            <a:pPr marL="0" indent="0">
              <a:buNone/>
            </a:pPr>
            <a:r>
              <a:rPr lang="en-US" sz="1150" b="1" dirty="0">
                <a:solidFill>
                  <a:srgbClr val="475569"/>
                </a:solidFill>
                <a:latin typeface="Calibri" pitchFamily="34" charset="0"/>
                <a:ea typeface="Calibri" pitchFamily="34" charset="-122"/>
                <a:cs typeface="Calibri" pitchFamily="34" charset="-120"/>
              </a:rPr>
              <a:t>Age:</a:t>
            </a:r>
            <a:endParaRPr lang="en-US" sz="1150" dirty="0"/>
          </a:p>
        </p:txBody>
      </p:sp>
      <p:sp>
        <p:nvSpPr>
          <p:cNvPr id="30" name="Text 28"/>
          <p:cNvSpPr/>
          <p:nvPr/>
        </p:nvSpPr>
        <p:spPr>
          <a:xfrm>
            <a:off x="6345936" y="1298448"/>
            <a:ext cx="2423160" cy="310896"/>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28</a:t>
            </a:r>
            <a:endParaRPr lang="en-US" sz="1150" dirty="0"/>
          </a:p>
        </p:txBody>
      </p:sp>
      <p:sp>
        <p:nvSpPr>
          <p:cNvPr id="31" name="Text 29"/>
          <p:cNvSpPr/>
          <p:nvPr/>
        </p:nvSpPr>
        <p:spPr>
          <a:xfrm>
            <a:off x="4846320" y="1664208"/>
            <a:ext cx="1463040" cy="310896"/>
          </a:xfrm>
          <a:prstGeom prst="rect">
            <a:avLst/>
          </a:prstGeom>
          <a:noFill/>
          <a:ln/>
        </p:spPr>
        <p:txBody>
          <a:bodyPr wrap="square" rtlCol="0" anchor="ctr"/>
          <a:lstStyle/>
          <a:p>
            <a:pPr marL="0" indent="0">
              <a:buNone/>
            </a:pPr>
            <a:r>
              <a:rPr lang="en-US" sz="1150" b="1" dirty="0">
                <a:solidFill>
                  <a:srgbClr val="475569"/>
                </a:solidFill>
                <a:latin typeface="Calibri" pitchFamily="34" charset="0"/>
                <a:ea typeface="Calibri" pitchFamily="34" charset="-122"/>
                <a:cs typeface="Calibri" pitchFamily="34" charset="-120"/>
              </a:rPr>
              <a:t>Sex:</a:t>
            </a:r>
            <a:endParaRPr lang="en-US" sz="1150" dirty="0"/>
          </a:p>
        </p:txBody>
      </p:sp>
      <p:sp>
        <p:nvSpPr>
          <p:cNvPr id="32" name="Text 30"/>
          <p:cNvSpPr/>
          <p:nvPr/>
        </p:nvSpPr>
        <p:spPr>
          <a:xfrm>
            <a:off x="6345936" y="1664208"/>
            <a:ext cx="2423160" cy="310896"/>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Female</a:t>
            </a:r>
            <a:endParaRPr lang="en-US" sz="1150" dirty="0"/>
          </a:p>
        </p:txBody>
      </p:sp>
      <p:sp>
        <p:nvSpPr>
          <p:cNvPr id="33" name="Text 31"/>
          <p:cNvSpPr/>
          <p:nvPr/>
        </p:nvSpPr>
        <p:spPr>
          <a:xfrm>
            <a:off x="4846320" y="2029968"/>
            <a:ext cx="1463040" cy="310896"/>
          </a:xfrm>
          <a:prstGeom prst="rect">
            <a:avLst/>
          </a:prstGeom>
          <a:noFill/>
          <a:ln/>
        </p:spPr>
        <p:txBody>
          <a:bodyPr wrap="square" rtlCol="0" anchor="ctr"/>
          <a:lstStyle/>
          <a:p>
            <a:pPr marL="0" indent="0">
              <a:buNone/>
            </a:pPr>
            <a:r>
              <a:rPr lang="en-US" sz="1150" b="1" dirty="0">
                <a:solidFill>
                  <a:srgbClr val="475569"/>
                </a:solidFill>
                <a:latin typeface="Calibri" pitchFamily="34" charset="0"/>
                <a:ea typeface="Calibri" pitchFamily="34" charset="-122"/>
                <a:cs typeface="Calibri" pitchFamily="34" charset="-120"/>
              </a:rPr>
              <a:t>Chest Pain:</a:t>
            </a:r>
            <a:endParaRPr lang="en-US" sz="1150" dirty="0"/>
          </a:p>
        </p:txBody>
      </p:sp>
      <p:sp>
        <p:nvSpPr>
          <p:cNvPr id="34" name="Text 32"/>
          <p:cNvSpPr/>
          <p:nvPr/>
        </p:nvSpPr>
        <p:spPr>
          <a:xfrm>
            <a:off x="6345936" y="2029968"/>
            <a:ext cx="2423160" cy="310896"/>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Typical Angina (type 0)</a:t>
            </a:r>
            <a:endParaRPr lang="en-US" sz="1150" dirty="0"/>
          </a:p>
        </p:txBody>
      </p:sp>
      <p:sp>
        <p:nvSpPr>
          <p:cNvPr id="35" name="Text 33"/>
          <p:cNvSpPr/>
          <p:nvPr/>
        </p:nvSpPr>
        <p:spPr>
          <a:xfrm>
            <a:off x="4846320" y="2395728"/>
            <a:ext cx="1463040" cy="310896"/>
          </a:xfrm>
          <a:prstGeom prst="rect">
            <a:avLst/>
          </a:prstGeom>
          <a:noFill/>
          <a:ln/>
        </p:spPr>
        <p:txBody>
          <a:bodyPr wrap="square" rtlCol="0" anchor="ctr"/>
          <a:lstStyle/>
          <a:p>
            <a:pPr marL="0" indent="0">
              <a:buNone/>
            </a:pPr>
            <a:r>
              <a:rPr lang="en-US" sz="1150" b="1" dirty="0">
                <a:solidFill>
                  <a:srgbClr val="475569"/>
                </a:solidFill>
                <a:latin typeface="Calibri" pitchFamily="34" charset="0"/>
                <a:ea typeface="Calibri" pitchFamily="34" charset="-122"/>
                <a:cs typeface="Calibri" pitchFamily="34" charset="-120"/>
              </a:rPr>
              <a:t>Resting BP:</a:t>
            </a:r>
            <a:endParaRPr lang="en-US" sz="1150" dirty="0"/>
          </a:p>
        </p:txBody>
      </p:sp>
      <p:sp>
        <p:nvSpPr>
          <p:cNvPr id="36" name="Text 34"/>
          <p:cNvSpPr/>
          <p:nvPr/>
        </p:nvSpPr>
        <p:spPr>
          <a:xfrm>
            <a:off x="6345936" y="2395728"/>
            <a:ext cx="2423160" cy="310896"/>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110 mmHg</a:t>
            </a:r>
            <a:endParaRPr lang="en-US" sz="1150" dirty="0"/>
          </a:p>
        </p:txBody>
      </p:sp>
      <p:sp>
        <p:nvSpPr>
          <p:cNvPr id="37" name="Text 35"/>
          <p:cNvSpPr/>
          <p:nvPr/>
        </p:nvSpPr>
        <p:spPr>
          <a:xfrm>
            <a:off x="4846320" y="2761488"/>
            <a:ext cx="1463040" cy="310896"/>
          </a:xfrm>
          <a:prstGeom prst="rect">
            <a:avLst/>
          </a:prstGeom>
          <a:noFill/>
          <a:ln/>
        </p:spPr>
        <p:txBody>
          <a:bodyPr wrap="square" rtlCol="0" anchor="ctr"/>
          <a:lstStyle/>
          <a:p>
            <a:pPr marL="0" indent="0">
              <a:buNone/>
            </a:pPr>
            <a:r>
              <a:rPr lang="en-US" sz="1150" b="1" dirty="0">
                <a:solidFill>
                  <a:srgbClr val="475569"/>
                </a:solidFill>
                <a:latin typeface="Calibri" pitchFamily="34" charset="0"/>
                <a:ea typeface="Calibri" pitchFamily="34" charset="-122"/>
                <a:cs typeface="Calibri" pitchFamily="34" charset="-120"/>
              </a:rPr>
              <a:t>Cholesterol:</a:t>
            </a:r>
            <a:endParaRPr lang="en-US" sz="1150" dirty="0"/>
          </a:p>
        </p:txBody>
      </p:sp>
      <p:sp>
        <p:nvSpPr>
          <p:cNvPr id="38" name="Text 36"/>
          <p:cNvSpPr/>
          <p:nvPr/>
        </p:nvSpPr>
        <p:spPr>
          <a:xfrm>
            <a:off x="6345936" y="2761488"/>
            <a:ext cx="2423160" cy="310896"/>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165 mg/dl</a:t>
            </a:r>
            <a:endParaRPr lang="en-US" sz="1150" dirty="0"/>
          </a:p>
        </p:txBody>
      </p:sp>
      <p:sp>
        <p:nvSpPr>
          <p:cNvPr id="39" name="Text 37"/>
          <p:cNvSpPr/>
          <p:nvPr/>
        </p:nvSpPr>
        <p:spPr>
          <a:xfrm>
            <a:off x="4846320" y="3127248"/>
            <a:ext cx="1463040" cy="310896"/>
          </a:xfrm>
          <a:prstGeom prst="rect">
            <a:avLst/>
          </a:prstGeom>
          <a:noFill/>
          <a:ln/>
        </p:spPr>
        <p:txBody>
          <a:bodyPr wrap="square" rtlCol="0" anchor="ctr"/>
          <a:lstStyle/>
          <a:p>
            <a:pPr marL="0" indent="0">
              <a:buNone/>
            </a:pPr>
            <a:r>
              <a:rPr lang="en-US" sz="1150" b="1" dirty="0">
                <a:solidFill>
                  <a:srgbClr val="475569"/>
                </a:solidFill>
                <a:latin typeface="Calibri" pitchFamily="34" charset="0"/>
                <a:ea typeface="Calibri" pitchFamily="34" charset="-122"/>
                <a:cs typeface="Calibri" pitchFamily="34" charset="-120"/>
              </a:rPr>
              <a:t>Max HR:</a:t>
            </a:r>
            <a:endParaRPr lang="en-US" sz="1150" dirty="0"/>
          </a:p>
        </p:txBody>
      </p:sp>
      <p:sp>
        <p:nvSpPr>
          <p:cNvPr id="40" name="Text 38"/>
          <p:cNvSpPr/>
          <p:nvPr/>
        </p:nvSpPr>
        <p:spPr>
          <a:xfrm>
            <a:off x="6345936" y="3127248"/>
            <a:ext cx="2423160" cy="310896"/>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190 bpm</a:t>
            </a:r>
            <a:endParaRPr lang="en-US" sz="1150" dirty="0"/>
          </a:p>
        </p:txBody>
      </p:sp>
      <p:sp>
        <p:nvSpPr>
          <p:cNvPr id="41" name="Text 39"/>
          <p:cNvSpPr/>
          <p:nvPr/>
        </p:nvSpPr>
        <p:spPr>
          <a:xfrm>
            <a:off x="4846320" y="3493008"/>
            <a:ext cx="1463040" cy="310896"/>
          </a:xfrm>
          <a:prstGeom prst="rect">
            <a:avLst/>
          </a:prstGeom>
          <a:noFill/>
          <a:ln/>
        </p:spPr>
        <p:txBody>
          <a:bodyPr wrap="square" rtlCol="0" anchor="ctr"/>
          <a:lstStyle/>
          <a:p>
            <a:pPr marL="0" indent="0">
              <a:buNone/>
            </a:pPr>
            <a:r>
              <a:rPr lang="en-US" sz="1150" b="1" dirty="0">
                <a:solidFill>
                  <a:srgbClr val="475569"/>
                </a:solidFill>
                <a:latin typeface="Calibri" pitchFamily="34" charset="0"/>
                <a:ea typeface="Calibri" pitchFamily="34" charset="-122"/>
                <a:cs typeface="Calibri" pitchFamily="34" charset="-120"/>
              </a:rPr>
              <a:t>ST Depression:</a:t>
            </a:r>
            <a:endParaRPr lang="en-US" sz="1150" dirty="0"/>
          </a:p>
        </p:txBody>
      </p:sp>
      <p:sp>
        <p:nvSpPr>
          <p:cNvPr id="42" name="Text 40"/>
          <p:cNvSpPr/>
          <p:nvPr/>
        </p:nvSpPr>
        <p:spPr>
          <a:xfrm>
            <a:off x="6345936" y="3493008"/>
            <a:ext cx="2423160" cy="310896"/>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0.0</a:t>
            </a:r>
            <a:endParaRPr lang="en-US" sz="1150" dirty="0"/>
          </a:p>
        </p:txBody>
      </p:sp>
      <p:sp>
        <p:nvSpPr>
          <p:cNvPr id="43" name="Shape 41"/>
          <p:cNvSpPr/>
          <p:nvPr/>
        </p:nvSpPr>
        <p:spPr>
          <a:xfrm>
            <a:off x="4828032" y="3913632"/>
            <a:ext cx="3877056" cy="1042416"/>
          </a:xfrm>
          <a:prstGeom prst="rect">
            <a:avLst/>
          </a:prstGeom>
          <a:solidFill>
            <a:srgbClr val="DCFCE7"/>
          </a:solidFill>
          <a:ln w="25400">
            <a:solidFill>
              <a:srgbClr val="16A34A"/>
            </a:solidFill>
            <a:prstDash val="solid"/>
          </a:ln>
        </p:spPr>
        <p:txBody>
          <a:bodyPr/>
          <a:lstStyle/>
          <a:p>
            <a:endParaRPr lang="en-IN"/>
          </a:p>
        </p:txBody>
      </p:sp>
      <p:sp>
        <p:nvSpPr>
          <p:cNvPr id="44" name="Text 42"/>
          <p:cNvSpPr/>
          <p:nvPr/>
        </p:nvSpPr>
        <p:spPr>
          <a:xfrm>
            <a:off x="4828032" y="3931920"/>
            <a:ext cx="1280160" cy="1005840"/>
          </a:xfrm>
          <a:prstGeom prst="rect">
            <a:avLst/>
          </a:prstGeom>
          <a:noFill/>
          <a:ln/>
        </p:spPr>
        <p:txBody>
          <a:bodyPr wrap="square" rtlCol="0" anchor="ctr"/>
          <a:lstStyle/>
          <a:p>
            <a:pPr marL="0" indent="0" algn="ctr">
              <a:buNone/>
            </a:pPr>
            <a:r>
              <a:rPr lang="en-US" sz="3600" b="1" dirty="0">
                <a:solidFill>
                  <a:srgbClr val="16A34A"/>
                </a:solidFill>
                <a:latin typeface="Calibri" pitchFamily="34" charset="0"/>
                <a:ea typeface="Calibri" pitchFamily="34" charset="-122"/>
                <a:cs typeface="Calibri" pitchFamily="34" charset="-120"/>
              </a:rPr>
              <a:t>~14%</a:t>
            </a:r>
            <a:endParaRPr lang="en-US" sz="3600" dirty="0"/>
          </a:p>
        </p:txBody>
      </p:sp>
      <p:sp>
        <p:nvSpPr>
          <p:cNvPr id="45" name="Text 43"/>
          <p:cNvSpPr/>
          <p:nvPr/>
        </p:nvSpPr>
        <p:spPr>
          <a:xfrm>
            <a:off x="6144768" y="4041648"/>
            <a:ext cx="2377440" cy="347472"/>
          </a:xfrm>
          <a:prstGeom prst="rect">
            <a:avLst/>
          </a:prstGeom>
          <a:noFill/>
          <a:ln/>
        </p:spPr>
        <p:txBody>
          <a:bodyPr wrap="square" rtlCol="0" anchor="ctr"/>
          <a:lstStyle/>
          <a:p>
            <a:pPr marL="0" indent="0">
              <a:buNone/>
            </a:pPr>
            <a:r>
              <a:rPr lang="en-US" sz="1600" b="1" dirty="0">
                <a:solidFill>
                  <a:srgbClr val="16A34A"/>
                </a:solidFill>
                <a:latin typeface="Calibri" pitchFamily="34" charset="0"/>
                <a:ea typeface="Calibri" pitchFamily="34" charset="-122"/>
                <a:cs typeface="Calibri" pitchFamily="34" charset="-120"/>
              </a:rPr>
              <a:t>LOW RISK</a:t>
            </a:r>
            <a:endParaRPr lang="en-US" sz="1600" dirty="0"/>
          </a:p>
        </p:txBody>
      </p:sp>
      <p:sp>
        <p:nvSpPr>
          <p:cNvPr id="46" name="Text 44"/>
          <p:cNvSpPr/>
          <p:nvPr/>
        </p:nvSpPr>
        <p:spPr>
          <a:xfrm>
            <a:off x="6144768" y="4425696"/>
            <a:ext cx="2377440" cy="365760"/>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Routine monitoring recommended</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9488"/>
          </a:solidFill>
          <a:ln w="12700">
            <a:solidFill>
              <a:srgbClr val="0D9488"/>
            </a:solidFill>
            <a:prstDash val="solid"/>
          </a:ln>
        </p:spPr>
        <p:txBody>
          <a:bodyPr/>
          <a:lstStyle/>
          <a:p>
            <a:endParaRPr lang="en-IN"/>
          </a:p>
        </p:txBody>
      </p:sp>
      <p:sp>
        <p:nvSpPr>
          <p:cNvPr id="3" name="Text 1"/>
          <p:cNvSpPr/>
          <p:nvPr/>
        </p:nvSpPr>
        <p:spPr>
          <a:xfrm>
            <a:off x="320040" y="0"/>
            <a:ext cx="850392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Technical Challenges — What We Hit &amp; How We Fixed It</a:t>
            </a:r>
            <a:endParaRPr lang="en-US" sz="2200" dirty="0"/>
          </a:p>
        </p:txBody>
      </p:sp>
      <p:sp>
        <p:nvSpPr>
          <p:cNvPr id="4" name="Shape 2"/>
          <p:cNvSpPr/>
          <p:nvPr/>
        </p:nvSpPr>
        <p:spPr>
          <a:xfrm>
            <a:off x="0" y="5184648"/>
            <a:ext cx="9144000" cy="73152"/>
          </a:xfrm>
          <a:prstGeom prst="rect">
            <a:avLst/>
          </a:prstGeom>
          <a:solidFill>
            <a:srgbClr val="CCFBF1"/>
          </a:solidFill>
          <a:ln w="12700">
            <a:solidFill>
              <a:srgbClr val="CCFBF1"/>
            </a:solidFill>
            <a:prstDash val="solid"/>
          </a:ln>
        </p:spPr>
        <p:txBody>
          <a:bodyPr/>
          <a:lstStyle/>
          <a:p>
            <a:endParaRPr lang="en-IN"/>
          </a:p>
        </p:txBody>
      </p:sp>
      <p:sp>
        <p:nvSpPr>
          <p:cNvPr id="5" name="Shape 3"/>
          <p:cNvSpPr/>
          <p:nvPr/>
        </p:nvSpPr>
        <p:spPr>
          <a:xfrm>
            <a:off x="256032" y="804672"/>
            <a:ext cx="3886200" cy="676656"/>
          </a:xfrm>
          <a:prstGeom prst="rect">
            <a:avLst/>
          </a:prstGeom>
          <a:solidFill>
            <a:srgbClr val="FEE2E2"/>
          </a:solidFill>
          <a:ln w="12700">
            <a:solidFill>
              <a:srgbClr val="DC2626"/>
            </a:solidFill>
            <a:prstDash val="solid"/>
          </a:ln>
        </p:spPr>
        <p:txBody>
          <a:bodyPr/>
          <a:lstStyle/>
          <a:p>
            <a:endParaRPr lang="en-IN"/>
          </a:p>
        </p:txBody>
      </p:sp>
      <p:sp>
        <p:nvSpPr>
          <p:cNvPr id="6" name="Text 4"/>
          <p:cNvSpPr/>
          <p:nvPr/>
        </p:nvSpPr>
        <p:spPr>
          <a:xfrm>
            <a:off x="256032" y="822960"/>
            <a:ext cx="749808" cy="201168"/>
          </a:xfrm>
          <a:prstGeom prst="rect">
            <a:avLst/>
          </a:prstGeom>
          <a:noFill/>
          <a:ln/>
        </p:spPr>
        <p:txBody>
          <a:bodyPr wrap="square" rtlCol="0" anchor="ctr"/>
          <a:lstStyle/>
          <a:p>
            <a:pPr marL="0" indent="0" algn="ctr">
              <a:buNone/>
            </a:pPr>
            <a:r>
              <a:rPr lang="en-US" sz="850" b="1" dirty="0">
                <a:solidFill>
                  <a:srgbClr val="DC2626"/>
                </a:solidFill>
                <a:latin typeface="Calibri" pitchFamily="34" charset="0"/>
                <a:ea typeface="Calibri" pitchFamily="34" charset="-122"/>
                <a:cs typeface="Calibri" pitchFamily="34" charset="-120"/>
              </a:rPr>
              <a:t>Problem</a:t>
            </a:r>
            <a:endParaRPr lang="en-US" sz="850" dirty="0"/>
          </a:p>
        </p:txBody>
      </p:sp>
      <p:sp>
        <p:nvSpPr>
          <p:cNvPr id="7" name="Text 5"/>
          <p:cNvSpPr/>
          <p:nvPr/>
        </p:nvSpPr>
        <p:spPr>
          <a:xfrm>
            <a:off x="292608" y="1024128"/>
            <a:ext cx="3803904" cy="402336"/>
          </a:xfrm>
          <a:prstGeom prst="rect">
            <a:avLst/>
          </a:prstGeom>
          <a:noFill/>
          <a:ln/>
        </p:spPr>
        <p:txBody>
          <a:bodyPr wrap="square" rtlCol="0" anchor="ctr"/>
          <a:lstStyle/>
          <a:p>
            <a:pPr marL="0" indent="0">
              <a:buNone/>
            </a:pPr>
            <a:r>
              <a:rPr lang="en-US" sz="1100" b="1" dirty="0">
                <a:solidFill>
                  <a:srgbClr val="DC2626"/>
                </a:solidFill>
                <a:latin typeface="Calibri" pitchFamily="34" charset="0"/>
                <a:ea typeface="Calibri" pitchFamily="34" charset="-122"/>
                <a:cs typeface="Calibri" pitchFamily="34" charset="-120"/>
              </a:rPr>
              <a:t>Feature column order broke predictions</a:t>
            </a:r>
            <a:endParaRPr lang="en-US" sz="1100" dirty="0"/>
          </a:p>
        </p:txBody>
      </p:sp>
      <p:sp>
        <p:nvSpPr>
          <p:cNvPr id="8" name="Text 6"/>
          <p:cNvSpPr/>
          <p:nvPr/>
        </p:nvSpPr>
        <p:spPr>
          <a:xfrm>
            <a:off x="4206240" y="1024128"/>
            <a:ext cx="365760" cy="347472"/>
          </a:xfrm>
          <a:prstGeom prst="rect">
            <a:avLst/>
          </a:prstGeom>
          <a:noFill/>
          <a:ln/>
        </p:spPr>
        <p:txBody>
          <a:bodyPr wrap="square" rtlCol="0" anchor="ctr"/>
          <a:lstStyle/>
          <a:p>
            <a:pPr marL="0" indent="0" algn="ctr">
              <a:buNone/>
            </a:pPr>
            <a:r>
              <a:rPr lang="en-US" sz="1800" b="1" dirty="0">
                <a:solidFill>
                  <a:srgbClr val="94A3B8"/>
                </a:solidFill>
                <a:latin typeface="Calibri" pitchFamily="34" charset="0"/>
                <a:ea typeface="Calibri" pitchFamily="34" charset="-122"/>
                <a:cs typeface="Calibri" pitchFamily="34" charset="-120"/>
              </a:rPr>
              <a:t>→</a:t>
            </a:r>
            <a:endParaRPr lang="en-US" sz="1800" dirty="0"/>
          </a:p>
        </p:txBody>
      </p:sp>
      <p:sp>
        <p:nvSpPr>
          <p:cNvPr id="9" name="Shape 7"/>
          <p:cNvSpPr/>
          <p:nvPr/>
        </p:nvSpPr>
        <p:spPr>
          <a:xfrm>
            <a:off x="4636008" y="804672"/>
            <a:ext cx="4251960" cy="676656"/>
          </a:xfrm>
          <a:prstGeom prst="rect">
            <a:avLst/>
          </a:prstGeom>
          <a:solidFill>
            <a:srgbClr val="DCFCE7"/>
          </a:solidFill>
          <a:ln w="12700">
            <a:solidFill>
              <a:srgbClr val="16A34A"/>
            </a:solidFill>
            <a:prstDash val="solid"/>
          </a:ln>
        </p:spPr>
        <p:txBody>
          <a:bodyPr/>
          <a:lstStyle/>
          <a:p>
            <a:endParaRPr lang="en-IN"/>
          </a:p>
        </p:txBody>
      </p:sp>
      <p:sp>
        <p:nvSpPr>
          <p:cNvPr id="10" name="Text 8"/>
          <p:cNvSpPr/>
          <p:nvPr/>
        </p:nvSpPr>
        <p:spPr>
          <a:xfrm>
            <a:off x="4636008" y="822960"/>
            <a:ext cx="548640" cy="201168"/>
          </a:xfrm>
          <a:prstGeom prst="rect">
            <a:avLst/>
          </a:prstGeom>
          <a:noFill/>
          <a:ln/>
        </p:spPr>
        <p:txBody>
          <a:bodyPr wrap="square" rtlCol="0" anchor="ctr"/>
          <a:lstStyle/>
          <a:p>
            <a:pPr marL="0" indent="0" algn="ctr">
              <a:buNone/>
            </a:pPr>
            <a:r>
              <a:rPr lang="en-US" sz="850" b="1" dirty="0">
                <a:solidFill>
                  <a:srgbClr val="16A34A"/>
                </a:solidFill>
                <a:latin typeface="Calibri" pitchFamily="34" charset="0"/>
                <a:ea typeface="Calibri" pitchFamily="34" charset="-122"/>
                <a:cs typeface="Calibri" pitchFamily="34" charset="-120"/>
              </a:rPr>
              <a:t>Fix</a:t>
            </a:r>
            <a:endParaRPr lang="en-US" sz="850" dirty="0"/>
          </a:p>
        </p:txBody>
      </p:sp>
      <p:sp>
        <p:nvSpPr>
          <p:cNvPr id="11" name="Text 9"/>
          <p:cNvSpPr/>
          <p:nvPr/>
        </p:nvSpPr>
        <p:spPr>
          <a:xfrm>
            <a:off x="4681728" y="1024128"/>
            <a:ext cx="4114800" cy="402336"/>
          </a:xfrm>
          <a:prstGeom prst="rect">
            <a:avLst/>
          </a:prstGeom>
          <a:noFill/>
          <a:ln/>
        </p:spPr>
        <p:txBody>
          <a:bodyPr wrap="square" rtlCol="0" anchor="ctr"/>
          <a:lstStyle/>
          <a:p>
            <a:pPr marL="0" indent="0">
              <a:buNone/>
            </a:pPr>
            <a:r>
              <a:rPr lang="en-US" sz="1100" b="1" dirty="0">
                <a:solidFill>
                  <a:srgbClr val="16A34A"/>
                </a:solidFill>
                <a:latin typeface="Calibri" pitchFamily="34" charset="0"/>
                <a:ea typeface="Calibri" pitchFamily="34" charset="-122"/>
                <a:cs typeface="Calibri" pitchFamily="34" charset="-120"/>
              </a:rPr>
              <a:t>Hardcoded FEATURE_ORDER list — np.array must match training column order exactly</a:t>
            </a:r>
            <a:endParaRPr lang="en-US" sz="1100" dirty="0"/>
          </a:p>
        </p:txBody>
      </p:sp>
      <p:sp>
        <p:nvSpPr>
          <p:cNvPr id="12" name="Shape 10"/>
          <p:cNvSpPr/>
          <p:nvPr/>
        </p:nvSpPr>
        <p:spPr>
          <a:xfrm>
            <a:off x="256032" y="1627632"/>
            <a:ext cx="3886200" cy="676656"/>
          </a:xfrm>
          <a:prstGeom prst="rect">
            <a:avLst/>
          </a:prstGeom>
          <a:solidFill>
            <a:srgbClr val="FEE2E2"/>
          </a:solidFill>
          <a:ln w="12700">
            <a:solidFill>
              <a:srgbClr val="DC2626"/>
            </a:solidFill>
            <a:prstDash val="solid"/>
          </a:ln>
        </p:spPr>
        <p:txBody>
          <a:bodyPr/>
          <a:lstStyle/>
          <a:p>
            <a:endParaRPr lang="en-IN"/>
          </a:p>
        </p:txBody>
      </p:sp>
      <p:sp>
        <p:nvSpPr>
          <p:cNvPr id="13" name="Text 11"/>
          <p:cNvSpPr/>
          <p:nvPr/>
        </p:nvSpPr>
        <p:spPr>
          <a:xfrm>
            <a:off x="256032" y="1645920"/>
            <a:ext cx="749808" cy="201168"/>
          </a:xfrm>
          <a:prstGeom prst="rect">
            <a:avLst/>
          </a:prstGeom>
          <a:noFill/>
          <a:ln/>
        </p:spPr>
        <p:txBody>
          <a:bodyPr wrap="square" rtlCol="0" anchor="ctr"/>
          <a:lstStyle/>
          <a:p>
            <a:pPr marL="0" indent="0" algn="ctr">
              <a:buNone/>
            </a:pPr>
            <a:r>
              <a:rPr lang="en-US" sz="850" b="1" dirty="0">
                <a:solidFill>
                  <a:srgbClr val="DC2626"/>
                </a:solidFill>
                <a:latin typeface="Calibri" pitchFamily="34" charset="0"/>
                <a:ea typeface="Calibri" pitchFamily="34" charset="-122"/>
                <a:cs typeface="Calibri" pitchFamily="34" charset="-120"/>
              </a:rPr>
              <a:t>Problem</a:t>
            </a:r>
            <a:endParaRPr lang="en-US" sz="850" dirty="0"/>
          </a:p>
        </p:txBody>
      </p:sp>
      <p:sp>
        <p:nvSpPr>
          <p:cNvPr id="14" name="Text 12"/>
          <p:cNvSpPr/>
          <p:nvPr/>
        </p:nvSpPr>
        <p:spPr>
          <a:xfrm>
            <a:off x="292608" y="1847088"/>
            <a:ext cx="3803904" cy="402336"/>
          </a:xfrm>
          <a:prstGeom prst="rect">
            <a:avLst/>
          </a:prstGeom>
          <a:noFill/>
          <a:ln/>
        </p:spPr>
        <p:txBody>
          <a:bodyPr wrap="square" rtlCol="0" anchor="ctr"/>
          <a:lstStyle/>
          <a:p>
            <a:pPr marL="0" indent="0">
              <a:buNone/>
            </a:pPr>
            <a:r>
              <a:rPr lang="en-US" sz="1100" b="1" dirty="0">
                <a:solidFill>
                  <a:srgbClr val="DC2626"/>
                </a:solidFill>
                <a:latin typeface="Calibri" pitchFamily="34" charset="0"/>
                <a:ea typeface="Calibri" pitchFamily="34" charset="-122"/>
                <a:cs typeface="Calibri" pitchFamily="34" charset="-120"/>
              </a:rPr>
              <a:t>HTML inputs always return strings (JS)</a:t>
            </a:r>
            <a:endParaRPr lang="en-US" sz="1100" dirty="0"/>
          </a:p>
        </p:txBody>
      </p:sp>
      <p:sp>
        <p:nvSpPr>
          <p:cNvPr id="15" name="Text 13"/>
          <p:cNvSpPr/>
          <p:nvPr/>
        </p:nvSpPr>
        <p:spPr>
          <a:xfrm>
            <a:off x="4206240" y="1847088"/>
            <a:ext cx="365760" cy="347472"/>
          </a:xfrm>
          <a:prstGeom prst="rect">
            <a:avLst/>
          </a:prstGeom>
          <a:noFill/>
          <a:ln/>
        </p:spPr>
        <p:txBody>
          <a:bodyPr wrap="square" rtlCol="0" anchor="ctr"/>
          <a:lstStyle/>
          <a:p>
            <a:pPr marL="0" indent="0" algn="ctr">
              <a:buNone/>
            </a:pPr>
            <a:r>
              <a:rPr lang="en-US" sz="1800" b="1" dirty="0">
                <a:solidFill>
                  <a:srgbClr val="94A3B8"/>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4636008" y="1627632"/>
            <a:ext cx="4251960" cy="676656"/>
          </a:xfrm>
          <a:prstGeom prst="rect">
            <a:avLst/>
          </a:prstGeom>
          <a:solidFill>
            <a:srgbClr val="DCFCE7"/>
          </a:solidFill>
          <a:ln w="12700">
            <a:solidFill>
              <a:srgbClr val="16A34A"/>
            </a:solidFill>
            <a:prstDash val="solid"/>
          </a:ln>
        </p:spPr>
        <p:txBody>
          <a:bodyPr/>
          <a:lstStyle/>
          <a:p>
            <a:endParaRPr lang="en-IN"/>
          </a:p>
        </p:txBody>
      </p:sp>
      <p:sp>
        <p:nvSpPr>
          <p:cNvPr id="17" name="Text 15"/>
          <p:cNvSpPr/>
          <p:nvPr/>
        </p:nvSpPr>
        <p:spPr>
          <a:xfrm>
            <a:off x="4636008" y="1645920"/>
            <a:ext cx="548640" cy="201168"/>
          </a:xfrm>
          <a:prstGeom prst="rect">
            <a:avLst/>
          </a:prstGeom>
          <a:noFill/>
          <a:ln/>
        </p:spPr>
        <p:txBody>
          <a:bodyPr wrap="square" rtlCol="0" anchor="ctr"/>
          <a:lstStyle/>
          <a:p>
            <a:pPr marL="0" indent="0" algn="ctr">
              <a:buNone/>
            </a:pPr>
            <a:r>
              <a:rPr lang="en-US" sz="850" b="1" dirty="0">
                <a:solidFill>
                  <a:srgbClr val="16A34A"/>
                </a:solidFill>
                <a:latin typeface="Calibri" pitchFamily="34" charset="0"/>
                <a:ea typeface="Calibri" pitchFamily="34" charset="-122"/>
                <a:cs typeface="Calibri" pitchFamily="34" charset="-120"/>
              </a:rPr>
              <a:t>Fix</a:t>
            </a:r>
            <a:endParaRPr lang="en-US" sz="850" dirty="0"/>
          </a:p>
        </p:txBody>
      </p:sp>
      <p:sp>
        <p:nvSpPr>
          <p:cNvPr id="18" name="Text 16"/>
          <p:cNvSpPr/>
          <p:nvPr/>
        </p:nvSpPr>
        <p:spPr>
          <a:xfrm>
            <a:off x="4681728" y="1847088"/>
            <a:ext cx="4114800" cy="402336"/>
          </a:xfrm>
          <a:prstGeom prst="rect">
            <a:avLst/>
          </a:prstGeom>
          <a:noFill/>
          <a:ln/>
        </p:spPr>
        <p:txBody>
          <a:bodyPr wrap="square" rtlCol="0" anchor="ctr"/>
          <a:lstStyle/>
          <a:p>
            <a:pPr marL="0" indent="0">
              <a:buNone/>
            </a:pPr>
            <a:r>
              <a:rPr lang="en-US" sz="1100" b="1" dirty="0">
                <a:solidFill>
                  <a:srgbClr val="16A34A"/>
                </a:solidFill>
                <a:latin typeface="Calibri" pitchFamily="34" charset="0"/>
                <a:ea typeface="Calibri" pitchFamily="34" charset="-122"/>
                <a:cs typeface="Calibri" pitchFamily="34" charset="-120"/>
              </a:rPr>
              <a:t>Added parseInt() and parseFloat() on all 11 fields before calling fetch()</a:t>
            </a:r>
            <a:endParaRPr lang="en-US" sz="1100" dirty="0"/>
          </a:p>
        </p:txBody>
      </p:sp>
      <p:sp>
        <p:nvSpPr>
          <p:cNvPr id="19" name="Shape 17"/>
          <p:cNvSpPr/>
          <p:nvPr/>
        </p:nvSpPr>
        <p:spPr>
          <a:xfrm>
            <a:off x="256032" y="2450592"/>
            <a:ext cx="3886200" cy="676656"/>
          </a:xfrm>
          <a:prstGeom prst="rect">
            <a:avLst/>
          </a:prstGeom>
          <a:solidFill>
            <a:srgbClr val="FEE2E2"/>
          </a:solidFill>
          <a:ln w="12700">
            <a:solidFill>
              <a:srgbClr val="DC2626"/>
            </a:solidFill>
            <a:prstDash val="solid"/>
          </a:ln>
        </p:spPr>
        <p:txBody>
          <a:bodyPr/>
          <a:lstStyle/>
          <a:p>
            <a:endParaRPr lang="en-IN"/>
          </a:p>
        </p:txBody>
      </p:sp>
      <p:sp>
        <p:nvSpPr>
          <p:cNvPr id="20" name="Text 18"/>
          <p:cNvSpPr/>
          <p:nvPr/>
        </p:nvSpPr>
        <p:spPr>
          <a:xfrm>
            <a:off x="256032" y="2468880"/>
            <a:ext cx="749808" cy="201168"/>
          </a:xfrm>
          <a:prstGeom prst="rect">
            <a:avLst/>
          </a:prstGeom>
          <a:noFill/>
          <a:ln/>
        </p:spPr>
        <p:txBody>
          <a:bodyPr wrap="square" rtlCol="0" anchor="ctr"/>
          <a:lstStyle/>
          <a:p>
            <a:pPr marL="0" indent="0" algn="ctr">
              <a:buNone/>
            </a:pPr>
            <a:r>
              <a:rPr lang="en-US" sz="850" b="1" dirty="0">
                <a:solidFill>
                  <a:srgbClr val="DC2626"/>
                </a:solidFill>
                <a:latin typeface="Calibri" pitchFamily="34" charset="0"/>
                <a:ea typeface="Calibri" pitchFamily="34" charset="-122"/>
                <a:cs typeface="Calibri" pitchFamily="34" charset="-120"/>
              </a:rPr>
              <a:t>Problem</a:t>
            </a:r>
            <a:endParaRPr lang="en-US" sz="850" dirty="0"/>
          </a:p>
        </p:txBody>
      </p:sp>
      <p:sp>
        <p:nvSpPr>
          <p:cNvPr id="21" name="Text 19"/>
          <p:cNvSpPr/>
          <p:nvPr/>
        </p:nvSpPr>
        <p:spPr>
          <a:xfrm>
            <a:off x="292608" y="2670048"/>
            <a:ext cx="3803904" cy="402336"/>
          </a:xfrm>
          <a:prstGeom prst="rect">
            <a:avLst/>
          </a:prstGeom>
          <a:noFill/>
          <a:ln/>
        </p:spPr>
        <p:txBody>
          <a:bodyPr wrap="square" rtlCol="0" anchor="ctr"/>
          <a:lstStyle/>
          <a:p>
            <a:pPr marL="0" indent="0">
              <a:buNone/>
            </a:pPr>
            <a:r>
              <a:rPr lang="en-US" sz="1100" b="1" dirty="0">
                <a:solidFill>
                  <a:srgbClr val="DC2626"/>
                </a:solidFill>
                <a:latin typeface="Calibri" pitchFamily="34" charset="0"/>
                <a:ea typeface="Calibri" pitchFamily="34" charset="-122"/>
                <a:cs typeface="Calibri" pitchFamily="34" charset="-120"/>
              </a:rPr>
              <a:t>Database missing 10 new columns</a:t>
            </a:r>
            <a:endParaRPr lang="en-US" sz="1100" dirty="0"/>
          </a:p>
        </p:txBody>
      </p:sp>
      <p:sp>
        <p:nvSpPr>
          <p:cNvPr id="22" name="Text 20"/>
          <p:cNvSpPr/>
          <p:nvPr/>
        </p:nvSpPr>
        <p:spPr>
          <a:xfrm>
            <a:off x="4206240" y="2670048"/>
            <a:ext cx="365760" cy="347472"/>
          </a:xfrm>
          <a:prstGeom prst="rect">
            <a:avLst/>
          </a:prstGeom>
          <a:noFill/>
          <a:ln/>
        </p:spPr>
        <p:txBody>
          <a:bodyPr wrap="square" rtlCol="0" anchor="ctr"/>
          <a:lstStyle/>
          <a:p>
            <a:pPr marL="0" indent="0" algn="ctr">
              <a:buNone/>
            </a:pPr>
            <a:r>
              <a:rPr lang="en-US" sz="1800" b="1" dirty="0">
                <a:solidFill>
                  <a:srgbClr val="94A3B8"/>
                </a:solidFill>
                <a:latin typeface="Calibri" pitchFamily="34" charset="0"/>
                <a:ea typeface="Calibri" pitchFamily="34" charset="-122"/>
                <a:cs typeface="Calibri" pitchFamily="34" charset="-120"/>
              </a:rPr>
              <a:t>→</a:t>
            </a:r>
            <a:endParaRPr lang="en-US" sz="1800" dirty="0"/>
          </a:p>
        </p:txBody>
      </p:sp>
      <p:sp>
        <p:nvSpPr>
          <p:cNvPr id="23" name="Shape 21"/>
          <p:cNvSpPr/>
          <p:nvPr/>
        </p:nvSpPr>
        <p:spPr>
          <a:xfrm>
            <a:off x="4636008" y="2450592"/>
            <a:ext cx="4251960" cy="676656"/>
          </a:xfrm>
          <a:prstGeom prst="rect">
            <a:avLst/>
          </a:prstGeom>
          <a:solidFill>
            <a:srgbClr val="DCFCE7"/>
          </a:solidFill>
          <a:ln w="12700">
            <a:solidFill>
              <a:srgbClr val="16A34A"/>
            </a:solidFill>
            <a:prstDash val="solid"/>
          </a:ln>
        </p:spPr>
        <p:txBody>
          <a:bodyPr/>
          <a:lstStyle/>
          <a:p>
            <a:endParaRPr lang="en-IN"/>
          </a:p>
        </p:txBody>
      </p:sp>
      <p:sp>
        <p:nvSpPr>
          <p:cNvPr id="24" name="Text 22"/>
          <p:cNvSpPr/>
          <p:nvPr/>
        </p:nvSpPr>
        <p:spPr>
          <a:xfrm>
            <a:off x="4636008" y="2468880"/>
            <a:ext cx="548640" cy="201168"/>
          </a:xfrm>
          <a:prstGeom prst="rect">
            <a:avLst/>
          </a:prstGeom>
          <a:noFill/>
          <a:ln/>
        </p:spPr>
        <p:txBody>
          <a:bodyPr wrap="square" rtlCol="0" anchor="ctr"/>
          <a:lstStyle/>
          <a:p>
            <a:pPr marL="0" indent="0" algn="ctr">
              <a:buNone/>
            </a:pPr>
            <a:r>
              <a:rPr lang="en-US" sz="850" b="1" dirty="0">
                <a:solidFill>
                  <a:srgbClr val="16A34A"/>
                </a:solidFill>
                <a:latin typeface="Calibri" pitchFamily="34" charset="0"/>
                <a:ea typeface="Calibri" pitchFamily="34" charset="-122"/>
                <a:cs typeface="Calibri" pitchFamily="34" charset="-120"/>
              </a:rPr>
              <a:t>Fix</a:t>
            </a:r>
            <a:endParaRPr lang="en-US" sz="850" dirty="0"/>
          </a:p>
        </p:txBody>
      </p:sp>
      <p:sp>
        <p:nvSpPr>
          <p:cNvPr id="25" name="Text 23"/>
          <p:cNvSpPr/>
          <p:nvPr/>
        </p:nvSpPr>
        <p:spPr>
          <a:xfrm>
            <a:off x="4681728" y="2670048"/>
            <a:ext cx="4114800" cy="402336"/>
          </a:xfrm>
          <a:prstGeom prst="rect">
            <a:avLst/>
          </a:prstGeom>
          <a:noFill/>
          <a:ln/>
        </p:spPr>
        <p:txBody>
          <a:bodyPr wrap="square" rtlCol="0" anchor="ctr"/>
          <a:lstStyle/>
          <a:p>
            <a:pPr marL="0" indent="0">
              <a:buNone/>
            </a:pPr>
            <a:r>
              <a:rPr lang="en-US" sz="1100" b="1" dirty="0">
                <a:solidFill>
                  <a:srgbClr val="16A34A"/>
                </a:solidFill>
                <a:latin typeface="Calibri" pitchFamily="34" charset="0"/>
                <a:ea typeface="Calibri" pitchFamily="34" charset="-122"/>
                <a:cs typeface="Calibri" pitchFamily="34" charset="-120"/>
              </a:rPr>
              <a:t>DROP assessments table in psql, restart server — SQLAlchemy auto-recreated with new schema</a:t>
            </a:r>
            <a:endParaRPr lang="en-US" sz="1100" dirty="0"/>
          </a:p>
        </p:txBody>
      </p:sp>
      <p:sp>
        <p:nvSpPr>
          <p:cNvPr id="26" name="Shape 24"/>
          <p:cNvSpPr/>
          <p:nvPr/>
        </p:nvSpPr>
        <p:spPr>
          <a:xfrm>
            <a:off x="256032" y="3273552"/>
            <a:ext cx="3886200" cy="676656"/>
          </a:xfrm>
          <a:prstGeom prst="rect">
            <a:avLst/>
          </a:prstGeom>
          <a:solidFill>
            <a:srgbClr val="FEE2E2"/>
          </a:solidFill>
          <a:ln w="12700">
            <a:solidFill>
              <a:srgbClr val="DC2626"/>
            </a:solidFill>
            <a:prstDash val="solid"/>
          </a:ln>
        </p:spPr>
        <p:txBody>
          <a:bodyPr/>
          <a:lstStyle/>
          <a:p>
            <a:endParaRPr lang="en-IN"/>
          </a:p>
        </p:txBody>
      </p:sp>
      <p:sp>
        <p:nvSpPr>
          <p:cNvPr id="27" name="Text 25"/>
          <p:cNvSpPr/>
          <p:nvPr/>
        </p:nvSpPr>
        <p:spPr>
          <a:xfrm>
            <a:off x="256032" y="3291840"/>
            <a:ext cx="749808" cy="201168"/>
          </a:xfrm>
          <a:prstGeom prst="rect">
            <a:avLst/>
          </a:prstGeom>
          <a:noFill/>
          <a:ln/>
        </p:spPr>
        <p:txBody>
          <a:bodyPr wrap="square" rtlCol="0" anchor="ctr"/>
          <a:lstStyle/>
          <a:p>
            <a:pPr marL="0" indent="0" algn="ctr">
              <a:buNone/>
            </a:pPr>
            <a:r>
              <a:rPr lang="en-US" sz="850" b="1" dirty="0">
                <a:solidFill>
                  <a:srgbClr val="DC2626"/>
                </a:solidFill>
                <a:latin typeface="Calibri" pitchFamily="34" charset="0"/>
                <a:ea typeface="Calibri" pitchFamily="34" charset="-122"/>
                <a:cs typeface="Calibri" pitchFamily="34" charset="-120"/>
              </a:rPr>
              <a:t>Problem</a:t>
            </a:r>
            <a:endParaRPr lang="en-US" sz="850" dirty="0"/>
          </a:p>
        </p:txBody>
      </p:sp>
      <p:sp>
        <p:nvSpPr>
          <p:cNvPr id="28" name="Text 26"/>
          <p:cNvSpPr/>
          <p:nvPr/>
        </p:nvSpPr>
        <p:spPr>
          <a:xfrm>
            <a:off x="292608" y="3493008"/>
            <a:ext cx="3803904" cy="402336"/>
          </a:xfrm>
          <a:prstGeom prst="rect">
            <a:avLst/>
          </a:prstGeom>
          <a:noFill/>
          <a:ln/>
        </p:spPr>
        <p:txBody>
          <a:bodyPr wrap="square" rtlCol="0" anchor="ctr"/>
          <a:lstStyle/>
          <a:p>
            <a:pPr marL="0" indent="0">
              <a:buNone/>
            </a:pPr>
            <a:r>
              <a:rPr lang="en-US" sz="1100" b="1" dirty="0">
                <a:solidFill>
                  <a:srgbClr val="DC2626"/>
                </a:solidFill>
                <a:latin typeface="Calibri" pitchFamily="34" charset="0"/>
                <a:ea typeface="Calibri" pitchFamily="34" charset="-122"/>
                <a:cs typeface="Calibri" pitchFamily="34" charset="-120"/>
              </a:rPr>
              <a:t>model_pipeline.joblib not found at runtime</a:t>
            </a:r>
            <a:endParaRPr lang="en-US" sz="1100" dirty="0"/>
          </a:p>
        </p:txBody>
      </p:sp>
      <p:sp>
        <p:nvSpPr>
          <p:cNvPr id="29" name="Text 27"/>
          <p:cNvSpPr/>
          <p:nvPr/>
        </p:nvSpPr>
        <p:spPr>
          <a:xfrm>
            <a:off x="4206240" y="3493008"/>
            <a:ext cx="365760" cy="347472"/>
          </a:xfrm>
          <a:prstGeom prst="rect">
            <a:avLst/>
          </a:prstGeom>
          <a:noFill/>
          <a:ln/>
        </p:spPr>
        <p:txBody>
          <a:bodyPr wrap="square" rtlCol="0" anchor="ctr"/>
          <a:lstStyle/>
          <a:p>
            <a:pPr marL="0" indent="0" algn="ctr">
              <a:buNone/>
            </a:pPr>
            <a:r>
              <a:rPr lang="en-US" sz="1800" b="1" dirty="0">
                <a:solidFill>
                  <a:srgbClr val="94A3B8"/>
                </a:solidFill>
                <a:latin typeface="Calibri" pitchFamily="34" charset="0"/>
                <a:ea typeface="Calibri" pitchFamily="34" charset="-122"/>
                <a:cs typeface="Calibri" pitchFamily="34" charset="-120"/>
              </a:rPr>
              <a:t>→</a:t>
            </a:r>
            <a:endParaRPr lang="en-US" sz="1800" dirty="0"/>
          </a:p>
        </p:txBody>
      </p:sp>
      <p:sp>
        <p:nvSpPr>
          <p:cNvPr id="30" name="Shape 28"/>
          <p:cNvSpPr/>
          <p:nvPr/>
        </p:nvSpPr>
        <p:spPr>
          <a:xfrm>
            <a:off x="4636008" y="3273552"/>
            <a:ext cx="4251960" cy="676656"/>
          </a:xfrm>
          <a:prstGeom prst="rect">
            <a:avLst/>
          </a:prstGeom>
          <a:solidFill>
            <a:srgbClr val="DCFCE7"/>
          </a:solidFill>
          <a:ln w="12700">
            <a:solidFill>
              <a:srgbClr val="16A34A"/>
            </a:solidFill>
            <a:prstDash val="solid"/>
          </a:ln>
        </p:spPr>
        <p:txBody>
          <a:bodyPr/>
          <a:lstStyle/>
          <a:p>
            <a:endParaRPr lang="en-IN"/>
          </a:p>
        </p:txBody>
      </p:sp>
      <p:sp>
        <p:nvSpPr>
          <p:cNvPr id="31" name="Text 29"/>
          <p:cNvSpPr/>
          <p:nvPr/>
        </p:nvSpPr>
        <p:spPr>
          <a:xfrm>
            <a:off x="4636008" y="3291840"/>
            <a:ext cx="548640" cy="201168"/>
          </a:xfrm>
          <a:prstGeom prst="rect">
            <a:avLst/>
          </a:prstGeom>
          <a:noFill/>
          <a:ln/>
        </p:spPr>
        <p:txBody>
          <a:bodyPr wrap="square" rtlCol="0" anchor="ctr"/>
          <a:lstStyle/>
          <a:p>
            <a:pPr marL="0" indent="0" algn="ctr">
              <a:buNone/>
            </a:pPr>
            <a:r>
              <a:rPr lang="en-US" sz="850" b="1" dirty="0">
                <a:solidFill>
                  <a:srgbClr val="16A34A"/>
                </a:solidFill>
                <a:latin typeface="Calibri" pitchFamily="34" charset="0"/>
                <a:ea typeface="Calibri" pitchFamily="34" charset="-122"/>
                <a:cs typeface="Calibri" pitchFamily="34" charset="-120"/>
              </a:rPr>
              <a:t>Fix</a:t>
            </a:r>
            <a:endParaRPr lang="en-US" sz="850" dirty="0"/>
          </a:p>
        </p:txBody>
      </p:sp>
      <p:sp>
        <p:nvSpPr>
          <p:cNvPr id="32" name="Text 30"/>
          <p:cNvSpPr/>
          <p:nvPr/>
        </p:nvSpPr>
        <p:spPr>
          <a:xfrm>
            <a:off x="4681728" y="3493008"/>
            <a:ext cx="4114800" cy="402336"/>
          </a:xfrm>
          <a:prstGeom prst="rect">
            <a:avLst/>
          </a:prstGeom>
          <a:noFill/>
          <a:ln/>
        </p:spPr>
        <p:txBody>
          <a:bodyPr wrap="square" rtlCol="0" anchor="ctr"/>
          <a:lstStyle/>
          <a:p>
            <a:pPr marL="0" indent="0">
              <a:buNone/>
            </a:pPr>
            <a:r>
              <a:rPr lang="en-US" sz="1100" b="1" dirty="0">
                <a:solidFill>
                  <a:srgbClr val="16A34A"/>
                </a:solidFill>
                <a:latin typeface="Calibri" pitchFamily="34" charset="0"/>
                <a:ea typeface="Calibri" pitchFamily="34" charset="-122"/>
                <a:cs typeface="Calibri" pitchFamily="34" charset="-120"/>
              </a:rPr>
              <a:t>Used os.path.join(os.path.dirname(__file__), '..','ml','model_pipeline.joblib')</a:t>
            </a:r>
            <a:endParaRPr lang="en-US" sz="1100" dirty="0"/>
          </a:p>
        </p:txBody>
      </p:sp>
      <p:sp>
        <p:nvSpPr>
          <p:cNvPr id="33" name="Shape 31"/>
          <p:cNvSpPr/>
          <p:nvPr/>
        </p:nvSpPr>
        <p:spPr>
          <a:xfrm>
            <a:off x="256032" y="4096512"/>
            <a:ext cx="3886200" cy="676656"/>
          </a:xfrm>
          <a:prstGeom prst="rect">
            <a:avLst/>
          </a:prstGeom>
          <a:solidFill>
            <a:srgbClr val="FEE2E2"/>
          </a:solidFill>
          <a:ln w="12700">
            <a:solidFill>
              <a:srgbClr val="DC2626"/>
            </a:solidFill>
            <a:prstDash val="solid"/>
          </a:ln>
        </p:spPr>
        <p:txBody>
          <a:bodyPr/>
          <a:lstStyle/>
          <a:p>
            <a:endParaRPr lang="en-IN"/>
          </a:p>
        </p:txBody>
      </p:sp>
      <p:sp>
        <p:nvSpPr>
          <p:cNvPr id="34" name="Text 32"/>
          <p:cNvSpPr/>
          <p:nvPr/>
        </p:nvSpPr>
        <p:spPr>
          <a:xfrm>
            <a:off x="256032" y="4114800"/>
            <a:ext cx="749808" cy="201168"/>
          </a:xfrm>
          <a:prstGeom prst="rect">
            <a:avLst/>
          </a:prstGeom>
          <a:noFill/>
          <a:ln/>
        </p:spPr>
        <p:txBody>
          <a:bodyPr wrap="square" rtlCol="0" anchor="ctr"/>
          <a:lstStyle/>
          <a:p>
            <a:pPr marL="0" indent="0" algn="ctr">
              <a:buNone/>
            </a:pPr>
            <a:r>
              <a:rPr lang="en-US" sz="850" b="1" dirty="0">
                <a:solidFill>
                  <a:srgbClr val="DC2626"/>
                </a:solidFill>
                <a:latin typeface="Calibri" pitchFamily="34" charset="0"/>
                <a:ea typeface="Calibri" pitchFamily="34" charset="-122"/>
                <a:cs typeface="Calibri" pitchFamily="34" charset="-120"/>
              </a:rPr>
              <a:t>Problem</a:t>
            </a:r>
            <a:endParaRPr lang="en-US" sz="850" dirty="0"/>
          </a:p>
        </p:txBody>
      </p:sp>
      <p:sp>
        <p:nvSpPr>
          <p:cNvPr id="35" name="Text 33"/>
          <p:cNvSpPr/>
          <p:nvPr/>
        </p:nvSpPr>
        <p:spPr>
          <a:xfrm>
            <a:off x="292608" y="4315968"/>
            <a:ext cx="3803904" cy="402336"/>
          </a:xfrm>
          <a:prstGeom prst="rect">
            <a:avLst/>
          </a:prstGeom>
          <a:noFill/>
          <a:ln/>
        </p:spPr>
        <p:txBody>
          <a:bodyPr wrap="square" rtlCol="0" anchor="ctr"/>
          <a:lstStyle/>
          <a:p>
            <a:pPr marL="0" indent="0">
              <a:buNone/>
            </a:pPr>
            <a:r>
              <a:rPr lang="en-US" sz="1100" b="1" dirty="0">
                <a:solidFill>
                  <a:srgbClr val="DC2626"/>
                </a:solidFill>
                <a:latin typeface="Calibri" pitchFamily="34" charset="0"/>
                <a:ea typeface="Calibri" pitchFamily="34" charset="-122"/>
                <a:cs typeface="Calibri" pitchFamily="34" charset="-120"/>
              </a:rPr>
              <a:t>CORS blocked the updated /assess endpoint</a:t>
            </a:r>
            <a:endParaRPr lang="en-US" sz="1100" dirty="0"/>
          </a:p>
        </p:txBody>
      </p:sp>
      <p:sp>
        <p:nvSpPr>
          <p:cNvPr id="36" name="Text 34"/>
          <p:cNvSpPr/>
          <p:nvPr/>
        </p:nvSpPr>
        <p:spPr>
          <a:xfrm>
            <a:off x="4206240" y="4315968"/>
            <a:ext cx="365760" cy="347472"/>
          </a:xfrm>
          <a:prstGeom prst="rect">
            <a:avLst/>
          </a:prstGeom>
          <a:noFill/>
          <a:ln/>
        </p:spPr>
        <p:txBody>
          <a:bodyPr wrap="square" rtlCol="0" anchor="ctr"/>
          <a:lstStyle/>
          <a:p>
            <a:pPr marL="0" indent="0" algn="ctr">
              <a:buNone/>
            </a:pPr>
            <a:r>
              <a:rPr lang="en-US" sz="1800" b="1" dirty="0">
                <a:solidFill>
                  <a:srgbClr val="94A3B8"/>
                </a:solidFill>
                <a:latin typeface="Calibri" pitchFamily="34" charset="0"/>
                <a:ea typeface="Calibri" pitchFamily="34" charset="-122"/>
                <a:cs typeface="Calibri" pitchFamily="34" charset="-120"/>
              </a:rPr>
              <a:t>→</a:t>
            </a:r>
            <a:endParaRPr lang="en-US" sz="1800" dirty="0"/>
          </a:p>
        </p:txBody>
      </p:sp>
      <p:sp>
        <p:nvSpPr>
          <p:cNvPr id="37" name="Shape 35"/>
          <p:cNvSpPr/>
          <p:nvPr/>
        </p:nvSpPr>
        <p:spPr>
          <a:xfrm>
            <a:off x="4636008" y="4096512"/>
            <a:ext cx="4251960" cy="676656"/>
          </a:xfrm>
          <a:prstGeom prst="rect">
            <a:avLst/>
          </a:prstGeom>
          <a:solidFill>
            <a:srgbClr val="DCFCE7"/>
          </a:solidFill>
          <a:ln w="12700">
            <a:solidFill>
              <a:srgbClr val="16A34A"/>
            </a:solidFill>
            <a:prstDash val="solid"/>
          </a:ln>
        </p:spPr>
        <p:txBody>
          <a:bodyPr/>
          <a:lstStyle/>
          <a:p>
            <a:endParaRPr lang="en-IN"/>
          </a:p>
        </p:txBody>
      </p:sp>
      <p:sp>
        <p:nvSpPr>
          <p:cNvPr id="38" name="Text 36"/>
          <p:cNvSpPr/>
          <p:nvPr/>
        </p:nvSpPr>
        <p:spPr>
          <a:xfrm>
            <a:off x="4636008" y="4114800"/>
            <a:ext cx="548640" cy="201168"/>
          </a:xfrm>
          <a:prstGeom prst="rect">
            <a:avLst/>
          </a:prstGeom>
          <a:noFill/>
          <a:ln/>
        </p:spPr>
        <p:txBody>
          <a:bodyPr wrap="square" rtlCol="0" anchor="ctr"/>
          <a:lstStyle/>
          <a:p>
            <a:pPr marL="0" indent="0" algn="ctr">
              <a:buNone/>
            </a:pPr>
            <a:r>
              <a:rPr lang="en-US" sz="850" b="1" dirty="0">
                <a:solidFill>
                  <a:srgbClr val="16A34A"/>
                </a:solidFill>
                <a:latin typeface="Calibri" pitchFamily="34" charset="0"/>
                <a:ea typeface="Calibri" pitchFamily="34" charset="-122"/>
                <a:cs typeface="Calibri" pitchFamily="34" charset="-120"/>
              </a:rPr>
              <a:t>Fix</a:t>
            </a:r>
            <a:endParaRPr lang="en-US" sz="850" dirty="0"/>
          </a:p>
        </p:txBody>
      </p:sp>
      <p:sp>
        <p:nvSpPr>
          <p:cNvPr id="39" name="Text 37"/>
          <p:cNvSpPr/>
          <p:nvPr/>
        </p:nvSpPr>
        <p:spPr>
          <a:xfrm>
            <a:off x="4681728" y="4315968"/>
            <a:ext cx="4114800" cy="402336"/>
          </a:xfrm>
          <a:prstGeom prst="rect">
            <a:avLst/>
          </a:prstGeom>
          <a:noFill/>
          <a:ln/>
        </p:spPr>
        <p:txBody>
          <a:bodyPr wrap="square" rtlCol="0" anchor="ctr"/>
          <a:lstStyle/>
          <a:p>
            <a:pPr marL="0" indent="0">
              <a:buNone/>
            </a:pPr>
            <a:r>
              <a:rPr lang="en-US" sz="1100" b="1" dirty="0">
                <a:solidFill>
                  <a:srgbClr val="16A34A"/>
                </a:solidFill>
                <a:latin typeface="Calibri" pitchFamily="34" charset="0"/>
                <a:ea typeface="Calibri" pitchFamily="34" charset="-122"/>
                <a:cs typeface="Calibri" pitchFamily="34" charset="-120"/>
              </a:rPr>
              <a:t>Added /assess to allowed_methods in existing FastAPI CORS middleware config</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9488"/>
          </a:solidFill>
          <a:ln w="12700">
            <a:solidFill>
              <a:srgbClr val="0D9488"/>
            </a:solidFill>
            <a:prstDash val="solid"/>
          </a:ln>
        </p:spPr>
        <p:txBody>
          <a:bodyPr/>
          <a:lstStyle/>
          <a:p>
            <a:endParaRPr lang="en-IN"/>
          </a:p>
        </p:txBody>
      </p:sp>
      <p:sp>
        <p:nvSpPr>
          <p:cNvPr id="3" name="Text 1"/>
          <p:cNvSpPr/>
          <p:nvPr/>
        </p:nvSpPr>
        <p:spPr>
          <a:xfrm>
            <a:off x="320040" y="0"/>
            <a:ext cx="850392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Sprint 3 — What Comes Next</a:t>
            </a:r>
            <a:endParaRPr lang="en-US" sz="2200" dirty="0"/>
          </a:p>
        </p:txBody>
      </p:sp>
      <p:sp>
        <p:nvSpPr>
          <p:cNvPr id="4" name="Shape 2"/>
          <p:cNvSpPr/>
          <p:nvPr/>
        </p:nvSpPr>
        <p:spPr>
          <a:xfrm>
            <a:off x="0" y="5184648"/>
            <a:ext cx="9144000" cy="73152"/>
          </a:xfrm>
          <a:prstGeom prst="rect">
            <a:avLst/>
          </a:prstGeom>
          <a:solidFill>
            <a:srgbClr val="CCFBF1"/>
          </a:solidFill>
          <a:ln w="12700">
            <a:solidFill>
              <a:srgbClr val="CCFBF1"/>
            </a:solidFill>
            <a:prstDash val="solid"/>
          </a:ln>
        </p:spPr>
        <p:txBody>
          <a:bodyPr/>
          <a:lstStyle/>
          <a:p>
            <a:endParaRPr lang="en-IN"/>
          </a:p>
        </p:txBody>
      </p:sp>
      <p:sp>
        <p:nvSpPr>
          <p:cNvPr id="8" name="Shape 6"/>
          <p:cNvSpPr/>
          <p:nvPr/>
        </p:nvSpPr>
        <p:spPr>
          <a:xfrm>
            <a:off x="256032" y="1572768"/>
            <a:ext cx="4133088" cy="1389888"/>
          </a:xfrm>
          <a:prstGeom prst="rect">
            <a:avLst/>
          </a:prstGeom>
          <a:solidFill>
            <a:srgbClr val="FFFFFF"/>
          </a:solidFill>
          <a:ln w="19050">
            <a:solidFill>
              <a:srgbClr val="0D9488"/>
            </a:solidFill>
            <a:prstDash val="solid"/>
          </a:ln>
        </p:spPr>
        <p:txBody>
          <a:bodyPr/>
          <a:lstStyle/>
          <a:p>
            <a:endParaRPr lang="en-IN"/>
          </a:p>
        </p:txBody>
      </p:sp>
      <p:sp>
        <p:nvSpPr>
          <p:cNvPr id="9" name="Shape 7"/>
          <p:cNvSpPr/>
          <p:nvPr/>
        </p:nvSpPr>
        <p:spPr>
          <a:xfrm>
            <a:off x="256032" y="1572768"/>
            <a:ext cx="91440" cy="1389888"/>
          </a:xfrm>
          <a:prstGeom prst="rect">
            <a:avLst/>
          </a:prstGeom>
          <a:solidFill>
            <a:srgbClr val="0D9488"/>
          </a:solidFill>
          <a:ln w="12700">
            <a:solidFill>
              <a:srgbClr val="0D9488"/>
            </a:solidFill>
            <a:prstDash val="solid"/>
          </a:ln>
        </p:spPr>
        <p:txBody>
          <a:bodyPr/>
          <a:lstStyle/>
          <a:p>
            <a:endParaRPr lang="en-IN"/>
          </a:p>
        </p:txBody>
      </p:sp>
      <p:sp>
        <p:nvSpPr>
          <p:cNvPr id="10" name="Text 8"/>
          <p:cNvSpPr/>
          <p:nvPr/>
        </p:nvSpPr>
        <p:spPr>
          <a:xfrm>
            <a:off x="475488" y="1700784"/>
            <a:ext cx="3803904" cy="310896"/>
          </a:xfrm>
          <a:prstGeom prst="rect">
            <a:avLst/>
          </a:prstGeom>
          <a:noFill/>
          <a:ln/>
        </p:spPr>
        <p:txBody>
          <a:bodyPr wrap="square"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SHAP Explanations</a:t>
            </a:r>
            <a:endParaRPr lang="en-US" sz="1300" dirty="0"/>
          </a:p>
        </p:txBody>
      </p:sp>
      <p:sp>
        <p:nvSpPr>
          <p:cNvPr id="11" name="Text 9"/>
          <p:cNvSpPr/>
          <p:nvPr/>
        </p:nvSpPr>
        <p:spPr>
          <a:xfrm>
            <a:off x="475488" y="2084832"/>
            <a:ext cx="3803904" cy="749808"/>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Per-prediction feature breakdown — which inputs contributed most to the score. Stored in DB and shown in the UI.</a:t>
            </a:r>
            <a:endParaRPr lang="en-US" sz="1100" dirty="0"/>
          </a:p>
        </p:txBody>
      </p:sp>
      <p:sp>
        <p:nvSpPr>
          <p:cNvPr id="12" name="Shape 10"/>
          <p:cNvSpPr/>
          <p:nvPr/>
        </p:nvSpPr>
        <p:spPr>
          <a:xfrm>
            <a:off x="4681728" y="1572768"/>
            <a:ext cx="4133088" cy="1389888"/>
          </a:xfrm>
          <a:prstGeom prst="rect">
            <a:avLst/>
          </a:prstGeom>
          <a:solidFill>
            <a:srgbClr val="FFFFFF"/>
          </a:solidFill>
          <a:ln w="19050">
            <a:solidFill>
              <a:srgbClr val="2563EB"/>
            </a:solidFill>
            <a:prstDash val="solid"/>
          </a:ln>
        </p:spPr>
        <p:txBody>
          <a:bodyPr/>
          <a:lstStyle/>
          <a:p>
            <a:endParaRPr lang="en-IN"/>
          </a:p>
        </p:txBody>
      </p:sp>
      <p:sp>
        <p:nvSpPr>
          <p:cNvPr id="13" name="Shape 11"/>
          <p:cNvSpPr/>
          <p:nvPr/>
        </p:nvSpPr>
        <p:spPr>
          <a:xfrm>
            <a:off x="4681728" y="1572768"/>
            <a:ext cx="91440" cy="1389888"/>
          </a:xfrm>
          <a:prstGeom prst="rect">
            <a:avLst/>
          </a:prstGeom>
          <a:solidFill>
            <a:srgbClr val="2563EB"/>
          </a:solidFill>
          <a:ln w="12700">
            <a:solidFill>
              <a:srgbClr val="2563EB"/>
            </a:solidFill>
            <a:prstDash val="solid"/>
          </a:ln>
        </p:spPr>
        <p:txBody>
          <a:bodyPr/>
          <a:lstStyle/>
          <a:p>
            <a:endParaRPr lang="en-IN"/>
          </a:p>
        </p:txBody>
      </p:sp>
      <p:sp>
        <p:nvSpPr>
          <p:cNvPr id="14" name="Text 12"/>
          <p:cNvSpPr/>
          <p:nvPr/>
        </p:nvSpPr>
        <p:spPr>
          <a:xfrm>
            <a:off x="4901184" y="1700784"/>
            <a:ext cx="3803904" cy="310896"/>
          </a:xfrm>
          <a:prstGeom prst="rect">
            <a:avLst/>
          </a:prstGeom>
          <a:noFill/>
          <a:ln/>
        </p:spPr>
        <p:txBody>
          <a:bodyPr wrap="square" rtlCol="0" anchor="ctr"/>
          <a:lstStyle/>
          <a:p>
            <a:pPr marL="0" indent="0">
              <a:buNone/>
            </a:pPr>
            <a:r>
              <a:rPr lang="en-US" sz="1300" b="1" dirty="0">
                <a:solidFill>
                  <a:srgbClr val="2563EB"/>
                </a:solidFill>
                <a:latin typeface="Calibri" pitchFamily="34" charset="0"/>
                <a:ea typeface="Calibri" pitchFamily="34" charset="-122"/>
                <a:cs typeface="Calibri" pitchFamily="34" charset="-120"/>
              </a:rPr>
              <a:t>Feature Importance Chart</a:t>
            </a:r>
            <a:endParaRPr lang="en-US" sz="1300" dirty="0"/>
          </a:p>
        </p:txBody>
      </p:sp>
      <p:sp>
        <p:nvSpPr>
          <p:cNvPr id="15" name="Text 13"/>
          <p:cNvSpPr/>
          <p:nvPr/>
        </p:nvSpPr>
        <p:spPr>
          <a:xfrm>
            <a:off x="4901184" y="2084832"/>
            <a:ext cx="3803904" cy="749808"/>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Bar chart per patient: 'Chest pain type pushed your score up +0.31, max HR reduced it −0.18'</a:t>
            </a:r>
            <a:endParaRPr lang="en-US" sz="1100" dirty="0"/>
          </a:p>
        </p:txBody>
      </p:sp>
      <p:sp>
        <p:nvSpPr>
          <p:cNvPr id="16" name="Shape 14"/>
          <p:cNvSpPr/>
          <p:nvPr/>
        </p:nvSpPr>
        <p:spPr>
          <a:xfrm>
            <a:off x="256032" y="3218688"/>
            <a:ext cx="4133088" cy="1389888"/>
          </a:xfrm>
          <a:prstGeom prst="rect">
            <a:avLst/>
          </a:prstGeom>
          <a:solidFill>
            <a:srgbClr val="FFFFFF"/>
          </a:solidFill>
          <a:ln w="19050">
            <a:solidFill>
              <a:srgbClr val="16A34A"/>
            </a:solidFill>
            <a:prstDash val="solid"/>
          </a:ln>
        </p:spPr>
        <p:txBody>
          <a:bodyPr/>
          <a:lstStyle/>
          <a:p>
            <a:endParaRPr lang="en-IN"/>
          </a:p>
        </p:txBody>
      </p:sp>
      <p:sp>
        <p:nvSpPr>
          <p:cNvPr id="17" name="Shape 15"/>
          <p:cNvSpPr/>
          <p:nvPr/>
        </p:nvSpPr>
        <p:spPr>
          <a:xfrm>
            <a:off x="256032" y="3218688"/>
            <a:ext cx="91440" cy="1389888"/>
          </a:xfrm>
          <a:prstGeom prst="rect">
            <a:avLst/>
          </a:prstGeom>
          <a:solidFill>
            <a:srgbClr val="16A34A"/>
          </a:solidFill>
          <a:ln w="12700">
            <a:solidFill>
              <a:srgbClr val="16A34A"/>
            </a:solidFill>
            <a:prstDash val="solid"/>
          </a:ln>
        </p:spPr>
        <p:txBody>
          <a:bodyPr/>
          <a:lstStyle/>
          <a:p>
            <a:endParaRPr lang="en-IN"/>
          </a:p>
        </p:txBody>
      </p:sp>
      <p:sp>
        <p:nvSpPr>
          <p:cNvPr id="18" name="Text 16"/>
          <p:cNvSpPr/>
          <p:nvPr/>
        </p:nvSpPr>
        <p:spPr>
          <a:xfrm>
            <a:off x="475488" y="3346704"/>
            <a:ext cx="3803904" cy="310896"/>
          </a:xfrm>
          <a:prstGeom prst="rect">
            <a:avLst/>
          </a:prstGeom>
          <a:noFill/>
          <a:ln/>
        </p:spPr>
        <p:txBody>
          <a:bodyPr wrap="square" rtlCol="0" anchor="ctr"/>
          <a:lstStyle/>
          <a:p>
            <a:pPr marL="0" indent="0">
              <a:buNone/>
            </a:pPr>
            <a:r>
              <a:rPr lang="en-US" sz="1300" b="1" dirty="0">
                <a:solidFill>
                  <a:srgbClr val="16A34A"/>
                </a:solidFill>
                <a:latin typeface="Calibri" pitchFamily="34" charset="0"/>
                <a:ea typeface="Calibri" pitchFamily="34" charset="-122"/>
                <a:cs typeface="Calibri" pitchFamily="34" charset="-120"/>
              </a:rPr>
              <a:t>Model Evaluation Page</a:t>
            </a:r>
            <a:endParaRPr lang="en-US" sz="1300" dirty="0"/>
          </a:p>
        </p:txBody>
      </p:sp>
      <p:sp>
        <p:nvSpPr>
          <p:cNvPr id="19" name="Text 17"/>
          <p:cNvSpPr/>
          <p:nvPr/>
        </p:nvSpPr>
        <p:spPr>
          <a:xfrm>
            <a:off x="475488" y="3730752"/>
            <a:ext cx="3803904" cy="749808"/>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Accuracy, precision, recall, confusion matrix — displayed in-app, not just in a Jupyter notebook</a:t>
            </a:r>
            <a:endParaRPr lang="en-US" sz="1100" dirty="0"/>
          </a:p>
        </p:txBody>
      </p:sp>
      <p:sp>
        <p:nvSpPr>
          <p:cNvPr id="20" name="Shape 18"/>
          <p:cNvSpPr/>
          <p:nvPr/>
        </p:nvSpPr>
        <p:spPr>
          <a:xfrm>
            <a:off x="4681728" y="3218688"/>
            <a:ext cx="4133088" cy="1389888"/>
          </a:xfrm>
          <a:prstGeom prst="rect">
            <a:avLst/>
          </a:prstGeom>
          <a:solidFill>
            <a:srgbClr val="FFFFFF"/>
          </a:solidFill>
          <a:ln w="19050">
            <a:solidFill>
              <a:srgbClr val="7C3AED"/>
            </a:solidFill>
            <a:prstDash val="solid"/>
          </a:ln>
        </p:spPr>
        <p:txBody>
          <a:bodyPr/>
          <a:lstStyle/>
          <a:p>
            <a:endParaRPr lang="en-IN"/>
          </a:p>
        </p:txBody>
      </p:sp>
      <p:sp>
        <p:nvSpPr>
          <p:cNvPr id="21" name="Shape 19"/>
          <p:cNvSpPr/>
          <p:nvPr/>
        </p:nvSpPr>
        <p:spPr>
          <a:xfrm>
            <a:off x="4681728" y="3218688"/>
            <a:ext cx="91440" cy="1389888"/>
          </a:xfrm>
          <a:prstGeom prst="rect">
            <a:avLst/>
          </a:prstGeom>
          <a:solidFill>
            <a:srgbClr val="7C3AED"/>
          </a:solidFill>
          <a:ln w="12700">
            <a:solidFill>
              <a:srgbClr val="7C3AED"/>
            </a:solidFill>
            <a:prstDash val="solid"/>
          </a:ln>
        </p:spPr>
        <p:txBody>
          <a:bodyPr/>
          <a:lstStyle/>
          <a:p>
            <a:endParaRPr lang="en-IN"/>
          </a:p>
        </p:txBody>
      </p:sp>
      <p:sp>
        <p:nvSpPr>
          <p:cNvPr id="22" name="Text 20"/>
          <p:cNvSpPr/>
          <p:nvPr/>
        </p:nvSpPr>
        <p:spPr>
          <a:xfrm>
            <a:off x="4901184" y="3346704"/>
            <a:ext cx="3803904" cy="310896"/>
          </a:xfrm>
          <a:prstGeom prst="rect">
            <a:avLst/>
          </a:prstGeom>
          <a:noFill/>
          <a:ln/>
        </p:spPr>
        <p:txBody>
          <a:bodyPr wrap="square" rtlCol="0" anchor="ctr"/>
          <a:lstStyle/>
          <a:p>
            <a:pPr marL="0" indent="0">
              <a:buNone/>
            </a:pPr>
            <a:r>
              <a:rPr lang="en-US" sz="1300" b="1" dirty="0">
                <a:solidFill>
                  <a:srgbClr val="7C3AED"/>
                </a:solidFill>
                <a:latin typeface="Calibri" pitchFamily="34" charset="0"/>
                <a:ea typeface="Calibri" pitchFamily="34" charset="-122"/>
                <a:cs typeface="Calibri" pitchFamily="34" charset="-120"/>
              </a:rPr>
              <a:t>Framingham Dataset</a:t>
            </a:r>
            <a:endParaRPr lang="en-US" sz="1300" dirty="0"/>
          </a:p>
        </p:txBody>
      </p:sp>
      <p:sp>
        <p:nvSpPr>
          <p:cNvPr id="23" name="Text 21"/>
          <p:cNvSpPr/>
          <p:nvPr/>
        </p:nvSpPr>
        <p:spPr>
          <a:xfrm>
            <a:off x="4901184" y="3730752"/>
            <a:ext cx="3803904" cy="749808"/>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Upgrade from 303 to 4,240 patients for better generalization. Sprint 2 had to work first before going bigger.</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0D9488"/>
          </a:solidFill>
          <a:ln w="12700">
            <a:solidFill>
              <a:srgbClr val="0D9488"/>
            </a:solidFill>
            <a:prstDash val="solid"/>
          </a:ln>
        </p:spPr>
        <p:txBody>
          <a:bodyPr/>
          <a:lstStyle/>
          <a:p>
            <a:endParaRPr lang="en-IN"/>
          </a:p>
        </p:txBody>
      </p:sp>
      <p:sp>
        <p:nvSpPr>
          <p:cNvPr id="3" name="Shape 1"/>
          <p:cNvSpPr/>
          <p:nvPr/>
        </p:nvSpPr>
        <p:spPr>
          <a:xfrm>
            <a:off x="0" y="164592"/>
            <a:ext cx="73152" cy="5020056"/>
          </a:xfrm>
          <a:prstGeom prst="rect">
            <a:avLst/>
          </a:prstGeom>
          <a:solidFill>
            <a:srgbClr val="CCFBF1"/>
          </a:solidFill>
          <a:ln w="12700">
            <a:solidFill>
              <a:srgbClr val="CCFBF1"/>
            </a:solidFill>
            <a:prstDash val="solid"/>
          </a:ln>
        </p:spPr>
        <p:txBody>
          <a:bodyPr/>
          <a:lstStyle/>
          <a:p>
            <a:endParaRPr lang="en-IN"/>
          </a:p>
        </p:txBody>
      </p:sp>
      <p:sp>
        <p:nvSpPr>
          <p:cNvPr id="4" name="Shape 2"/>
          <p:cNvSpPr/>
          <p:nvPr/>
        </p:nvSpPr>
        <p:spPr>
          <a:xfrm>
            <a:off x="3794760" y="548640"/>
            <a:ext cx="1554480" cy="1554480"/>
          </a:xfrm>
          <a:prstGeom prst="ellipse">
            <a:avLst/>
          </a:prstGeom>
          <a:solidFill>
            <a:srgbClr val="CCFBF1"/>
          </a:solidFill>
          <a:ln w="31750">
            <a:solidFill>
              <a:srgbClr val="0D9488"/>
            </a:solidFill>
            <a:prstDash val="solid"/>
          </a:ln>
        </p:spPr>
        <p:txBody>
          <a:bodyPr/>
          <a:lstStyle/>
          <a:p>
            <a:endParaRPr lang="en-IN"/>
          </a:p>
        </p:txBody>
      </p:sp>
      <p:sp>
        <p:nvSpPr>
          <p:cNvPr id="5" name="Text 3"/>
          <p:cNvSpPr/>
          <p:nvPr/>
        </p:nvSpPr>
        <p:spPr>
          <a:xfrm>
            <a:off x="3794760" y="548640"/>
            <a:ext cx="1554480" cy="1554480"/>
          </a:xfrm>
          <a:prstGeom prst="rect">
            <a:avLst/>
          </a:prstGeom>
          <a:noFill/>
          <a:ln/>
        </p:spPr>
        <p:txBody>
          <a:bodyPr wrap="square" rtlCol="0" anchor="ctr"/>
          <a:lstStyle/>
          <a:p>
            <a:pPr marL="0" indent="0" algn="ctr">
              <a:buNone/>
            </a:pPr>
            <a:r>
              <a:rPr lang="en-US" sz="5200" dirty="0">
                <a:solidFill>
                  <a:srgbClr val="0D9488"/>
                </a:solidFill>
                <a:latin typeface="Calibri" pitchFamily="34" charset="0"/>
                <a:ea typeface="Calibri" pitchFamily="34" charset="-122"/>
                <a:cs typeface="Calibri" pitchFamily="34" charset="-120"/>
              </a:rPr>
              <a:t>♥</a:t>
            </a:r>
            <a:endParaRPr lang="en-US" sz="5200" dirty="0"/>
          </a:p>
        </p:txBody>
      </p:sp>
      <p:sp>
        <p:nvSpPr>
          <p:cNvPr id="6" name="Text 4"/>
          <p:cNvSpPr/>
          <p:nvPr/>
        </p:nvSpPr>
        <p:spPr>
          <a:xfrm>
            <a:off x="914400" y="2331720"/>
            <a:ext cx="7315200" cy="960120"/>
          </a:xfrm>
          <a:prstGeom prst="rect">
            <a:avLst/>
          </a:prstGeom>
          <a:noFill/>
          <a:ln/>
        </p:spPr>
        <p:txBody>
          <a:bodyPr wrap="square" rtlCol="0" anchor="ctr"/>
          <a:lstStyle/>
          <a:p>
            <a:pPr marL="0" indent="0" algn="ctr">
              <a:buNone/>
            </a:pPr>
            <a:r>
              <a:rPr lang="en-US" sz="5200" b="1" dirty="0">
                <a:solidFill>
                  <a:srgbClr val="1E293B"/>
                </a:solidFill>
                <a:latin typeface="Calibri" pitchFamily="34" charset="0"/>
                <a:ea typeface="Calibri" pitchFamily="34" charset="-122"/>
                <a:cs typeface="Calibri" pitchFamily="34" charset="-120"/>
              </a:rPr>
              <a:t>Thank You</a:t>
            </a:r>
            <a:endParaRPr lang="en-US" sz="5200" dirty="0"/>
          </a:p>
        </p:txBody>
      </p:sp>
      <p:sp>
        <p:nvSpPr>
          <p:cNvPr id="7" name="Text 5"/>
          <p:cNvSpPr/>
          <p:nvPr/>
        </p:nvSpPr>
        <p:spPr>
          <a:xfrm>
            <a:off x="2286000" y="3310128"/>
            <a:ext cx="4572000" cy="438912"/>
          </a:xfrm>
          <a:prstGeom prst="rect">
            <a:avLst/>
          </a:prstGeom>
          <a:noFill/>
          <a:ln/>
        </p:spPr>
        <p:txBody>
          <a:bodyPr wrap="square" rtlCol="0" anchor="ctr"/>
          <a:lstStyle/>
          <a:p>
            <a:pPr marL="0" indent="0" algn="ctr">
              <a:buNone/>
            </a:pPr>
            <a:r>
              <a:rPr lang="en-US" sz="1800" i="1" dirty="0">
                <a:solidFill>
                  <a:srgbClr val="0D9488"/>
                </a:solidFill>
                <a:latin typeface="Calibri" pitchFamily="34" charset="0"/>
                <a:ea typeface="Calibri" pitchFamily="34" charset="-122"/>
                <a:cs typeface="Calibri" pitchFamily="34" charset="-120"/>
              </a:rPr>
              <a:t>Questions &amp; Discussion</a:t>
            </a:r>
            <a:endParaRPr lang="en-US" sz="1800" dirty="0"/>
          </a:p>
        </p:txBody>
      </p:sp>
      <p:sp>
        <p:nvSpPr>
          <p:cNvPr id="8" name="Shape 6"/>
          <p:cNvSpPr/>
          <p:nvPr/>
        </p:nvSpPr>
        <p:spPr>
          <a:xfrm>
            <a:off x="3200400" y="3858768"/>
            <a:ext cx="2743200" cy="36576"/>
          </a:xfrm>
          <a:prstGeom prst="rect">
            <a:avLst/>
          </a:prstGeom>
          <a:solidFill>
            <a:srgbClr val="E2E8F0"/>
          </a:solidFill>
          <a:ln w="12700">
            <a:solidFill>
              <a:srgbClr val="E2E8F0"/>
            </a:solidFill>
            <a:prstDash val="solid"/>
          </a:ln>
        </p:spPr>
        <p:txBody>
          <a:bodyPr/>
          <a:lstStyle/>
          <a:p>
            <a:endParaRPr lang="en-IN"/>
          </a:p>
        </p:txBody>
      </p:sp>
      <p:sp>
        <p:nvSpPr>
          <p:cNvPr id="11" name="Shape 9"/>
          <p:cNvSpPr/>
          <p:nvPr/>
        </p:nvSpPr>
        <p:spPr>
          <a:xfrm>
            <a:off x="0" y="5093208"/>
            <a:ext cx="9144000" cy="164592"/>
          </a:xfrm>
          <a:prstGeom prst="rect">
            <a:avLst/>
          </a:prstGeom>
          <a:solidFill>
            <a:srgbClr val="0D9488"/>
          </a:solidFill>
          <a:ln w="12700">
            <a:solidFill>
              <a:srgbClr val="0D9488"/>
            </a:solidFill>
            <a:prstDash val="solid"/>
          </a:ln>
        </p:spPr>
        <p:txBody>
          <a:bodyPr/>
          <a:lstStyle/>
          <a:p>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TotalTime>
  <Words>1908</Words>
  <Application>Microsoft Office PowerPoint</Application>
  <PresentationFormat>On-screen Show (16:9)</PresentationFormat>
  <Paragraphs>406</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MediTrust Sprint 2</dc:title>
  <dc:subject>PptxGenJS Presentation</dc:subject>
  <dc:creator>PptxGenJS</dc:creator>
  <cp:lastModifiedBy>Ravindra Siva Sai Kumar Medicharla</cp:lastModifiedBy>
  <cp:revision>4</cp:revision>
  <dcterms:created xsi:type="dcterms:W3CDTF">2026-03-06T15:13:26Z</dcterms:created>
  <dcterms:modified xsi:type="dcterms:W3CDTF">2026-03-06T16:17:57Z</dcterms:modified>
</cp:coreProperties>
</file>